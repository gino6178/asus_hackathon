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11d0270-564c-b452-0bff-79b45e7bbf3f}">
          <p14:sldIdLst>
            <p14:sldId id="256"/>
          </p14:sldIdLst>
        </p14:section>
        <p14:section name="Context and problem definition" id="{7962b2a3-ad5c-a5a5-6eab-5983878906da}">
          <p14:sldIdLst>
            <p14:sldId id="257"/>
            <p14:sldId id="258"/>
          </p14:sldIdLst>
        </p14:section>
        <p14:section name="Solution: tools, technologies and methodology" id="{e895b29e-4eb0-09e8-9ab8-1640e17e92d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Hardware and software architecture, system planning" id="{0e55acd0-0957-8a16-d689-e4868555b3b4}">
          <p14:sldIdLst>
            <p14:sldId id="271"/>
            <p14:sldId id="272"/>
          </p14:sldIdLst>
        </p14:section>
        <p14:section name="Expected benefits and outcomes" id="{bf72864d-14ea-b175-3bb7-1f6290b20393}">
          <p14:sldIdLst>
            <p14:sldId id="273"/>
            <p14:sldId id="274"/>
          </p14:sldIdLst>
        </p14:section>
        <p14:section name="References and GitHub source code" id="{a151cb10-a594-b3a6-e950-1bb77946dee3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3CAC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C3CACD"/>
                </a:solidFill>
                <a:latin typeface="+mn-lt"/>
              </a:rPr>
              <a:t>Peak GPU memory by phase (GB, planned; card = 32)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Tracking, pose, 3D, intent</c:v>
                </c:pt>
              </c:strCache>
            </c:strRef>
          </c:tx>
          <c:spPr>
            <a:solidFill>
              <a:srgbClr val="6FB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Rally (live)</c:v>
                  </c:pt>
                  <c:pt idx="1">
                    <c:v>Between points</c:v>
                  </c:pt>
                  <c:pt idx="2">
                    <c:v>After the match</c:v>
                  </c:pt>
                  <c:pt idx="3">
                    <c:v>Coaching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4B assistant + voice</c:v>
                </c:pt>
              </c:strCache>
            </c:strRef>
          </c:tx>
          <c:spPr>
            <a:solidFill>
              <a:srgbClr val="5FD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Rally (live)</c:v>
                  </c:pt>
                  <c:pt idx="1">
                    <c:v>Between points</c:v>
                  </c:pt>
                  <c:pt idx="2">
                    <c:v>After the match</c:v>
                  </c:pt>
                  <c:pt idx="3">
                    <c:v>Coaching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14B coaches + KV cache</c:v>
                </c:pt>
              </c:strCache>
            </c:strRef>
          </c:tx>
          <c:spPr>
            <a:solidFill>
              <a:srgbClr val="F2E6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Rally (live)</c:v>
                  </c:pt>
                  <c:pt idx="1">
                    <c:v>Between points</c:v>
                  </c:pt>
                  <c:pt idx="2">
                    <c:v>After the match</c:v>
                  </c:pt>
                  <c:pt idx="3">
                    <c:v>Coaching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Clip reviewer 7B</c:v>
                </c:pt>
              </c:strCache>
            </c:strRef>
          </c:tx>
          <c:spPr>
            <a:solidFill>
              <a:srgbClr val="FF8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Rally (live)</c:v>
                  </c:pt>
                  <c:pt idx="1">
                    <c:v>Between points</c:v>
                  </c:pt>
                  <c:pt idx="2">
                    <c:v>After the match</c:v>
                  </c:pt>
                  <c:pt idx="3">
                    <c:v>Coaching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Simulator</c:v>
                </c:pt>
              </c:strCache>
            </c:strRef>
          </c:tx>
          <c:spPr>
            <a:solidFill>
              <a:srgbClr val="F2D4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Rally (live)</c:v>
                  </c:pt>
                  <c:pt idx="1">
                    <c:v>Between points</c:v>
                  </c:pt>
                  <c:pt idx="2">
                    <c:v>After the match</c:v>
                  </c:pt>
                  <c:pt idx="3">
                    <c:v>Coaching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Player memory</c:v>
                </c:pt>
              </c:strCache>
            </c:strRef>
          </c:tx>
          <c:spPr>
            <a:solidFill>
              <a:srgbClr val="8E98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Rally (live)</c:v>
                  </c:pt>
                  <c:pt idx="1">
                    <c:v>Between points</c:v>
                  </c:pt>
                  <c:pt idx="2">
                    <c:v>After the match</c:v>
                  </c:pt>
                  <c:pt idx="3">
                    <c:v>Coaching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3CAC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6350" cap="flat">
              <a:solidFill>
                <a:srgbClr val="111A20"/>
              </a:solidFill>
              <a:prstDash val="solid"/>
              <a:round/>
            </a:ln>
          </c:spPr>
        </c:majorGridlines>
        <c:numFmt formatCode="0&quot; GB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89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8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C3CAC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3CAC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C3CACD"/>
                </a:solidFill>
                <a:latin typeface="+mn-lt"/>
              </a:rPr>
              <a:t>Cumulative cost for a 20-player club, NT$ thousand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Part-time video analyst</c:v>
                </c:pt>
              </c:strCache>
            </c:strRef>
          </c:tx>
          <c:spPr>
            <a:solidFill>
              <a:srgbClr val="8E98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C3CAC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154</c:v>
                </c:pt>
                <c:pt idx="1">
                  <c:v>307</c:v>
                </c:pt>
                <c:pt idx="2">
                  <c:v>461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 app, per player</c:v>
                </c:pt>
              </c:strCache>
            </c:strRef>
          </c:tx>
          <c:spPr>
            <a:solidFill>
              <a:srgbClr val="FF8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C3CAC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</c:v>
                </c:pt>
                <c:pt idx="1">
                  <c:v>192</c:v>
                </c:pt>
                <c:pt idx="2">
                  <c:v>288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ShuttleCoach Station</c:v>
                </c:pt>
              </c:strCache>
            </c:strRef>
          </c:tx>
          <c:spPr>
            <a:solidFill>
              <a:srgbClr val="F2E6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C3CAC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210</c:v>
                </c:pt>
                <c:pt idx="1">
                  <c:v>240</c:v>
                </c:pt>
                <c:pt idx="2">
                  <c:v>270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C3CAC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3CAC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3CAC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cover is the live product: the 3D rally behind the title is reconstructed from a single broadcast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coaches keep reading and learn from their players; so do these. Each night a research agent reads new papers into a local knowledge base, and each coach reflects on player feedback, rejected drafts and new findings to change its own playbook, behind gates a head coach would apply: a cited study, a safety check, no regression, and a human sign-off for anything about health. The same staff extends to Telegram as a 24-hour coach: food at home, schedule and training log, with reminders before each session and an evening check-in. Only text passes through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5852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5852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SHUTTLECOACH  ·  ASUS UGEN AI LEAGUE 2026  ·  BATTLEFIELD THUNDERSTORM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no6178/ASUS_hackathon" TargetMode="External"/><Relationship Id="rId1" Type="http://schemas.openxmlformats.org/officeDocument/2006/relationships/image" Target="../media/image-1-1.gif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gif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image" Target="../media/image-10-2.gif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image" Target="../media/image-11-2.gif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gif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no6178/ASUS_hackathon" TargetMode="External"/><Relationship Id="rId2" Type="http://schemas.openxmlformats.org/officeDocument/2006/relationships/hyperlink" Target="https://github.com/gino6178/TrackNetV5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D rally reconstruction" descr="clips/cove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BADMINTON INTELLIGENCE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8000" b="1" spc="400" kern="0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SHUTTLE</a:t>
            </a:r>
            <a:endParaRPr lang="en-US" sz="80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0" b="1" spc="400" kern="0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COACH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43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private, on-device multi-agent badminton analyst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BATTLEFIELD THUNDERSTORM · INTEL ARC PRO B70 32GB · EVERYDAY AI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[Team name]  ·  [Members]  ·  </a:t>
            </a:r>
            <a:pPr indent="0" marL="0">
              <a:buNone/>
            </a:pPr>
            <a:r>
              <a:rPr lang="en-US" sz="1400" u="sng" dirty="0">
                <a:solidFill>
                  <a:srgbClr val="F2E6C9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github.com/gino6178/ASUS_hackathon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CONTEXT AND PROBLEM DEFINITION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Pros get data-driven coaching. Everyone else guesses.</a:t>
            </a:r>
            <a:endParaRPr lang="en-US" sz="3000" dirty="0"/>
          </a:p>
        </p:txBody>
      </p:sp>
      <p:sp>
        <p:nvSpPr>
          <p:cNvPr id="14" name="shuttlecoach column"/>
          <p:cNvSpPr/>
          <p:nvPr/>
        </p:nvSpPr>
        <p:spPr>
          <a:xfrm>
            <a:off x="8915400" y="1463040"/>
            <a:ext cx="2788920" cy="4709160"/>
          </a:xfrm>
          <a:prstGeom prst="roundRect">
            <a:avLst>
              <a:gd name="adj" fmla="val 3279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15" name="column dot 0"/>
          <p:cNvSpPr/>
          <p:nvPr/>
        </p:nvSpPr>
        <p:spPr>
          <a:xfrm>
            <a:off x="3566160" y="1700784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6200" y="1609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Hire an analyst</a:t>
            </a:r>
            <a:endParaRPr lang="en-US" sz="1700" dirty="0"/>
          </a:p>
        </p:txBody>
      </p:sp>
      <p:sp>
        <p:nvSpPr>
          <p:cNvPr id="17" name="column dot 1"/>
          <p:cNvSpPr/>
          <p:nvPr/>
        </p:nvSpPr>
        <p:spPr>
          <a:xfrm>
            <a:off x="6309360" y="170078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609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Cloud analysis app</a:t>
            </a:r>
            <a:endParaRPr lang="en-US" sz="1700" dirty="0"/>
          </a:p>
        </p:txBody>
      </p:sp>
      <p:sp>
        <p:nvSpPr>
          <p:cNvPr id="19" name="column dot 2"/>
          <p:cNvSpPr/>
          <p:nvPr/>
        </p:nvSpPr>
        <p:spPr>
          <a:xfrm>
            <a:off x="9052560" y="1700784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72600" y="1609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ShuttleCoach</a:t>
            </a:r>
            <a:endParaRPr lang="en-US" sz="1700" dirty="0"/>
          </a:p>
        </p:txBody>
      </p:sp>
      <p:sp>
        <p:nvSpPr>
          <p:cNvPr id="21" name="row rule 0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9525">
            <a:solidFill>
              <a:srgbClr val="111A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240280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Match video leaves the court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224028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Shared with a person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24028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accent3"/>
                </a:solidFill>
              </a:rPr>
              <a:t>Uploaded to a server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24028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Never: 0 bytes leave</a:t>
            </a:r>
            <a:endParaRPr lang="en-US" sz="1450" dirty="0"/>
          </a:p>
        </p:txBody>
      </p:sp>
      <p:sp>
        <p:nvSpPr>
          <p:cNvPr id="26" name="row rule 1"/>
          <p:cNvSpPr/>
          <p:nvPr/>
        </p:nvSpPr>
        <p:spPr>
          <a:xfrm>
            <a:off x="548640" y="2752344"/>
            <a:ext cx="11064240" cy="0"/>
          </a:xfrm>
          <a:prstGeom prst="line">
            <a:avLst/>
          </a:prstGeom>
          <a:noFill/>
          <a:ln w="9525">
            <a:solidFill>
              <a:srgbClr val="111A2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2843784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Time to a report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2843784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Days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843784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Upload, then queue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2843784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≤ match length</a:t>
            </a:r>
            <a:endParaRPr lang="en-US" sz="1450" dirty="0"/>
          </a:p>
        </p:txBody>
      </p:sp>
      <p:sp>
        <p:nvSpPr>
          <p:cNvPr id="31" name="row rule 2"/>
          <p:cNvSpPr/>
          <p:nvPr/>
        </p:nvSpPr>
        <p:spPr>
          <a:xfrm>
            <a:off x="548640" y="3355848"/>
            <a:ext cx="11064240" cy="0"/>
          </a:xfrm>
          <a:prstGeom prst="line">
            <a:avLst/>
          </a:prstGeom>
          <a:noFill/>
          <a:ln w="9525">
            <a:solidFill>
              <a:srgbClr val="111A2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447288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Cost model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3447288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Salary or per-match fee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447288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Monthly, per player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3447288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One station + yearly update</a:t>
            </a:r>
            <a:endParaRPr lang="en-US" sz="1450" dirty="0"/>
          </a:p>
        </p:txBody>
      </p:sp>
      <p:sp>
        <p:nvSpPr>
          <p:cNvPr id="36" name="row rule 3"/>
          <p:cNvSpPr/>
          <p:nvPr/>
        </p:nvSpPr>
        <p:spPr>
          <a:xfrm>
            <a:off x="548640" y="3959352"/>
            <a:ext cx="11064240" cy="0"/>
          </a:xfrm>
          <a:prstGeom prst="line">
            <a:avLst/>
          </a:prstGeom>
          <a:noFill/>
          <a:ln w="9525">
            <a:solidFill>
              <a:srgbClr val="111A2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05079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Works with no internet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405079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Yes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405079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No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405079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Yes</a:t>
            </a:r>
            <a:endParaRPr lang="en-US" sz="1450" dirty="0"/>
          </a:p>
        </p:txBody>
      </p:sp>
      <p:sp>
        <p:nvSpPr>
          <p:cNvPr id="41" name="row rule 4"/>
          <p:cNvSpPr/>
          <p:nvPr/>
        </p:nvSpPr>
        <p:spPr>
          <a:xfrm>
            <a:off x="548640" y="4562856"/>
            <a:ext cx="11064240" cy="0"/>
          </a:xfrm>
          <a:prstGeom prst="line">
            <a:avLst/>
          </a:prstGeom>
          <a:noFill/>
          <a:ln w="9525">
            <a:solidFill>
              <a:srgbClr val="111A2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654296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3D flight and shot speed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465429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Rarely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465429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2D stats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9052560" y="465429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Every shot, metric 3D</a:t>
            </a:r>
            <a:endParaRPr lang="en-US" sz="1450" dirty="0"/>
          </a:p>
        </p:txBody>
      </p:sp>
      <p:sp>
        <p:nvSpPr>
          <p:cNvPr id="46" name="row rule 5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9525">
            <a:solidFill>
              <a:srgbClr val="111A2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5257800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Plan adapted to the player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3566160" y="525780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If there is time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525780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Generic tips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9052560" y="525780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A coaching staff that debates and learns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Pro insight, priced for a club, and the footage never leaves the building.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CONTEXT AND PROBLEM DEFINITION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Match video is personal data, so the analysis stays local</a:t>
            </a:r>
            <a:endParaRPr lang="en-US" sz="3000" dirty="0"/>
          </a:p>
        </p:txBody>
      </p:sp>
      <p:sp>
        <p:nvSpPr>
          <p:cNvPr id="14" name="why circle 0"/>
          <p:cNvSpPr/>
          <p:nvPr/>
        </p:nvSpPr>
        <p:spPr>
          <a:xfrm>
            <a:off x="640080" y="1645920"/>
            <a:ext cx="868680" cy="8686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why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429768" cy="42976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83080" y="1664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Biometric data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Faces, body shape and movement signatures, often of minors in school and junior programmes.</a:t>
            </a:r>
            <a:endParaRPr lang="en-US" sz="1500" dirty="0"/>
          </a:p>
        </p:txBody>
      </p:sp>
      <p:sp>
        <p:nvSpPr>
          <p:cNvPr id="18" name="why circle 1"/>
          <p:cNvSpPr/>
          <p:nvPr/>
        </p:nvSpPr>
        <p:spPr>
          <a:xfrm>
            <a:off x="640080" y="3108960"/>
            <a:ext cx="868680" cy="8686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why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328416"/>
            <a:ext cx="429768" cy="4297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783080" y="31272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Tactical secrets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783080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team's footage is its game plan. Coaches will not upload it to a third-party cloud.</a:t>
            </a:r>
            <a:endParaRPr lang="en-US" sz="1500" dirty="0"/>
          </a:p>
        </p:txBody>
      </p:sp>
      <p:sp>
        <p:nvSpPr>
          <p:cNvPr id="22" name="why circle 2"/>
          <p:cNvSpPr/>
          <p:nvPr/>
        </p:nvSpPr>
        <p:spPr>
          <a:xfrm>
            <a:off x="640080" y="4572000"/>
            <a:ext cx="868680" cy="8686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why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791456"/>
            <a:ext cx="429768" cy="4297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783080" y="4590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Courts are offline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178308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Gyms and community halls have weak or no internet.</a:t>
            </a:r>
            <a:endParaRPr lang="en-US" sz="1500" dirty="0"/>
          </a:p>
        </p:txBody>
      </p:sp>
      <p:sp>
        <p:nvSpPr>
          <p:cNvPr id="26" name="design rule"/>
          <p:cNvSpPr/>
          <p:nvPr/>
        </p:nvSpPr>
        <p:spPr>
          <a:xfrm>
            <a:off x="7040880" y="1645920"/>
            <a:ext cx="4572000" cy="4114800"/>
          </a:xfrm>
          <a:prstGeom prst="roundRect">
            <a:avLst>
              <a:gd name="adj" fmla="val 2222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4066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RULE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7406640" y="24231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Zero bytes of video or pose data leave the machine.</a:t>
            </a:r>
            <a:endParaRPr lang="en-US" sz="2800" dirty="0"/>
          </a:p>
        </p:txBody>
      </p:sp>
      <p:sp>
        <p:nvSpPr>
          <p:cNvPr id="29" name="Text 24"/>
          <p:cNvSpPr txBox="1"/>
          <p:nvPr/>
        </p:nvSpPr>
        <p:spPr>
          <a:xfrm>
            <a:off x="7406640" y="3886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Every model, from shuttle tracking to the coaching agents, runs on one Intel Arc Pro B70.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740664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Offline by default · no account · Telegram is opt-in and carries text only · one-step deletion · reports never share frames.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One camera in. A coaching staff out.</a:t>
            </a:r>
            <a:endParaRPr lang="en-US" sz="3000" dirty="0"/>
          </a:p>
        </p:txBody>
      </p:sp>
      <p:sp>
        <p:nvSpPr>
          <p:cNvPr id="14" name="flow dot 0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4070A">
                <a:alpha val="0"/>
              </a:srgbClr>
            </a:solidFill>
            <a:prstDash val="solid"/>
          </a:ln>
        </p:spPr>
      </p:sp>
      <p:pic>
        <p:nvPicPr>
          <p:cNvPr id="15" name="flow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60020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Record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1984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Any fixed camera behind the court</a:t>
            </a:r>
            <a:endParaRPr lang="en-US" sz="1400" dirty="0"/>
          </a:p>
        </p:txBody>
      </p:sp>
      <p:sp>
        <p:nvSpPr>
          <p:cNvPr id="18" name="flow dot 1"/>
          <p:cNvSpPr/>
          <p:nvPr/>
        </p:nvSpPr>
        <p:spPr>
          <a:xfrm>
            <a:off x="640080" y="27157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4070A">
                <a:alpha val="0"/>
              </a:srgbClr>
            </a:solidFill>
            <a:prstDash val="solid"/>
          </a:ln>
        </p:spPr>
      </p:sp>
      <p:pic>
        <p:nvPicPr>
          <p:cNvPr id="19" name="flow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9864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600200" y="2734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Reconstruct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1600200" y="30998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Shuttle flight in metric 3D, hits, player positions</a:t>
            </a:r>
            <a:endParaRPr lang="en-US" sz="1400" dirty="0"/>
          </a:p>
        </p:txBody>
      </p:sp>
      <p:sp>
        <p:nvSpPr>
          <p:cNvPr id="22" name="flow dot 2"/>
          <p:cNvSpPr/>
          <p:nvPr/>
        </p:nvSpPr>
        <p:spPr>
          <a:xfrm>
            <a:off x="640080" y="383133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4070A">
                <a:alpha val="0"/>
              </a:srgbClr>
            </a:solidFill>
            <a:prstDash val="solid"/>
          </a:ln>
        </p:spPr>
      </p:sp>
      <p:pic>
        <p:nvPicPr>
          <p:cNvPr id="23" name="flow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14216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600200" y="3849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Reason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1600200" y="4215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Four coach agents analyse, remember and simulate</a:t>
            </a:r>
            <a:endParaRPr lang="en-US" sz="1400" dirty="0"/>
          </a:p>
        </p:txBody>
      </p:sp>
      <p:sp>
        <p:nvSpPr>
          <p:cNvPr id="26" name="flow dot 3"/>
          <p:cNvSpPr/>
          <p:nvPr/>
        </p:nvSpPr>
        <p:spPr>
          <a:xfrm>
            <a:off x="640080" y="4946904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04070A">
                <a:alpha val="0"/>
              </a:srgbClr>
            </a:solidFill>
            <a:prstDash val="solid"/>
          </a:ln>
        </p:spPr>
      </p:sp>
      <p:pic>
        <p:nvPicPr>
          <p:cNvPr id="27" name="flow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2978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00200" y="4965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Act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1600200" y="5330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Personified coaches flash zones, muscles and flights</a:t>
            </a:r>
            <a:endParaRPr lang="en-US" sz="1400" dirty="0"/>
          </a:p>
        </p:txBody>
      </p:sp>
      <p:pic>
        <p:nvPicPr>
          <p:cNvPr id="30" name="upload and processing clip" descr="clips/process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559551"/>
            <a:ext cx="6492240" cy="364745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20640" y="53492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Recorded from the prototype: the video is opened by the browser and never uploaded.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Solution: tools, technologies and methodology</a:t>
            </a:r>
            <a:endParaRPr lang="en-US" sz="3000" dirty="0"/>
          </a:p>
        </p:txBody>
      </p:sp>
      <p:sp>
        <p:nvSpPr>
          <p:cNvPr id="14" name="layer Perception"/>
          <p:cNvSpPr/>
          <p:nvPr/>
        </p:nvSpPr>
        <p:spPr>
          <a:xfrm>
            <a:off x="548640" y="1371600"/>
            <a:ext cx="726948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 w="9525">
            <a:solidFill>
              <a:srgbClr val="6FB6FF"/>
            </a:solidFill>
            <a:prstDash val="solid"/>
          </a:ln>
        </p:spPr>
      </p:sp>
      <p:sp>
        <p:nvSpPr>
          <p:cNvPr id="15" name="layer bar Perception"/>
          <p:cNvSpPr/>
          <p:nvPr/>
        </p:nvSpPr>
        <p:spPr>
          <a:xfrm>
            <a:off x="566928" y="1481328"/>
            <a:ext cx="64008" cy="649224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Perception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video → tracks</a:t>
            </a:r>
            <a:endParaRPr lang="en-US" sz="900" dirty="0"/>
          </a:p>
        </p:txBody>
      </p:sp>
      <p:sp>
        <p:nvSpPr>
          <p:cNvPr id="18" name="chip TrackNetV5 · 2D shuttle"/>
          <p:cNvSpPr/>
          <p:nvPr/>
        </p:nvSpPr>
        <p:spPr>
          <a:xfrm>
            <a:off x="2148840" y="1499616"/>
            <a:ext cx="1827886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1499616"/>
            <a:ext cx="1827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TrackNetV5 · 2D shuttle</a:t>
            </a:r>
            <a:endParaRPr lang="en-US" sz="950" dirty="0"/>
          </a:p>
        </p:txBody>
      </p:sp>
      <p:sp>
        <p:nvSpPr>
          <p:cNvPr id="20" name="chip Monocular scene reconstruction"/>
          <p:cNvSpPr/>
          <p:nvPr/>
        </p:nvSpPr>
        <p:spPr>
          <a:xfrm>
            <a:off x="4049878" y="1499616"/>
            <a:ext cx="2295144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F2E6C9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049878" y="149961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Monocular scene reconstruction</a:t>
            </a:r>
            <a:endParaRPr lang="en-US" sz="950" dirty="0"/>
          </a:p>
        </p:txBody>
      </p:sp>
      <p:sp>
        <p:nvSpPr>
          <p:cNvPr id="22" name="chip Intent detection"/>
          <p:cNvSpPr/>
          <p:nvPr/>
        </p:nvSpPr>
        <p:spPr>
          <a:xfrm>
            <a:off x="2148840" y="1828800"/>
            <a:ext cx="1360627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F2E6C9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2148840" y="1828800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Intent detection</a:t>
            </a:r>
            <a:endParaRPr lang="en-US" sz="950" dirty="0"/>
          </a:p>
        </p:txBody>
      </p:sp>
      <p:sp>
        <p:nvSpPr>
          <p:cNvPr id="24" name="chip hit detection"/>
          <p:cNvSpPr/>
          <p:nvPr/>
        </p:nvSpPr>
        <p:spPr>
          <a:xfrm>
            <a:off x="3582619" y="1828800"/>
            <a:ext cx="1160374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82619" y="1828800"/>
            <a:ext cx="1160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hit detection</a:t>
            </a:r>
            <a:endParaRPr lang="en-US" sz="950" dirty="0"/>
          </a:p>
        </p:txBody>
      </p:sp>
      <p:sp>
        <p:nvSpPr>
          <p:cNvPr id="26" name="chip YOLO11-pose / MediaPipe"/>
          <p:cNvSpPr/>
          <p:nvPr/>
        </p:nvSpPr>
        <p:spPr>
          <a:xfrm>
            <a:off x="4816145" y="1828800"/>
            <a:ext cx="1827886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16145" y="1828800"/>
            <a:ext cx="1827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YOLO11-pose / MediaPipe</a:t>
            </a:r>
            <a:endParaRPr lang="en-US" sz="950" dirty="0"/>
          </a:p>
        </p:txBody>
      </p:sp>
      <p:sp>
        <p:nvSpPr>
          <p:cNvPr id="28" name="flow arrow"/>
          <p:cNvSpPr/>
          <p:nvPr/>
        </p:nvSpPr>
        <p:spPr>
          <a:xfrm>
            <a:off x="4183380" y="2258568"/>
            <a:ext cx="0" cy="182880"/>
          </a:xfrm>
          <a:prstGeom prst="line">
            <a:avLst/>
          </a:prstGeom>
          <a:noFill/>
          <a:ln w="19050">
            <a:solidFill>
              <a:srgbClr val="8E989D"/>
            </a:solidFill>
            <a:prstDash val="solid"/>
            <a:tailEnd type="triangle"/>
          </a:ln>
        </p:spPr>
      </p:sp>
      <p:sp>
        <p:nvSpPr>
          <p:cNvPr id="29" name="layer Analytics"/>
          <p:cNvSpPr/>
          <p:nvPr/>
        </p:nvSpPr>
        <p:spPr>
          <a:xfrm>
            <a:off x="548640" y="2468880"/>
            <a:ext cx="726948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9525">
            <a:solidFill>
              <a:srgbClr val="F2D46B"/>
            </a:solidFill>
            <a:prstDash val="solid"/>
          </a:ln>
        </p:spPr>
      </p:sp>
      <p:sp>
        <p:nvSpPr>
          <p:cNvPr id="30" name="layer bar Analytics"/>
          <p:cNvSpPr/>
          <p:nvPr/>
        </p:nvSpPr>
        <p:spPr>
          <a:xfrm>
            <a:off x="566928" y="2578608"/>
            <a:ext cx="64008" cy="512064"/>
          </a:xfrm>
          <a:prstGeom prst="rect">
            <a:avLst/>
          </a:prstGeom>
          <a:solidFill>
            <a:srgbClr val="F2D46B"/>
          </a:solidFill>
          <a:ln w="12700">
            <a:solidFill>
              <a:srgbClr val="F2D4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2560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Analytics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tracks → facts</a:t>
            </a:r>
            <a:endParaRPr lang="en-US" sz="900" dirty="0"/>
          </a:p>
        </p:txBody>
      </p:sp>
      <p:sp>
        <p:nvSpPr>
          <p:cNvPr id="33" name="chip match database"/>
          <p:cNvSpPr/>
          <p:nvPr/>
        </p:nvSpPr>
        <p:spPr>
          <a:xfrm>
            <a:off x="2148840" y="2596896"/>
            <a:ext cx="1227125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48840" y="2596896"/>
            <a:ext cx="1227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match database</a:t>
            </a:r>
            <a:endParaRPr lang="en-US" sz="950" dirty="0"/>
          </a:p>
        </p:txBody>
      </p:sp>
      <p:sp>
        <p:nvSpPr>
          <p:cNvPr id="35" name="chip speed · apex · landing"/>
          <p:cNvSpPr/>
          <p:nvPr/>
        </p:nvSpPr>
        <p:spPr>
          <a:xfrm>
            <a:off x="3449117" y="2596896"/>
            <a:ext cx="1761134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49117" y="2596896"/>
            <a:ext cx="1761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speed · apex · landing</a:t>
            </a:r>
            <a:endParaRPr lang="en-US" sz="950" dirty="0"/>
          </a:p>
        </p:txBody>
      </p:sp>
      <p:sp>
        <p:nvSpPr>
          <p:cNvPr id="37" name="chip stroke type"/>
          <p:cNvSpPr/>
          <p:nvPr/>
        </p:nvSpPr>
        <p:spPr>
          <a:xfrm>
            <a:off x="5283403" y="2596896"/>
            <a:ext cx="1026871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83403" y="2596896"/>
            <a:ext cx="1026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stroke type</a:t>
            </a:r>
            <a:endParaRPr lang="en-US" sz="950" dirty="0"/>
          </a:p>
        </p:txBody>
      </p:sp>
      <p:sp>
        <p:nvSpPr>
          <p:cNvPr id="39" name="chip rally outcome"/>
          <p:cNvSpPr/>
          <p:nvPr/>
        </p:nvSpPr>
        <p:spPr>
          <a:xfrm>
            <a:off x="6383426" y="2596896"/>
            <a:ext cx="1160374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83426" y="2596896"/>
            <a:ext cx="1160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rally outcome</a:t>
            </a:r>
            <a:endParaRPr lang="en-US" sz="950" dirty="0"/>
          </a:p>
        </p:txBody>
      </p:sp>
      <p:sp>
        <p:nvSpPr>
          <p:cNvPr id="41" name="flow arrow"/>
          <p:cNvSpPr/>
          <p:nvPr/>
        </p:nvSpPr>
        <p:spPr>
          <a:xfrm>
            <a:off x="4183380" y="3218688"/>
            <a:ext cx="0" cy="182880"/>
          </a:xfrm>
          <a:prstGeom prst="line">
            <a:avLst/>
          </a:prstGeom>
          <a:noFill/>
          <a:ln w="19050">
            <a:solidFill>
              <a:srgbClr val="8E989D"/>
            </a:solidFill>
            <a:prstDash val="solid"/>
            <a:tailEnd type="triangle"/>
          </a:ln>
        </p:spPr>
      </p:sp>
      <p:sp>
        <p:nvSpPr>
          <p:cNvPr id="42" name="layer Agents"/>
          <p:cNvSpPr/>
          <p:nvPr/>
        </p:nvSpPr>
        <p:spPr>
          <a:xfrm>
            <a:off x="548640" y="3429000"/>
            <a:ext cx="4983480" cy="11430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43" name="layer bar Agents"/>
          <p:cNvSpPr/>
          <p:nvPr/>
        </p:nvSpPr>
        <p:spPr>
          <a:xfrm>
            <a:off x="566928" y="3538728"/>
            <a:ext cx="64008" cy="923544"/>
          </a:xfrm>
          <a:prstGeom prst="rect">
            <a:avLst/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Agents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facts → advice</a:t>
            </a:r>
            <a:endParaRPr lang="en-US" sz="900" dirty="0"/>
          </a:p>
        </p:txBody>
      </p:sp>
      <p:sp>
        <p:nvSpPr>
          <p:cNvPr id="46" name="chip Tactics"/>
          <p:cNvSpPr/>
          <p:nvPr/>
        </p:nvSpPr>
        <p:spPr>
          <a:xfrm>
            <a:off x="2148840" y="3557016"/>
            <a:ext cx="759866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48840" y="3557016"/>
            <a:ext cx="759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Tactics</a:t>
            </a:r>
            <a:endParaRPr lang="en-US" sz="950" dirty="0"/>
          </a:p>
        </p:txBody>
      </p:sp>
      <p:sp>
        <p:nvSpPr>
          <p:cNvPr id="48" name="chip Technique"/>
          <p:cNvSpPr/>
          <p:nvPr/>
        </p:nvSpPr>
        <p:spPr>
          <a:xfrm>
            <a:off x="2981858" y="3557016"/>
            <a:ext cx="893369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81858" y="3557016"/>
            <a:ext cx="893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Technique</a:t>
            </a:r>
            <a:endParaRPr lang="en-US" sz="950" dirty="0"/>
          </a:p>
        </p:txBody>
      </p:sp>
      <p:sp>
        <p:nvSpPr>
          <p:cNvPr id="50" name="chip Fitness"/>
          <p:cNvSpPr/>
          <p:nvPr/>
        </p:nvSpPr>
        <p:spPr>
          <a:xfrm>
            <a:off x="3948379" y="3557016"/>
            <a:ext cx="759866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948379" y="3557016"/>
            <a:ext cx="759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Fitness</a:t>
            </a:r>
            <a:endParaRPr lang="en-US" sz="950" dirty="0"/>
          </a:p>
        </p:txBody>
      </p:sp>
      <p:sp>
        <p:nvSpPr>
          <p:cNvPr id="52" name="chip Data"/>
          <p:cNvSpPr/>
          <p:nvPr/>
        </p:nvSpPr>
        <p:spPr>
          <a:xfrm>
            <a:off x="4781398" y="3557016"/>
            <a:ext cx="559613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81398" y="3557016"/>
            <a:ext cx="55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Data</a:t>
            </a:r>
            <a:endParaRPr lang="en-US" sz="950" dirty="0"/>
          </a:p>
        </p:txBody>
      </p:sp>
      <p:sp>
        <p:nvSpPr>
          <p:cNvPr id="54" name="chip Head coach · round table"/>
          <p:cNvSpPr/>
          <p:nvPr/>
        </p:nvSpPr>
        <p:spPr>
          <a:xfrm>
            <a:off x="2148840" y="3886200"/>
            <a:ext cx="1894637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148840" y="3886200"/>
            <a:ext cx="1894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Head coach · round table</a:t>
            </a:r>
            <a:endParaRPr lang="en-US" sz="950" dirty="0"/>
          </a:p>
        </p:txBody>
      </p:sp>
      <p:sp>
        <p:nvSpPr>
          <p:cNvPr id="56" name="chip LLM 4–14B INT4"/>
          <p:cNvSpPr/>
          <p:nvPr/>
        </p:nvSpPr>
        <p:spPr>
          <a:xfrm>
            <a:off x="4116629" y="3886200"/>
            <a:ext cx="1227125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116629" y="3886200"/>
            <a:ext cx="1227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LLM 4–14B INT4</a:t>
            </a:r>
            <a:endParaRPr lang="en-US" sz="950" dirty="0"/>
          </a:p>
        </p:txBody>
      </p:sp>
      <p:sp>
        <p:nvSpPr>
          <p:cNvPr id="58" name="chip OpenVINO"/>
          <p:cNvSpPr/>
          <p:nvPr/>
        </p:nvSpPr>
        <p:spPr>
          <a:xfrm>
            <a:off x="2148840" y="4215384"/>
            <a:ext cx="826618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148840" y="42153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OpenVINO</a:t>
            </a:r>
            <a:endParaRPr lang="en-US" sz="950" dirty="0"/>
          </a:p>
        </p:txBody>
      </p:sp>
      <p:sp>
        <p:nvSpPr>
          <p:cNvPr id="60" name="chip verifier"/>
          <p:cNvSpPr/>
          <p:nvPr/>
        </p:nvSpPr>
        <p:spPr>
          <a:xfrm>
            <a:off x="3048610" y="4215384"/>
            <a:ext cx="826618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048610" y="42153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verifier</a:t>
            </a:r>
            <a:endParaRPr lang="en-US" sz="950" dirty="0"/>
          </a:p>
        </p:txBody>
      </p:sp>
      <p:sp>
        <p:nvSpPr>
          <p:cNvPr id="62" name="chip research agent"/>
          <p:cNvSpPr/>
          <p:nvPr/>
        </p:nvSpPr>
        <p:spPr>
          <a:xfrm>
            <a:off x="3948379" y="4215384"/>
            <a:ext cx="1227125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948379" y="4215384"/>
            <a:ext cx="1227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research agent</a:t>
            </a:r>
            <a:endParaRPr lang="en-US" sz="950" dirty="0"/>
          </a:p>
        </p:txBody>
      </p:sp>
      <p:sp>
        <p:nvSpPr>
          <p:cNvPr id="64" name="layer Memory"/>
          <p:cNvSpPr/>
          <p:nvPr/>
        </p:nvSpPr>
        <p:spPr>
          <a:xfrm>
            <a:off x="5623560" y="3429000"/>
            <a:ext cx="2194560" cy="530352"/>
          </a:xfrm>
          <a:prstGeom prst="roundRect">
            <a:avLst>
              <a:gd name="adj" fmla="val 17241"/>
            </a:avLst>
          </a:prstGeom>
          <a:solidFill>
            <a:schemeClr val="accent6"/>
          </a:solidFill>
          <a:ln w="9525">
            <a:solidFill>
              <a:srgbClr val="5FD39A"/>
            </a:solidFill>
            <a:prstDash val="solid"/>
          </a:ln>
        </p:spPr>
      </p:sp>
      <p:sp>
        <p:nvSpPr>
          <p:cNvPr id="65" name="layer bar Memory"/>
          <p:cNvSpPr/>
          <p:nvPr/>
        </p:nvSpPr>
        <p:spPr>
          <a:xfrm>
            <a:off x="5641848" y="3520440"/>
            <a:ext cx="64008" cy="347472"/>
          </a:xfrm>
          <a:prstGeom prst="rect">
            <a:avLst/>
          </a:prstGeom>
          <a:solidFill>
            <a:srgbClr val="5FD39A"/>
          </a:solidFill>
          <a:ln w="12700">
            <a:solidFill>
              <a:srgbClr val="5FD39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806440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Memory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5806440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RAG: player memory · papers</a:t>
            </a:r>
            <a:endParaRPr lang="en-US" sz="900" dirty="0"/>
          </a:p>
        </p:txBody>
      </p:sp>
      <p:sp>
        <p:nvSpPr>
          <p:cNvPr id="68" name="layer Simulator"/>
          <p:cNvSpPr/>
          <p:nvPr/>
        </p:nvSpPr>
        <p:spPr>
          <a:xfrm>
            <a:off x="5623560" y="4041648"/>
            <a:ext cx="2194560" cy="530352"/>
          </a:xfrm>
          <a:prstGeom prst="roundRect">
            <a:avLst>
              <a:gd name="adj" fmla="val 17241"/>
            </a:avLst>
          </a:prstGeom>
          <a:solidFill>
            <a:schemeClr val="accent6"/>
          </a:solidFill>
          <a:ln w="9525">
            <a:solidFill>
              <a:srgbClr val="FF8A6B"/>
            </a:solidFill>
            <a:prstDash val="solid"/>
          </a:ln>
        </p:spPr>
      </p:sp>
      <p:sp>
        <p:nvSpPr>
          <p:cNvPr id="69" name="layer bar Simulator"/>
          <p:cNvSpPr/>
          <p:nvPr/>
        </p:nvSpPr>
        <p:spPr>
          <a:xfrm>
            <a:off x="5641848" y="4133088"/>
            <a:ext cx="64008" cy="347472"/>
          </a:xfrm>
          <a:prstGeom prst="rect">
            <a:avLst/>
          </a:prstGeom>
          <a:solidFill>
            <a:srgbClr val="FF8A6B"/>
          </a:solidFill>
          <a:ln w="12700">
            <a:solidFill>
              <a:srgbClr val="FF8A6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806440" y="40965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Simulator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5806440" y="4325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what-if before advice</a:t>
            </a:r>
            <a:endParaRPr lang="en-US" sz="900" dirty="0"/>
          </a:p>
        </p:txBody>
      </p:sp>
      <p:sp>
        <p:nvSpPr>
          <p:cNvPr id="72" name="flow arrow"/>
          <p:cNvSpPr/>
          <p:nvPr/>
        </p:nvSpPr>
        <p:spPr>
          <a:xfrm>
            <a:off x="4183380" y="4590288"/>
            <a:ext cx="0" cy="182880"/>
          </a:xfrm>
          <a:prstGeom prst="line">
            <a:avLst/>
          </a:prstGeom>
          <a:noFill/>
          <a:ln w="19050">
            <a:solidFill>
              <a:srgbClr val="8E989D"/>
            </a:solidFill>
            <a:prstDash val="solid"/>
            <a:tailEnd type="triangle"/>
          </a:ln>
        </p:spPr>
      </p:sp>
      <p:sp>
        <p:nvSpPr>
          <p:cNvPr id="73" name="layer Interface"/>
          <p:cNvSpPr/>
          <p:nvPr/>
        </p:nvSpPr>
        <p:spPr>
          <a:xfrm>
            <a:off x="548640" y="4800600"/>
            <a:ext cx="726948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 w="9525">
            <a:solidFill>
              <a:srgbClr val="C3CACD"/>
            </a:solidFill>
            <a:prstDash val="solid"/>
          </a:ln>
        </p:spPr>
      </p:sp>
      <p:sp>
        <p:nvSpPr>
          <p:cNvPr id="74" name="layer bar Interface"/>
          <p:cNvSpPr/>
          <p:nvPr/>
        </p:nvSpPr>
        <p:spPr>
          <a:xfrm>
            <a:off x="566928" y="4910328"/>
            <a:ext cx="64008" cy="649224"/>
          </a:xfrm>
          <a:prstGeom prst="rect">
            <a:avLst/>
          </a:prstGeom>
          <a:solidFill>
            <a:srgbClr val="C3CACD"/>
          </a:solidFill>
          <a:ln w="12700">
            <a:solidFill>
              <a:srgbClr val="C3CAC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31520" y="4892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Interface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152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advice → player</a:t>
            </a:r>
            <a:endParaRPr lang="en-US" sz="900" dirty="0"/>
          </a:p>
        </p:txBody>
      </p:sp>
      <p:sp>
        <p:nvSpPr>
          <p:cNvPr id="77" name="chip React + Three.js"/>
          <p:cNvSpPr/>
          <p:nvPr/>
        </p:nvSpPr>
        <p:spPr>
          <a:xfrm>
            <a:off x="2148840" y="4928616"/>
            <a:ext cx="1360627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148840" y="4928616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React + Three.js</a:t>
            </a:r>
            <a:endParaRPr lang="en-US" sz="950" dirty="0"/>
          </a:p>
        </p:txBody>
      </p:sp>
      <p:sp>
        <p:nvSpPr>
          <p:cNvPr id="79" name="chip Telegram bot"/>
          <p:cNvSpPr/>
          <p:nvPr/>
        </p:nvSpPr>
        <p:spPr>
          <a:xfrm>
            <a:off x="3582619" y="4928616"/>
            <a:ext cx="1093622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582619" y="4928616"/>
            <a:ext cx="1093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Telegram bot</a:t>
            </a:r>
            <a:endParaRPr lang="en-US" sz="950" dirty="0"/>
          </a:p>
        </p:txBody>
      </p:sp>
      <p:sp>
        <p:nvSpPr>
          <p:cNvPr id="81" name="chip Whisper voice (offline)"/>
          <p:cNvSpPr/>
          <p:nvPr/>
        </p:nvSpPr>
        <p:spPr>
          <a:xfrm>
            <a:off x="4749394" y="4928616"/>
            <a:ext cx="1827886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749394" y="4928616"/>
            <a:ext cx="1827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Whisper voice (offline)</a:t>
            </a:r>
            <a:endParaRPr lang="en-US" sz="950" dirty="0"/>
          </a:p>
        </p:txBody>
      </p:sp>
      <p:sp>
        <p:nvSpPr>
          <p:cNvPr id="83" name="chip court calibration"/>
          <p:cNvSpPr/>
          <p:nvPr/>
        </p:nvSpPr>
        <p:spPr>
          <a:xfrm>
            <a:off x="2148840" y="5257800"/>
            <a:ext cx="1427378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148840" y="5257800"/>
            <a:ext cx="1427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court calibration</a:t>
            </a:r>
            <a:endParaRPr lang="en-US" sz="950" dirty="0"/>
          </a:p>
        </p:txBody>
      </p:sp>
      <p:sp>
        <p:nvSpPr>
          <p:cNvPr id="85" name="chip highlight MP4"/>
          <p:cNvSpPr/>
          <p:nvPr/>
        </p:nvSpPr>
        <p:spPr>
          <a:xfrm>
            <a:off x="3649370" y="5257800"/>
            <a:ext cx="1160374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649370" y="5257800"/>
            <a:ext cx="1160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highlight MP4</a:t>
            </a:r>
            <a:endParaRPr lang="en-US" sz="950" dirty="0"/>
          </a:p>
        </p:txBody>
      </p:sp>
      <p:sp>
        <p:nvSpPr>
          <p:cNvPr id="87" name="chip live brief"/>
          <p:cNvSpPr/>
          <p:nvPr/>
        </p:nvSpPr>
        <p:spPr>
          <a:xfrm>
            <a:off x="4882896" y="52578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882896" y="5257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live brief</a:t>
            </a:r>
            <a:endParaRPr lang="en-US" sz="950" dirty="0"/>
          </a:p>
        </p:txBody>
      </p:sp>
      <p:sp>
        <p:nvSpPr>
          <p:cNvPr id="89" name="chip CSV / JSON"/>
          <p:cNvSpPr/>
          <p:nvPr/>
        </p:nvSpPr>
        <p:spPr>
          <a:xfrm>
            <a:off x="5916168" y="52578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2A343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916168" y="5257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CSV / JSON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548640" y="580644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Dashed chips: in-house closed blocks. Everything runs on one local GPU.</a:t>
            </a:r>
            <a:endParaRPr 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81838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93" name="method spine"/>
          <p:cNvSpPr/>
          <p:nvPr/>
        </p:nvSpPr>
        <p:spPr>
          <a:xfrm>
            <a:off x="8412480" y="2057400"/>
            <a:ext cx="0" cy="3429000"/>
          </a:xfrm>
          <a:prstGeom prst="line">
            <a:avLst/>
          </a:prstGeom>
          <a:noFill/>
          <a:ln w="25400">
            <a:solidFill>
              <a:srgbClr val="111A20"/>
            </a:solidFill>
            <a:prstDash val="solid"/>
          </a:ln>
        </p:spPr>
      </p:sp>
      <p:sp>
        <p:nvSpPr>
          <p:cNvPr id="94" name="method 1"/>
          <p:cNvSpPr/>
          <p:nvPr/>
        </p:nvSpPr>
        <p:spPr>
          <a:xfrm>
            <a:off x="8183880" y="1828800"/>
            <a:ext cx="457200" cy="457200"/>
          </a:xfrm>
          <a:prstGeom prst="ellipse">
            <a:avLst/>
          </a:prstGeom>
          <a:solidFill>
            <a:srgbClr val="F2E6C9"/>
          </a:solidFill>
          <a:ln w="25400">
            <a:solidFill>
              <a:srgbClr val="04070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183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6" name="Text 94"/>
          <p:cNvSpPr txBox="1"/>
          <p:nvPr/>
        </p:nvSpPr>
        <p:spPr>
          <a:xfrm>
            <a:off x="8778240" y="18105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Facts before language</a:t>
            </a:r>
            <a:endParaRPr lang="en-US" sz="1350" dirty="0"/>
          </a:p>
        </p:txBody>
      </p:sp>
      <p:sp>
        <p:nvSpPr>
          <p:cNvPr id="97" name="Text 95"/>
          <p:cNvSpPr txBox="1"/>
          <p:nvPr/>
        </p:nvSpPr>
        <p:spPr>
          <a:xfrm>
            <a:off x="8778240" y="2103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Deterministic code computes every number; the LLM only explains it.</a:t>
            </a:r>
            <a:endParaRPr lang="en-US" sz="1050" dirty="0"/>
          </a:p>
        </p:txBody>
      </p:sp>
      <p:sp>
        <p:nvSpPr>
          <p:cNvPr id="98" name="method 2"/>
          <p:cNvSpPr/>
          <p:nvPr/>
        </p:nvSpPr>
        <p:spPr>
          <a:xfrm>
            <a:off x="8183880" y="2880360"/>
            <a:ext cx="457200" cy="457200"/>
          </a:xfrm>
          <a:prstGeom prst="ellipse">
            <a:avLst/>
          </a:prstGeom>
          <a:solidFill>
            <a:srgbClr val="5FD39A"/>
          </a:solidFill>
          <a:ln w="25400">
            <a:solidFill>
              <a:srgbClr val="04070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1838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0" name="Text 98"/>
          <p:cNvSpPr txBox="1"/>
          <p:nvPr/>
        </p:nvSpPr>
        <p:spPr>
          <a:xfrm>
            <a:off x="8778240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100% traceable</a:t>
            </a:r>
            <a:endParaRPr lang="en-US" sz="1350" dirty="0"/>
          </a:p>
        </p:txBody>
      </p:sp>
      <p:sp>
        <p:nvSpPr>
          <p:cNvPr id="101" name="Text 99"/>
          <p:cNvSpPr txBox="1"/>
          <p:nvPr/>
        </p:nvSpPr>
        <p:spPr>
          <a:xfrm>
            <a:off x="877824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A verifier recomputes every figure an agent says and links it to a rally, shot and video time.</a:t>
            </a:r>
            <a:endParaRPr lang="en-US" sz="1050" dirty="0"/>
          </a:p>
        </p:txBody>
      </p:sp>
      <p:sp>
        <p:nvSpPr>
          <p:cNvPr id="102" name="method 3"/>
          <p:cNvSpPr/>
          <p:nvPr/>
        </p:nvSpPr>
        <p:spPr>
          <a:xfrm>
            <a:off x="8183880" y="3931920"/>
            <a:ext cx="457200" cy="457200"/>
          </a:xfrm>
          <a:prstGeom prst="ellipse">
            <a:avLst/>
          </a:prstGeom>
          <a:solidFill>
            <a:srgbClr val="F2E6C9"/>
          </a:solidFill>
          <a:ln w="25400">
            <a:solidFill>
              <a:srgbClr val="04070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1838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04" name="Text 102"/>
          <p:cNvSpPr txBox="1"/>
          <p:nvPr/>
        </p:nvSpPr>
        <p:spPr>
          <a:xfrm>
            <a:off x="8778240" y="3913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Simulate before advising</a:t>
            </a:r>
            <a:endParaRPr lang="en-US" sz="1350" dirty="0"/>
          </a:p>
        </p:txBody>
      </p:sp>
      <p:sp>
        <p:nvSpPr>
          <p:cNvPr id="105" name="Text 103"/>
          <p:cNvSpPr txBox="1"/>
          <p:nvPr/>
        </p:nvSpPr>
        <p:spPr>
          <a:xfrm>
            <a:off x="8778240" y="4206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Positioning changes must cut simulated losses first.</a:t>
            </a:r>
            <a:endParaRPr lang="en-US" sz="1050" dirty="0"/>
          </a:p>
        </p:txBody>
      </p:sp>
      <p:sp>
        <p:nvSpPr>
          <p:cNvPr id="106" name="method 4"/>
          <p:cNvSpPr/>
          <p:nvPr/>
        </p:nvSpPr>
        <p:spPr>
          <a:xfrm>
            <a:off x="8183880" y="4983480"/>
            <a:ext cx="457200" cy="457200"/>
          </a:xfrm>
          <a:prstGeom prst="ellipse">
            <a:avLst/>
          </a:prstGeom>
          <a:solidFill>
            <a:srgbClr val="F2E6C9"/>
          </a:solidFill>
          <a:ln w="25400">
            <a:solidFill>
              <a:srgbClr val="04070A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1838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08" name="Text 106"/>
          <p:cNvSpPr txBox="1"/>
          <p:nvPr/>
        </p:nvSpPr>
        <p:spPr>
          <a:xfrm>
            <a:off x="8778240" y="49651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Measure against ground truth</a:t>
            </a:r>
            <a:endParaRPr lang="en-US" sz="1350" dirty="0"/>
          </a:p>
        </p:txBody>
      </p:sp>
      <p:sp>
        <p:nvSpPr>
          <p:cNvPr id="109" name="Text 107"/>
          <p:cNvSpPr txBox="1"/>
          <p:nvPr/>
        </p:nvSpPr>
        <p:spPr>
          <a:xfrm>
            <a:off x="8778240" y="5257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3D checked against a multi-camera capture; outcomes against labelled rallies.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How the system works, end to end</a:t>
            </a:r>
            <a:endParaRPr lang="en-US" sz="3000" dirty="0"/>
          </a:p>
        </p:txBody>
      </p:sp>
      <p:pic>
        <p:nvPicPr>
          <p:cNvPr id="14" name="architecture animation" descr="clips/architectur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280" y="1417320"/>
            <a:ext cx="869696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Built on our own perception research</a:t>
            </a:r>
            <a:endParaRPr lang="en-US" sz="3000" dirty="0"/>
          </a:p>
        </p:txBody>
      </p:sp>
      <p:sp>
        <p:nvSpPr>
          <p:cNvPr id="14" name="method 0"/>
          <p:cNvSpPr/>
          <p:nvPr/>
        </p:nvSpPr>
        <p:spPr>
          <a:xfrm>
            <a:off x="548640" y="1463040"/>
            <a:ext cx="6172200" cy="1444752"/>
          </a:xfrm>
          <a:prstGeom prst="roundRect">
            <a:avLst>
              <a:gd name="adj" fmla="val 6329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1591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TrackNetV5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1618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2D shuttle tracking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197510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Finds the shuttle in every broadcast frame, using motion cues across neighbouring frames. Used as a frozen backbone.</a:t>
            </a:r>
            <a:endParaRPr lang="en-US" sz="1100" dirty="0"/>
          </a:p>
        </p:txBody>
      </p:sp>
      <p:sp>
        <p:nvSpPr>
          <p:cNvPr id="18" name="pill 0-0"/>
          <p:cNvSpPr/>
          <p:nvPr/>
        </p:nvSpPr>
        <p:spPr>
          <a:xfrm>
            <a:off x="777240" y="252374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523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F1 98.1%</a:t>
            </a:r>
            <a:endParaRPr lang="en-US" sz="950" dirty="0"/>
          </a:p>
        </p:txBody>
      </p:sp>
      <p:sp>
        <p:nvSpPr>
          <p:cNvPr id="20" name="pill 0-1"/>
          <p:cNvSpPr/>
          <p:nvPr/>
        </p:nvSpPr>
        <p:spPr>
          <a:xfrm>
            <a:off x="2221992" y="252374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21992" y="2523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Public code</a:t>
            </a:r>
            <a:endParaRPr lang="en-US" sz="950" dirty="0"/>
          </a:p>
        </p:txBody>
      </p:sp>
      <p:sp>
        <p:nvSpPr>
          <p:cNvPr id="22" name="pill 0-2"/>
          <p:cNvSpPr/>
          <p:nvPr/>
        </p:nvSpPr>
        <p:spPr>
          <a:xfrm>
            <a:off x="3666744" y="252374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66744" y="2523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Frozen backbone</a:t>
            </a:r>
            <a:endParaRPr lang="en-US" sz="950" dirty="0"/>
          </a:p>
        </p:txBody>
      </p:sp>
      <p:sp>
        <p:nvSpPr>
          <p:cNvPr id="24" name="pill 0-3"/>
          <p:cNvSpPr/>
          <p:nvPr/>
        </p:nvSpPr>
        <p:spPr>
          <a:xfrm>
            <a:off x="5111496" y="252374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11496" y="2523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In ShuttleCoach</a:t>
            </a:r>
            <a:endParaRPr lang="en-US" sz="950" dirty="0"/>
          </a:p>
        </p:txBody>
      </p:sp>
      <p:sp>
        <p:nvSpPr>
          <p:cNvPr id="26" name="method 1"/>
          <p:cNvSpPr/>
          <p:nvPr/>
        </p:nvSpPr>
        <p:spPr>
          <a:xfrm>
            <a:off x="548640" y="3035808"/>
            <a:ext cx="6172200" cy="1444752"/>
          </a:xfrm>
          <a:prstGeom prst="roundRect">
            <a:avLst>
              <a:gd name="adj" fmla="val 6329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1638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Monocular scene reconstruction</a:t>
            </a:r>
            <a:endParaRPr lang="en-US" sz="1900" dirty="0"/>
          </a:p>
        </p:txBody>
      </p:sp>
      <p:sp>
        <p:nvSpPr>
          <p:cNvPr id="28" name="black box 1"/>
          <p:cNvSpPr/>
          <p:nvPr/>
        </p:nvSpPr>
        <p:spPr>
          <a:xfrm>
            <a:off x="777240" y="356616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91440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 broadcast video   →   OUT  3D shuttle flight (m)</a:t>
            </a:r>
            <a:endParaRPr lang="en-US" sz="1200" dirty="0"/>
          </a:p>
        </p:txBody>
      </p:sp>
      <p:sp>
        <p:nvSpPr>
          <p:cNvPr id="30" name="pill 1-0"/>
          <p:cNvSpPr/>
          <p:nvPr/>
        </p:nvSpPr>
        <p:spPr>
          <a:xfrm>
            <a:off x="777240" y="409651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0.42 m median error</a:t>
            </a:r>
            <a:endParaRPr lang="en-US" sz="950" dirty="0"/>
          </a:p>
        </p:txBody>
      </p:sp>
      <p:sp>
        <p:nvSpPr>
          <p:cNvPr id="32" name="pill 1-1"/>
          <p:cNvSpPr/>
          <p:nvPr/>
        </p:nvSpPr>
        <p:spPr>
          <a:xfrm>
            <a:off x="2221992" y="409651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21992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Single camera</a:t>
            </a:r>
            <a:endParaRPr lang="en-US" sz="950" dirty="0"/>
          </a:p>
        </p:txBody>
      </p:sp>
      <p:sp>
        <p:nvSpPr>
          <p:cNvPr id="34" name="pill 1-2"/>
          <p:cNvSpPr/>
          <p:nvPr/>
        </p:nvSpPr>
        <p:spPr>
          <a:xfrm>
            <a:off x="3666744" y="409651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66744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In ShuttleCoach</a:t>
            </a:r>
            <a:endParaRPr lang="en-US" sz="950" dirty="0"/>
          </a:p>
        </p:txBody>
      </p:sp>
      <p:sp>
        <p:nvSpPr>
          <p:cNvPr id="36" name="method 2"/>
          <p:cNvSpPr/>
          <p:nvPr/>
        </p:nvSpPr>
        <p:spPr>
          <a:xfrm>
            <a:off x="548640" y="4608576"/>
            <a:ext cx="6172200" cy="1444752"/>
          </a:xfrm>
          <a:prstGeom prst="roundRect">
            <a:avLst>
              <a:gd name="adj" fmla="val 6329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7365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Intent detection</a:t>
            </a:r>
            <a:endParaRPr lang="en-US" sz="1900" dirty="0"/>
          </a:p>
        </p:txBody>
      </p:sp>
      <p:sp>
        <p:nvSpPr>
          <p:cNvPr id="38" name="black box 2"/>
          <p:cNvSpPr/>
          <p:nvPr/>
        </p:nvSpPr>
        <p:spPr>
          <a:xfrm>
            <a:off x="777240" y="5138928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914400" y="5138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 live 3D rally   →   OUT  opponent's next stroke</a:t>
            </a:r>
            <a:endParaRPr lang="en-US" sz="1200" dirty="0"/>
          </a:p>
        </p:txBody>
      </p:sp>
      <p:sp>
        <p:nvSpPr>
          <p:cNvPr id="40" name="pill 2-0"/>
          <p:cNvSpPr/>
          <p:nvPr/>
        </p:nvSpPr>
        <p:spPr>
          <a:xfrm>
            <a:off x="777240" y="56692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669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400 ms before contact</a:t>
            </a:r>
            <a:endParaRPr lang="en-US" sz="950" dirty="0"/>
          </a:p>
        </p:txBody>
      </p:sp>
      <p:sp>
        <p:nvSpPr>
          <p:cNvPr id="42" name="pill 2-1"/>
          <p:cNvSpPr/>
          <p:nvPr/>
        </p:nvSpPr>
        <p:spPr>
          <a:xfrm>
            <a:off x="2221992" y="56692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9525">
            <a:solidFill>
              <a:srgbClr val="3A44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221992" y="5669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Real-time</a:t>
            </a:r>
            <a:endParaRPr lang="en-US" sz="950" dirty="0"/>
          </a:p>
        </p:txBody>
      </p:sp>
      <p:pic>
        <p:nvPicPr>
          <p:cNvPr id="44" name="broadcast to 3D clip" descr="clips/rec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111" y="1463040"/>
            <a:ext cx="3178098" cy="4343400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6949440" y="5852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The two in-house blocks are shown by what goes in and what comes out, with their headline results; the details stay closed.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Every shot measured: 3D flight, speed, apex, contact height</a:t>
            </a:r>
            <a:endParaRPr lang="en-US" sz="3000" dirty="0"/>
          </a:p>
        </p:txBody>
      </p:sp>
      <p:pic>
        <p:nvPicPr>
          <p:cNvPr id="14" name="rally replay clip" descr="clips/replay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102458" cy="4800600"/>
          </a:xfrm>
          <a:prstGeom prst="rect">
            <a:avLst/>
          </a:prstGeom>
        </p:spPr>
      </p:pic>
      <p:sp>
        <p:nvSpPr>
          <p:cNvPr id="15" name="callout 1"/>
          <p:cNvSpPr/>
          <p:nvPr/>
        </p:nvSpPr>
        <p:spPr>
          <a:xfrm>
            <a:off x="731714" y="1703070"/>
            <a:ext cx="384048" cy="384048"/>
          </a:xfrm>
          <a:prstGeom prst="ellipse">
            <a:avLst/>
          </a:prstGeom>
          <a:solidFill>
            <a:srgbClr val="F2E6C9"/>
          </a:solidFill>
          <a:ln w="19050">
            <a:solidFill>
              <a:srgbClr val="0407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714" y="17030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7" name="callout 2"/>
          <p:cNvSpPr/>
          <p:nvPr/>
        </p:nvSpPr>
        <p:spPr>
          <a:xfrm>
            <a:off x="3782943" y="1703070"/>
            <a:ext cx="384048" cy="384048"/>
          </a:xfrm>
          <a:prstGeom prst="ellipse">
            <a:avLst/>
          </a:prstGeom>
          <a:solidFill>
            <a:srgbClr val="F2E6C9"/>
          </a:solidFill>
          <a:ln w="19050">
            <a:solidFill>
              <a:srgbClr val="04070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82943" y="17030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callout 3"/>
          <p:cNvSpPr/>
          <p:nvPr/>
        </p:nvSpPr>
        <p:spPr>
          <a:xfrm>
            <a:off x="731714" y="4103370"/>
            <a:ext cx="384048" cy="384048"/>
          </a:xfrm>
          <a:prstGeom prst="ellipse">
            <a:avLst/>
          </a:prstGeom>
          <a:solidFill>
            <a:srgbClr val="F2E6C9"/>
          </a:solidFill>
          <a:ln w="19050">
            <a:solidFill>
              <a:srgbClr val="0407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714" y="41033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replay notes"/>
          <p:cNvSpPr/>
          <p:nvPr/>
        </p:nvSpPr>
        <p:spPr>
          <a:xfrm>
            <a:off x="8412480" y="1463040"/>
            <a:ext cx="3200400" cy="480060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 TO 3D IN 3 STEPS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03120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1F2"/>
                </a:solidFill>
              </a:rPr>
              <a:t>1  2D track. </a:t>
            </a:r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TrackNetV5 finds the shuttle in every broadcast frame.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EF1F2"/>
                </a:solidFill>
              </a:rPr>
              <a:t>2  Camera, 3D and pose. </a:t>
            </a:r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Monocular scene reconstruction turns the 2D track into the flight in metres; pose gives both skeletons, speed and distance.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EF1F2"/>
                </a:solidFill>
              </a:rPr>
              <a:t>3  Speed curve. </a:t>
            </a:r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Each hit's launch speed, apex and contact height, clickable back to the frame.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8686800" y="48463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8A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200 km/h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far player's smash, measured from the 3D track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Round table: coaches who argue, then agree the week</a:t>
            </a:r>
            <a:endParaRPr lang="en-US" sz="3000" dirty="0"/>
          </a:p>
        </p:txBody>
      </p:sp>
      <p:pic>
        <p:nvPicPr>
          <p:cNvPr id="14" name="round table clip" descr="clips/roundtabl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589520" cy="2747406"/>
          </a:xfrm>
          <a:prstGeom prst="rect">
            <a:avLst/>
          </a:prstGeom>
        </p:spPr>
      </p:pic>
      <p:pic>
        <p:nvPicPr>
          <p:cNvPr id="15" name="head coach ruling" descr="shots/rt_ru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89120"/>
            <a:ext cx="7030778" cy="1874520"/>
          </a:xfrm>
          <a:prstGeom prst="rect">
            <a:avLst/>
          </a:prstGeom>
        </p:spPr>
      </p:pic>
      <p:sp>
        <p:nvSpPr>
          <p:cNvPr id="16" name="round table notes"/>
          <p:cNvSpPr/>
          <p:nvPr/>
        </p:nvSpPr>
        <p:spPr>
          <a:xfrm>
            <a:off x="8412480" y="1463040"/>
            <a:ext cx="3200400" cy="480060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41080" y="1691640"/>
            <a:ext cx="2788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B5E"/>
                </a:solidFill>
              </a:rPr>
              <a:t>Conflict, then resolution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Ren challenges Lin: smash-defence blocks mean jumps, and memory says “right knee sore”. The table shows the clash, then the head coach rules: health first, then points at stake.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5FD39A"/>
                </a:solidFill>
              </a:rPr>
              <a:t>No invented numbers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8 of 8 figures in the meeting re-computed from the raw labels; 23 evidence chips open the exact rally and shot.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EF1F2"/>
                </a:solidFill>
              </a:rPr>
              <a:t>Output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Four measurable goals and a 7-day schedule, written back to memory and sent to each player on Telegram.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Tactics and technique coaches: the zones and the flights</a:t>
            </a:r>
            <a:endParaRPr lang="en-US" sz="3000" dirty="0"/>
          </a:p>
        </p:txBody>
      </p:sp>
      <p:pic>
        <p:nvPicPr>
          <p:cNvPr id="14" name="Coach Lin · tactics clip" descr="clips/coach_tactic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2804973"/>
          </a:xfrm>
          <a:prstGeom prst="rect">
            <a:avLst/>
          </a:prstGeom>
        </p:spPr>
      </p:pic>
      <p:sp>
        <p:nvSpPr>
          <p:cNvPr id="15" name="Coach Lin · tactics callout"/>
          <p:cNvSpPr/>
          <p:nvPr/>
        </p:nvSpPr>
        <p:spPr>
          <a:xfrm>
            <a:off x="2235251" y="3503379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25400">
            <a:solidFill>
              <a:srgbClr val="FF6B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0"/>
              </a:srgbClr>
            </a:outerShdw>
          </a:effectLst>
        </p:spPr>
      </p:sp>
      <p:sp>
        <p:nvSpPr>
          <p:cNvPr id="16" name="Coach Lin · tactics callout dot"/>
          <p:cNvSpPr/>
          <p:nvPr/>
        </p:nvSpPr>
        <p:spPr>
          <a:xfrm>
            <a:off x="2363267" y="3622251"/>
            <a:ext cx="128016" cy="128016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64435" y="3503379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Rear forehand: 29% of points lost (7/24)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572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2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COACH LIN · TACTICS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8920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Reads every point.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101 points: 9 winners hit vs 24 conceded; the match was won on 41 opponent errors.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Flashes the leak.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Rear forehand: 7 of 24 points lost, blinking on the defence map.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Game plan.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Recover toward the forehand after clears; lift deep to the backhand corner.</a:t>
            </a:r>
            <a:endParaRPr lang="en-US" sz="1150" dirty="0"/>
          </a:p>
        </p:txBody>
      </p:sp>
      <p:pic>
        <p:nvPicPr>
          <p:cNvPr id="20" name="Coach Kai · technique clip" descr="clips/coach_technique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427000" cy="3063240"/>
          </a:xfrm>
          <a:prstGeom prst="rect">
            <a:avLst/>
          </a:prstGeom>
        </p:spPr>
      </p:pic>
      <p:sp>
        <p:nvSpPr>
          <p:cNvPr id="21" name="Coach Kai · technique callout"/>
          <p:cNvSpPr/>
          <p:nvPr/>
        </p:nvSpPr>
        <p:spPr>
          <a:xfrm>
            <a:off x="8560080" y="1463497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25400">
            <a:solidFill>
              <a:srgbClr val="6FB6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0"/>
              </a:srgbClr>
            </a:outerShdw>
          </a:effectLst>
        </p:spPr>
      </p:sp>
      <p:sp>
        <p:nvSpPr>
          <p:cNvPr id="22" name="Coach Kai · technique callout dot"/>
          <p:cNvSpPr/>
          <p:nvPr/>
        </p:nvSpPr>
        <p:spPr>
          <a:xfrm>
            <a:off x="8688096" y="1582369"/>
            <a:ext cx="128016" cy="128016"/>
          </a:xfrm>
          <a:prstGeom prst="ellipse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889264" y="1463497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Every shot graded A / B / C from its 3D flight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172200" y="4572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F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COACH KAI · TECHNIQUE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172200" y="48920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Every flight in 3D.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Launch speed, apex, contact height, net clearance and depth per shot.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Shot quality grades.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 deep 141 km/h clear earns an A; a net shot 40 cm over the tape a B.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What to fix.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The weakest stroke goes first on next session's list.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Fitness and data coaches: the body and the habits</a:t>
            </a:r>
            <a:endParaRPr lang="en-US" sz="3000" dirty="0"/>
          </a:p>
        </p:txBody>
      </p:sp>
      <p:pic>
        <p:nvPicPr>
          <p:cNvPr id="14" name="Coach Ren · fitness clip" descr="clips/coach_fitnes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84602" cy="3063240"/>
          </a:xfrm>
          <a:prstGeom prst="rect">
            <a:avLst/>
          </a:prstGeom>
        </p:spPr>
      </p:pic>
      <p:sp>
        <p:nvSpPr>
          <p:cNvPr id="15" name="Coach Ren · fitness callout"/>
          <p:cNvSpPr/>
          <p:nvPr/>
        </p:nvSpPr>
        <p:spPr>
          <a:xfrm>
            <a:off x="2325559" y="149413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25400">
            <a:solidFill>
              <a:srgbClr val="F2D4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0"/>
              </a:srgbClr>
            </a:outerShdw>
          </a:effectLst>
        </p:spPr>
      </p:sp>
      <p:sp>
        <p:nvSpPr>
          <p:cNvPr id="16" name="Coach Ren · fitness callout dot"/>
          <p:cNvSpPr/>
          <p:nvPr/>
        </p:nvSpPr>
        <p:spPr>
          <a:xfrm>
            <a:off x="2453575" y="1613002"/>
            <a:ext cx="128016" cy="128016"/>
          </a:xfrm>
          <a:prstGeom prst="ellipse">
            <a:avLst/>
          </a:prstGeom>
          <a:solidFill>
            <a:srgbClr val="F2D46B"/>
          </a:solidFill>
          <a:ln w="12700">
            <a:solidFill>
              <a:srgbClr val="F2D4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54743" y="149413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Right knee sore: no jump drills this week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572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COACH REN · FITNESS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8920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Muscles that flash.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Quadriceps, calves, forearm and glutes pulse on a 402-muscle 3D model.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Why each one.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Tied to findings: 60% of smashes into your half go to the mid forehand.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Adapts to memory.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“Right knee sore”: jump drills become tempo split squats and isometric holds.</a:t>
            </a:r>
            <a:endParaRPr lang="en-US" sz="1150" dirty="0"/>
          </a:p>
        </p:txBody>
      </p:sp>
      <p:pic>
        <p:nvPicPr>
          <p:cNvPr id="20" name="Coach Ada · data clip" descr="clips/coach_analyst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241285" cy="3063240"/>
          </a:xfrm>
          <a:prstGeom prst="rect">
            <a:avLst/>
          </a:prstGeom>
        </p:spPr>
      </p:pic>
      <p:sp>
        <p:nvSpPr>
          <p:cNvPr id="21" name="Coach Ada · data callout"/>
          <p:cNvSpPr/>
          <p:nvPr/>
        </p:nvSpPr>
        <p:spPr>
          <a:xfrm>
            <a:off x="8478365" y="149413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04070A"/>
          </a:solidFill>
          <a:ln w="25400">
            <a:solidFill>
              <a:srgbClr val="5FD3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0"/>
              </a:srgbClr>
            </a:outerShdw>
          </a:effectLst>
        </p:spPr>
      </p:sp>
      <p:sp>
        <p:nvSpPr>
          <p:cNvPr id="22" name="Coach Ada · data callout dot"/>
          <p:cNvSpPr/>
          <p:nvPr/>
        </p:nvSpPr>
        <p:spPr>
          <a:xfrm>
            <a:off x="8606381" y="1613002"/>
            <a:ext cx="128016" cy="128016"/>
          </a:xfrm>
          <a:prstGeom prst="ellipse">
            <a:avLst/>
          </a:prstGeom>
          <a:solidFill>
            <a:srgbClr val="5FD39A"/>
          </a:solidFill>
          <a:ln w="12700">
            <a:solidFill>
              <a:srgbClr val="5FD39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807549" y="149413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After a lift, WANG smashes 38% of the time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172200" y="4572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FD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COACH ADA · DATA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172200" y="48920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Player profile.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Shot mix, attack types and winners for either player, from every labelled shot.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Heat zones that blink.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Favourite landing targets and hitting positions.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EF1F2"/>
                </a:solidFill>
              </a:rPr>
              <a:t>Habits under pressure.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Facing a lift, the opponent smashes 38% of the time.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Self-evolving coaches: they read, reflect and improve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NIGHT, ON THE STATION</a:t>
            </a:r>
            <a:endParaRPr lang="en-US" sz="1100" dirty="0"/>
          </a:p>
        </p:txBody>
      </p:sp>
      <p:sp>
        <p:nvSpPr>
          <p:cNvPr id="15" name="loop Research agent"/>
          <p:cNvSpPr/>
          <p:nvPr/>
        </p:nvSpPr>
        <p:spPr>
          <a:xfrm>
            <a:off x="548640" y="1719072"/>
            <a:ext cx="1261872" cy="1847088"/>
          </a:xfrm>
          <a:prstGeom prst="roundRect">
            <a:avLst>
              <a:gd name="adj" fmla="val 7246"/>
            </a:avLst>
          </a:prstGeom>
          <a:solidFill>
            <a:schemeClr val="accent6"/>
          </a:solidFill>
          <a:ln w="9525">
            <a:solidFill>
              <a:srgbClr val="6FB6FF"/>
            </a:solidFill>
            <a:prstDash val="solid"/>
          </a:ln>
        </p:spPr>
      </p:sp>
      <p:sp>
        <p:nvSpPr>
          <p:cNvPr id="16" name="loop step 1"/>
          <p:cNvSpPr/>
          <p:nvPr/>
        </p:nvSpPr>
        <p:spPr>
          <a:xfrm>
            <a:off x="658368" y="1828800"/>
            <a:ext cx="274320" cy="274320"/>
          </a:xfrm>
          <a:prstGeom prst="ellipse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Research agent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450592"/>
            <a:ext cx="1060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Turns the player's weak points into paper searches; keeps a finding only if its numbers are in the abstract.</a:t>
            </a:r>
            <a:endParaRPr lang="en-US" sz="850" dirty="0"/>
          </a:p>
        </p:txBody>
      </p:sp>
      <p:sp>
        <p:nvSpPr>
          <p:cNvPr id="20" name="loop arrow 0"/>
          <p:cNvSpPr/>
          <p:nvPr/>
        </p:nvSpPr>
        <p:spPr>
          <a:xfrm>
            <a:off x="1828800" y="2651760"/>
            <a:ext cx="146304" cy="0"/>
          </a:xfrm>
          <a:prstGeom prst="line">
            <a:avLst/>
          </a:prstGeom>
          <a:noFill/>
          <a:ln w="19050">
            <a:solidFill>
              <a:srgbClr val="8E989D"/>
            </a:solidFill>
            <a:prstDash val="solid"/>
            <a:tailEnd type="triangle"/>
          </a:ln>
        </p:spPr>
      </p:sp>
      <p:sp>
        <p:nvSpPr>
          <p:cNvPr id="21" name="loop Knowledge base"/>
          <p:cNvSpPr/>
          <p:nvPr/>
        </p:nvSpPr>
        <p:spPr>
          <a:xfrm>
            <a:off x="1993392" y="1719072"/>
            <a:ext cx="1261872" cy="1847088"/>
          </a:xfrm>
          <a:prstGeom prst="roundRect">
            <a:avLst>
              <a:gd name="adj" fmla="val 7246"/>
            </a:avLst>
          </a:prstGeom>
          <a:solidFill>
            <a:schemeClr val="accent6"/>
          </a:solidFill>
          <a:ln w="9525">
            <a:solidFill>
              <a:srgbClr val="5FD39A"/>
            </a:solidFill>
            <a:prstDash val="solid"/>
          </a:ln>
        </p:spPr>
      </p:sp>
      <p:sp>
        <p:nvSpPr>
          <p:cNvPr id="22" name="loop step 2"/>
          <p:cNvSpPr/>
          <p:nvPr/>
        </p:nvSpPr>
        <p:spPr>
          <a:xfrm>
            <a:off x="2103120" y="1828800"/>
            <a:ext cx="274320" cy="274320"/>
          </a:xfrm>
          <a:prstGeom prst="ellipse">
            <a:avLst/>
          </a:prstGeom>
          <a:solidFill>
            <a:srgbClr val="5FD39A"/>
          </a:solidFill>
          <a:ln w="12700">
            <a:solidFill>
              <a:srgbClr val="5FD3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Knowledge base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2450592"/>
            <a:ext cx="1060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Findings embedded on the station (RAG); each coach cites the closest studies as [E#].</a:t>
            </a:r>
            <a:endParaRPr lang="en-US" sz="850" dirty="0"/>
          </a:p>
        </p:txBody>
      </p:sp>
      <p:sp>
        <p:nvSpPr>
          <p:cNvPr id="26" name="loop arrow 1"/>
          <p:cNvSpPr/>
          <p:nvPr/>
        </p:nvSpPr>
        <p:spPr>
          <a:xfrm>
            <a:off x="3273552" y="2651760"/>
            <a:ext cx="146304" cy="0"/>
          </a:xfrm>
          <a:prstGeom prst="line">
            <a:avLst/>
          </a:prstGeom>
          <a:noFill/>
          <a:ln w="19050">
            <a:solidFill>
              <a:srgbClr val="8E989D"/>
            </a:solidFill>
            <a:prstDash val="solid"/>
            <a:tailEnd type="triangle"/>
          </a:ln>
        </p:spPr>
      </p:sp>
      <p:sp>
        <p:nvSpPr>
          <p:cNvPr id="27" name="loop Grounded reply"/>
          <p:cNvSpPr/>
          <p:nvPr/>
        </p:nvSpPr>
        <p:spPr>
          <a:xfrm>
            <a:off x="3438144" y="1719072"/>
            <a:ext cx="1261872" cy="1847088"/>
          </a:xfrm>
          <a:prstGeom prst="roundRect">
            <a:avLst>
              <a:gd name="adj" fmla="val 7246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28" name="loop step 3"/>
          <p:cNvSpPr/>
          <p:nvPr/>
        </p:nvSpPr>
        <p:spPr>
          <a:xfrm>
            <a:off x="3547872" y="1828800"/>
            <a:ext cx="274320" cy="274320"/>
          </a:xfrm>
          <a:prstGeom prst="ellipse">
            <a:avLst/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47872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Grounded reply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547872" y="2450592"/>
            <a:ext cx="1060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Match numbers only from facts [F#], study numbers only from [E#]; the verifier checks each one.</a:t>
            </a:r>
            <a:endParaRPr lang="en-US" sz="850" dirty="0"/>
          </a:p>
        </p:txBody>
      </p:sp>
      <p:sp>
        <p:nvSpPr>
          <p:cNvPr id="32" name="loop arrow 2"/>
          <p:cNvSpPr/>
          <p:nvPr/>
        </p:nvSpPr>
        <p:spPr>
          <a:xfrm>
            <a:off x="4718304" y="2651760"/>
            <a:ext cx="146304" cy="0"/>
          </a:xfrm>
          <a:prstGeom prst="line">
            <a:avLst/>
          </a:prstGeom>
          <a:noFill/>
          <a:ln w="19050">
            <a:solidFill>
              <a:srgbClr val="8E989D"/>
            </a:solidFill>
            <a:prstDash val="solid"/>
            <a:tailEnd type="triangle"/>
          </a:ln>
        </p:spPr>
      </p:sp>
      <p:sp>
        <p:nvSpPr>
          <p:cNvPr id="33" name="loop Feedback"/>
          <p:cNvSpPr/>
          <p:nvPr/>
        </p:nvSpPr>
        <p:spPr>
          <a:xfrm>
            <a:off x="4882896" y="1719072"/>
            <a:ext cx="1261872" cy="1847088"/>
          </a:xfrm>
          <a:prstGeom prst="roundRect">
            <a:avLst>
              <a:gd name="adj" fmla="val 7246"/>
            </a:avLst>
          </a:prstGeom>
          <a:solidFill>
            <a:schemeClr val="accent6"/>
          </a:solidFill>
          <a:ln w="9525">
            <a:solidFill>
              <a:srgbClr val="FF8A6B"/>
            </a:solidFill>
            <a:prstDash val="solid"/>
          </a:ln>
        </p:spPr>
      </p:sp>
      <p:sp>
        <p:nvSpPr>
          <p:cNvPr id="34" name="loop step 4"/>
          <p:cNvSpPr/>
          <p:nvPr/>
        </p:nvSpPr>
        <p:spPr>
          <a:xfrm>
            <a:off x="4992624" y="1828800"/>
            <a:ext cx="274320" cy="274320"/>
          </a:xfrm>
          <a:prstGeom prst="ellipse">
            <a:avLst/>
          </a:prstGeom>
          <a:solidFill>
            <a:srgbClr val="FF8A6B"/>
          </a:solidFill>
          <a:ln w="12700">
            <a:solidFill>
              <a:srgbClr val="FF8A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92624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992624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Feedback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992624" y="2450592"/>
            <a:ext cx="1060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Helpful / not helpful from players, plus every draft the verifier rejected.</a:t>
            </a:r>
            <a:endParaRPr lang="en-US" sz="850" dirty="0"/>
          </a:p>
        </p:txBody>
      </p:sp>
      <p:sp>
        <p:nvSpPr>
          <p:cNvPr id="38" name="loop arrow 3"/>
          <p:cNvSpPr/>
          <p:nvPr/>
        </p:nvSpPr>
        <p:spPr>
          <a:xfrm>
            <a:off x="6163056" y="2651760"/>
            <a:ext cx="146304" cy="0"/>
          </a:xfrm>
          <a:prstGeom prst="line">
            <a:avLst/>
          </a:prstGeom>
          <a:noFill/>
          <a:ln w="19050">
            <a:solidFill>
              <a:srgbClr val="8E989D"/>
            </a:solidFill>
            <a:prstDash val="solid"/>
            <a:tailEnd type="triangle"/>
          </a:ln>
        </p:spPr>
      </p:sp>
      <p:sp>
        <p:nvSpPr>
          <p:cNvPr id="39" name="loop Reflection"/>
          <p:cNvSpPr/>
          <p:nvPr/>
        </p:nvSpPr>
        <p:spPr>
          <a:xfrm>
            <a:off x="6327648" y="1719072"/>
            <a:ext cx="1261872" cy="1847088"/>
          </a:xfrm>
          <a:prstGeom prst="roundRect">
            <a:avLst>
              <a:gd name="adj" fmla="val 7246"/>
            </a:avLst>
          </a:prstGeom>
          <a:solidFill>
            <a:schemeClr val="accent6"/>
          </a:solidFill>
          <a:ln w="9525">
            <a:solidFill>
              <a:srgbClr val="F2D46B"/>
            </a:solidFill>
            <a:prstDash val="solid"/>
          </a:ln>
        </p:spPr>
      </p:sp>
      <p:sp>
        <p:nvSpPr>
          <p:cNvPr id="40" name="loop step 5"/>
          <p:cNvSpPr/>
          <p:nvPr/>
        </p:nvSpPr>
        <p:spPr>
          <a:xfrm>
            <a:off x="6437376" y="1828800"/>
            <a:ext cx="274320" cy="274320"/>
          </a:xfrm>
          <a:prstGeom prst="ellipse">
            <a:avLst/>
          </a:prstGeom>
          <a:solidFill>
            <a:srgbClr val="F2D46B"/>
          </a:solidFill>
          <a:ln w="12700">
            <a:solidFill>
              <a:srgbClr val="F2D46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37376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37376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Reflection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37376" y="2450592"/>
            <a:ext cx="1060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Each coach proposes at most two changes to its own playbook of rules.</a:t>
            </a:r>
            <a:endParaRPr lang="en-US" sz="850" dirty="0"/>
          </a:p>
        </p:txBody>
      </p:sp>
      <p:sp>
        <p:nvSpPr>
          <p:cNvPr id="44" name="return down"/>
          <p:cNvSpPr/>
          <p:nvPr/>
        </p:nvSpPr>
        <p:spPr>
          <a:xfrm>
            <a:off x="6958584" y="3566160"/>
            <a:ext cx="0" cy="256032"/>
          </a:xfrm>
          <a:prstGeom prst="line">
            <a:avLst/>
          </a:prstGeom>
          <a:noFill/>
          <a:ln w="19050">
            <a:solidFill>
              <a:srgbClr val="F2E6C9"/>
            </a:solidFill>
            <a:prstDash val="solid"/>
          </a:ln>
        </p:spPr>
      </p:sp>
      <p:sp>
        <p:nvSpPr>
          <p:cNvPr id="45" name="return across"/>
          <p:cNvSpPr/>
          <p:nvPr/>
        </p:nvSpPr>
        <p:spPr>
          <a:xfrm>
            <a:off x="4069080" y="3822192"/>
            <a:ext cx="2889504" cy="0"/>
          </a:xfrm>
          <a:prstGeom prst="line">
            <a:avLst/>
          </a:prstGeom>
          <a:noFill/>
          <a:ln w="19050">
            <a:solidFill>
              <a:srgbClr val="F2E6C9"/>
            </a:solidFill>
            <a:prstDash val="solid"/>
          </a:ln>
        </p:spPr>
      </p:sp>
      <p:sp>
        <p:nvSpPr>
          <p:cNvPr id="46" name="return up"/>
          <p:cNvSpPr/>
          <p:nvPr/>
        </p:nvSpPr>
        <p:spPr>
          <a:xfrm>
            <a:off x="4069080" y="3566160"/>
            <a:ext cx="0" cy="256032"/>
          </a:xfrm>
          <a:prstGeom prst="line">
            <a:avLst/>
          </a:prstGeom>
          <a:noFill/>
          <a:ln w="19050">
            <a:solidFill>
              <a:srgbClr val="F2E6C9"/>
            </a:solidFill>
            <a:prstDash val="solid"/>
            <a:headEnd type="triangle"/>
          </a:ln>
        </p:spPr>
      </p:sp>
      <p:sp>
        <p:nvSpPr>
          <p:cNvPr id="47" name="Text 45"/>
          <p:cNvSpPr txBox="1"/>
          <p:nvPr/>
        </p:nvSpPr>
        <p:spPr>
          <a:xfrm>
            <a:off x="4160520" y="3858768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playbook v+1, used from the next reply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GATES, LIKE A HEAD COACH SIGNING OFF</a:t>
            </a:r>
            <a:endParaRPr lang="en-US" sz="1100" dirty="0"/>
          </a:p>
        </p:txBody>
      </p:sp>
      <p:pic>
        <p:nvPicPr>
          <p:cNvPr id="49" name="gate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26864"/>
            <a:ext cx="182880" cy="182880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841248" y="4572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Cites a study, in the coach's own area</a:t>
            </a:r>
            <a:endParaRPr lang="en-US" sz="1050" dirty="0"/>
          </a:p>
        </p:txBody>
      </p:sp>
      <p:pic>
        <p:nvPicPr>
          <p:cNvPr id="51" name="gat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10912"/>
            <a:ext cx="182880" cy="182880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841248" y="49560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Passes the safety check; locked rules stay</a:t>
            </a:r>
            <a:endParaRPr lang="en-US" sz="1050" dirty="0"/>
          </a:p>
        </p:txBody>
      </p:sp>
      <p:pic>
        <p:nvPicPr>
          <p:cNvPr id="53" name="gat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94960"/>
            <a:ext cx="182880" cy="182880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841248" y="53400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No regression on its test questions</a:t>
            </a:r>
            <a:endParaRPr lang="en-US" sz="1050" dirty="0"/>
          </a:p>
        </p:txBody>
      </p:sp>
      <p:pic>
        <p:nvPicPr>
          <p:cNvPr id="55" name="gate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79008"/>
            <a:ext cx="182880" cy="182880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41248" y="57241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Health changes need a human coach; any version rolls back</a:t>
            </a:r>
            <a:endParaRPr lang="en-US" sz="1050" dirty="0"/>
          </a:p>
        </p:txBody>
      </p:sp>
      <p:sp>
        <p:nvSpPr>
          <p:cNvPr id="57" name="first run"/>
          <p:cNvSpPr/>
          <p:nvPr/>
        </p:nvSpPr>
        <p:spPr>
          <a:xfrm>
            <a:off x="4709160" y="4251960"/>
            <a:ext cx="2880360" cy="2057400"/>
          </a:xfrm>
          <a:prstGeom prst="roundRect">
            <a:avLst>
              <a:gd name="adj" fmla="val 4444"/>
            </a:avLst>
          </a:prstGeom>
          <a:solidFill>
            <a:schemeClr val="accent6"/>
          </a:solidFill>
          <a:ln w="9525">
            <a:solidFill>
              <a:srgbClr val="F2D46B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4892040" y="4389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D46B"/>
                </a:solidFill>
              </a:rPr>
              <a:t>First reflection run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A coach proposed lunges for knee pain, citing a real study. The gates held it for a human coach instead of adopting it.</a:t>
            </a:r>
            <a:endParaRPr lang="en-US" sz="1050" dirty="0"/>
          </a:p>
        </p:txBody>
      </p:sp>
      <p:sp>
        <p:nvSpPr>
          <p:cNvPr id="59" name="Text 53"/>
          <p:cNvSpPr txBox="1"/>
          <p:nvPr/>
        </p:nvSpPr>
        <p:spPr>
          <a:xfrm>
            <a:off x="4892040" y="55595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43</a:t>
            </a:r>
            <a:endParaRPr lang="en-US" sz="2000" dirty="0"/>
          </a:p>
        </p:txBody>
      </p:sp>
      <p:sp>
        <p:nvSpPr>
          <p:cNvPr id="60" name="Text 54"/>
          <p:cNvSpPr txBox="1"/>
          <p:nvPr/>
        </p:nvSpPr>
        <p:spPr>
          <a:xfrm>
            <a:off x="4892040" y="59253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findings from 16 papers</a:t>
            </a:r>
            <a:endParaRPr lang="en-US" sz="850" dirty="0"/>
          </a:p>
        </p:txBody>
      </p:sp>
      <p:sp>
        <p:nvSpPr>
          <p:cNvPr id="61" name="Text 55"/>
          <p:cNvSpPr txBox="1"/>
          <p:nvPr/>
        </p:nvSpPr>
        <p:spPr>
          <a:xfrm>
            <a:off x="6217920" y="55595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 s</a:t>
            </a:r>
            <a:endParaRPr lang="en-US" sz="2000" dirty="0"/>
          </a:p>
        </p:txBody>
      </p:sp>
      <p:sp>
        <p:nvSpPr>
          <p:cNvPr id="62" name="Text 56"/>
          <p:cNvSpPr txBox="1"/>
          <p:nvPr/>
        </p:nvSpPr>
        <p:spPr>
          <a:xfrm>
            <a:off x="6217920" y="59253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median reply, local 4B</a:t>
            </a:r>
            <a:endParaRPr lang="en-US" sz="850" dirty="0"/>
          </a:p>
        </p:txBody>
      </p:sp>
      <p:sp>
        <p:nvSpPr>
          <p:cNvPr id="63" name="extension divider"/>
          <p:cNvSpPr/>
          <p:nvPr/>
        </p:nvSpPr>
        <p:spPr>
          <a:xfrm>
            <a:off x="7818120" y="1417320"/>
            <a:ext cx="0" cy="4892040"/>
          </a:xfrm>
          <a:prstGeom prst="line">
            <a:avLst/>
          </a:prstGeom>
          <a:noFill/>
          <a:ln w="12700">
            <a:solidFill>
              <a:srgbClr val="111A20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80467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 · 24-HOUR COACH</a:t>
            </a:r>
            <a:endParaRPr lang="en-US" sz="1100" dirty="0"/>
          </a:p>
        </p:txBody>
      </p:sp>
      <p:sp>
        <p:nvSpPr>
          <p:cNvPr id="65" name="phone body"/>
          <p:cNvSpPr/>
          <p:nvPr/>
        </p:nvSpPr>
        <p:spPr>
          <a:xfrm>
            <a:off x="8046720" y="1719072"/>
            <a:ext cx="2331720" cy="4224528"/>
          </a:xfrm>
          <a:prstGeom prst="roundRect">
            <a:avLst>
              <a:gd name="adj" fmla="val 8627"/>
            </a:avLst>
          </a:prstGeom>
          <a:solidFill>
            <a:srgbClr val="1A2228"/>
          </a:solidFill>
          <a:ln w="19050">
            <a:solidFill>
              <a:srgbClr val="4A555C"/>
            </a:solidFill>
            <a:prstDash val="solid"/>
          </a:ln>
        </p:spPr>
      </p:sp>
      <p:sp>
        <p:nvSpPr>
          <p:cNvPr id="66" name="chat screen"/>
          <p:cNvSpPr/>
          <p:nvPr/>
        </p:nvSpPr>
        <p:spPr>
          <a:xfrm>
            <a:off x="8138160" y="1828800"/>
            <a:ext cx="2148840" cy="4005072"/>
          </a:xfrm>
          <a:prstGeom prst="rect">
            <a:avLst/>
          </a:prstGeom>
          <a:solidFill>
            <a:srgbClr val="0E1621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67" name="chat header"/>
          <p:cNvSpPr/>
          <p:nvPr/>
        </p:nvSpPr>
        <p:spPr>
          <a:xfrm>
            <a:off x="8138160" y="1828800"/>
            <a:ext cx="2148840" cy="29260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pic>
        <p:nvPicPr>
          <p:cNvPr id="68" name="telegram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1883664"/>
            <a:ext cx="182880" cy="182880"/>
          </a:xfrm>
          <a:prstGeom prst="rect">
            <a:avLst/>
          </a:prstGeom>
        </p:spPr>
      </p:pic>
      <p:sp>
        <p:nvSpPr>
          <p:cNvPr id="69" name="Text 62"/>
          <p:cNvSpPr txBox="1"/>
          <p:nvPr/>
        </p:nvSpPr>
        <p:spPr>
          <a:xfrm>
            <a:off x="8430768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2"/>
                </a:solidFill>
              </a:rPr>
              <a:t>ShuttleCoach staff </a:t>
            </a:r>
            <a:pPr indent="0" marL="0">
              <a:buNone/>
            </a:pPr>
            <a:r>
              <a:rPr lang="en-US" sz="850" dirty="0">
                <a:solidFill>
                  <a:srgbClr val="8E989D"/>
                </a:solidFill>
              </a:rPr>
              <a:t>bot</a:t>
            </a:r>
            <a:endParaRPr lang="en-US" sz="850" dirty="0"/>
          </a:p>
        </p:txBody>
      </p:sp>
      <p:sp>
        <p:nvSpPr>
          <p:cNvPr id="70" name="chat bubble"/>
          <p:cNvSpPr/>
          <p:nvPr/>
        </p:nvSpPr>
        <p:spPr>
          <a:xfrm>
            <a:off x="8577072" y="2194560"/>
            <a:ext cx="1664208" cy="274320"/>
          </a:xfrm>
          <a:prstGeom prst="roundRect">
            <a:avLst>
              <a:gd name="adj" fmla="val 20000"/>
            </a:avLst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8631936" y="2212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I bought chicken breast and broccoli today</a:t>
            </a:r>
            <a:endParaRPr lang="en-US" sz="700" dirty="0"/>
          </a:p>
        </p:txBody>
      </p:sp>
      <p:sp>
        <p:nvSpPr>
          <p:cNvPr id="72" name="chat bubble"/>
          <p:cNvSpPr/>
          <p:nvPr/>
        </p:nvSpPr>
        <p:spPr>
          <a:xfrm>
            <a:off x="8193024" y="251460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8247888" y="2532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Added to your kitchen: chicken breast, broccoli. …</a:t>
            </a:r>
            <a:endParaRPr lang="en-US" sz="700" dirty="0"/>
          </a:p>
        </p:txBody>
      </p:sp>
      <p:sp>
        <p:nvSpPr>
          <p:cNvPr id="74" name="chat bubble"/>
          <p:cNvSpPr/>
          <p:nvPr/>
        </p:nvSpPr>
        <p:spPr>
          <a:xfrm>
            <a:off x="8577072" y="2834640"/>
            <a:ext cx="1664208" cy="274320"/>
          </a:xfrm>
          <a:prstGeom prst="roundRect">
            <a:avLst>
              <a:gd name="adj" fmla="val 20000"/>
            </a:avLst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8631936" y="28529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I have club training on Wednesday from 19:00 to 21:00</a:t>
            </a:r>
            <a:endParaRPr lang="en-US" sz="700" dirty="0"/>
          </a:p>
        </p:txBody>
      </p:sp>
      <p:sp>
        <p:nvSpPr>
          <p:cNvPr id="76" name="chat bubble"/>
          <p:cNvSpPr/>
          <p:nvPr/>
        </p:nvSpPr>
        <p:spPr>
          <a:xfrm>
            <a:off x="8193024" y="3154680"/>
            <a:ext cx="1938528" cy="393192"/>
          </a:xfrm>
          <a:prstGeom prst="roundRect">
            <a:avLst>
              <a:gd name="adj" fmla="val 13953"/>
            </a:avLst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8247888" y="3172968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In your calendar: Wed 2026-10-28 19:00-21:00 club training (training). I'll message you an hour before, with what to eat.</a:t>
            </a:r>
            <a:endParaRPr lang="en-US" sz="700" dirty="0"/>
          </a:p>
        </p:txBody>
      </p:sp>
      <p:sp>
        <p:nvSpPr>
          <p:cNvPr id="78" name="chat bubble"/>
          <p:cNvSpPr/>
          <p:nvPr/>
        </p:nvSpPr>
        <p:spPr>
          <a:xfrm>
            <a:off x="8577072" y="3593592"/>
            <a:ext cx="1664208" cy="201168"/>
          </a:xfrm>
          <a:prstGeom prst="roundRect">
            <a:avLst>
              <a:gd name="adj" fmla="val 27273"/>
            </a:avLst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8631936" y="36118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/meal</a:t>
            </a:r>
            <a:endParaRPr lang="en-US" sz="700" dirty="0"/>
          </a:p>
        </p:txBody>
      </p:sp>
      <p:sp>
        <p:nvSpPr>
          <p:cNvPr id="80" name="chat bubble"/>
          <p:cNvSpPr/>
          <p:nvPr/>
        </p:nvSpPr>
        <p:spPr>
          <a:xfrm>
            <a:off x="8193024" y="3840480"/>
            <a:ext cx="1938528" cy="512064"/>
          </a:xfrm>
          <a:prstGeom prst="roundRect">
            <a:avLst>
              <a:gd name="adj" fmla="val 10714"/>
            </a:avLst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8247888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2D46B"/>
                </a:solidFill>
              </a:rPr>
              <a:t>Coach Mei: </a:t>
            </a:r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Eat a meal of rice (1 cup) and stir-fried broccoli with tofu (1 fist) about 2 hours before your next session. …</a:t>
            </a:r>
            <a:endParaRPr lang="en-US" sz="700" dirty="0"/>
          </a:p>
        </p:txBody>
      </p:sp>
      <p:sp>
        <p:nvSpPr>
          <p:cNvPr id="82" name="chat bubble"/>
          <p:cNvSpPr/>
          <p:nvPr/>
        </p:nvSpPr>
        <p:spPr>
          <a:xfrm>
            <a:off x="8577072" y="4398264"/>
            <a:ext cx="1664208" cy="274320"/>
          </a:xfrm>
          <a:prstGeom prst="roundRect">
            <a:avLst>
              <a:gd name="adj" fmla="val 20000"/>
            </a:avLst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8631936" y="4416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Did 45 minutes of footwork and net drills today, knee felt fine</a:t>
            </a:r>
            <a:endParaRPr lang="en-US" sz="700" dirty="0"/>
          </a:p>
        </p:txBody>
      </p:sp>
      <p:sp>
        <p:nvSpPr>
          <p:cNvPr id="84" name="chat bubble"/>
          <p:cNvSpPr/>
          <p:nvPr/>
        </p:nvSpPr>
        <p:spPr>
          <a:xfrm>
            <a:off x="8193024" y="4718304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8247888" y="4736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Logged for 2026-10-26: footwork and net drills, 45 min.</a:t>
            </a:r>
            <a:endParaRPr lang="en-US" sz="700" dirty="0"/>
          </a:p>
        </p:txBody>
      </p:sp>
      <p:sp>
        <p:nvSpPr>
          <p:cNvPr id="86" name="chat bubble"/>
          <p:cNvSpPr/>
          <p:nvPr/>
        </p:nvSpPr>
        <p:spPr>
          <a:xfrm>
            <a:off x="8193024" y="5038344"/>
            <a:ext cx="1938528" cy="393192"/>
          </a:xfrm>
          <a:prstGeom prst="roundRect">
            <a:avLst>
              <a:gd name="adj" fmla="val 13953"/>
            </a:avLst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87" name="Text 80"/>
          <p:cNvSpPr txBox="1"/>
          <p:nvPr/>
        </p:nvSpPr>
        <p:spPr>
          <a:xfrm>
            <a:off x="8247888" y="505663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chemeClr val="accent5"/>
                </a:solidFill>
              </a:rPr>
              <a:t>How did today's session go? Tell me what you did, roughly how long, and any pain.</a:t>
            </a:r>
            <a:endParaRPr lang="en-US" sz="700" dirty="0"/>
          </a:p>
        </p:txBody>
      </p:sp>
      <p:sp>
        <p:nvSpPr>
          <p:cNvPr id="88" name="message box"/>
          <p:cNvSpPr/>
          <p:nvPr/>
        </p:nvSpPr>
        <p:spPr>
          <a:xfrm>
            <a:off x="8193024" y="5559552"/>
            <a:ext cx="2029968" cy="219456"/>
          </a:xfrm>
          <a:prstGeom prst="roundRect">
            <a:avLst>
              <a:gd name="adj" fmla="val 41667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8302752" y="5559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5"/>
                </a:solidFill>
              </a:rPr>
              <a:t>Message</a:t>
            </a:r>
            <a:endParaRPr lang="en-US" sz="700" dirty="0"/>
          </a:p>
        </p:txBody>
      </p:sp>
      <p:sp>
        <p:nvSpPr>
          <p:cNvPr id="90" name="Text 83"/>
          <p:cNvSpPr txBox="1"/>
          <p:nvPr/>
        </p:nvSpPr>
        <p:spPr>
          <a:xfrm>
            <a:off x="8046720" y="5989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Bot output from its end-to-end test</a:t>
            </a:r>
            <a:endParaRPr lang="en-US" sz="850" dirty="0"/>
          </a:p>
        </p:txBody>
      </p:sp>
      <p:sp>
        <p:nvSpPr>
          <p:cNvPr id="91" name="Text 84"/>
          <p:cNvSpPr txBox="1"/>
          <p:nvPr/>
        </p:nvSpPr>
        <p:spPr>
          <a:xfrm>
            <a:off x="10515600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Food at home</a:t>
            </a:r>
            <a:endParaRPr lang="en-US" sz="1100" dirty="0"/>
          </a:p>
        </p:txBody>
      </p:sp>
      <p:sp>
        <p:nvSpPr>
          <p:cNvPr id="92" name="Text 85"/>
          <p:cNvSpPr txBox="1"/>
          <p:nvPr/>
        </p:nvSpPr>
        <p:spPr>
          <a:xfrm>
            <a:off x="10515600" y="210312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meals timed to training</a:t>
            </a:r>
            <a:endParaRPr lang="en-US" sz="900" dirty="0"/>
          </a:p>
        </p:txBody>
      </p:sp>
      <p:sp>
        <p:nvSpPr>
          <p:cNvPr id="93" name="Text 86"/>
          <p:cNvSpPr txBox="1"/>
          <p:nvPr/>
        </p:nvSpPr>
        <p:spPr>
          <a:xfrm>
            <a:off x="10515600" y="2852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Schedule</a:t>
            </a:r>
            <a:endParaRPr lang="en-US" sz="1100" dirty="0"/>
          </a:p>
        </p:txBody>
      </p:sp>
      <p:sp>
        <p:nvSpPr>
          <p:cNvPr id="94" name="Text 87"/>
          <p:cNvSpPr txBox="1"/>
          <p:nvPr/>
        </p:nvSpPr>
        <p:spPr>
          <a:xfrm>
            <a:off x="10515600" y="312724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reminder 1 h before; plans around exams</a:t>
            </a:r>
            <a:endParaRPr lang="en-US" sz="900" dirty="0"/>
          </a:p>
        </p:txBody>
      </p:sp>
      <p:sp>
        <p:nvSpPr>
          <p:cNvPr id="95" name="Text 88"/>
          <p:cNvSpPr txBox="1"/>
          <p:nvPr/>
        </p:nvSpPr>
        <p:spPr>
          <a:xfrm>
            <a:off x="10515600" y="3877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Training log</a:t>
            </a:r>
            <a:endParaRPr lang="en-US" sz="1100" dirty="0"/>
          </a:p>
        </p:txBody>
      </p:sp>
      <p:sp>
        <p:nvSpPr>
          <p:cNvPr id="96" name="Text 89"/>
          <p:cNvSpPr txBox="1"/>
          <p:nvPr/>
        </p:nvSpPr>
        <p:spPr>
          <a:xfrm>
            <a:off x="10515600" y="4151376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evening check-in; weekly totals</a:t>
            </a:r>
            <a:endParaRPr lang="en-US" sz="900" dirty="0"/>
          </a:p>
        </p:txBody>
      </p:sp>
      <p:sp>
        <p:nvSpPr>
          <p:cNvPr id="97" name="Text 90"/>
          <p:cNvSpPr txBox="1"/>
          <p:nvPr/>
        </p:nvSpPr>
        <p:spPr>
          <a:xfrm>
            <a:off x="10515600" y="49011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 / 21</a:t>
            </a:r>
            <a:endParaRPr lang="en-US" sz="1600" dirty="0"/>
          </a:p>
        </p:txBody>
      </p:sp>
      <p:sp>
        <p:nvSpPr>
          <p:cNvPr id="98" name="Text 91"/>
          <p:cNvSpPr txBox="1"/>
          <p:nvPr/>
        </p:nvSpPr>
        <p:spPr>
          <a:xfrm>
            <a:off x="10515600" y="523036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end-to-end checks passed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Auto highlights: picked, filmed and shared on the device</a:t>
            </a:r>
            <a:endParaRPr lang="en-US" sz="3000" dirty="0"/>
          </a:p>
        </p:txBody>
      </p:sp>
      <p:sp>
        <p:nvSpPr>
          <p:cNvPr id="14" name="phone body"/>
          <p:cNvSpPr/>
          <p:nvPr/>
        </p:nvSpPr>
        <p:spPr>
          <a:xfrm>
            <a:off x="438912" y="1243584"/>
            <a:ext cx="2596896" cy="4480560"/>
          </a:xfrm>
          <a:prstGeom prst="roundRect">
            <a:avLst>
              <a:gd name="adj" fmla="val 9859"/>
            </a:avLst>
          </a:prstGeom>
          <a:solidFill>
            <a:srgbClr val="1A2228"/>
          </a:solidFill>
          <a:ln w="25400">
            <a:solidFill>
              <a:srgbClr val="4A555C"/>
            </a:solidFill>
            <a:prstDash val="solid"/>
          </a:ln>
        </p:spPr>
      </p:sp>
      <p:sp>
        <p:nvSpPr>
          <p:cNvPr id="15" name="phone speaker"/>
          <p:cNvSpPr/>
          <p:nvPr/>
        </p:nvSpPr>
        <p:spPr>
          <a:xfrm>
            <a:off x="1417320" y="1289304"/>
            <a:ext cx="640080" cy="73152"/>
          </a:xfrm>
          <a:prstGeom prst="roundRect">
            <a:avLst>
              <a:gd name="adj" fmla="val 50000"/>
            </a:avLst>
          </a:prstGeom>
          <a:solidFill>
            <a:srgbClr val="04070A"/>
          </a:solidFill>
          <a:ln w="12700">
            <a:solidFill>
              <a:srgbClr val="04070A"/>
            </a:solidFill>
            <a:prstDash val="solid"/>
          </a:ln>
        </p:spPr>
      </p:sp>
      <p:pic>
        <p:nvPicPr>
          <p:cNvPr id="16" name="highlight reel clip" descr="clips/highligh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369713" cy="42062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38912" y="57790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9:16, ready for Reels · TikTok · Shorts</a:t>
            </a:r>
            <a:endParaRPr lang="en-US" sz="1000" dirty="0"/>
          </a:p>
        </p:txBody>
      </p:sp>
      <p:pic>
        <p:nvPicPr>
          <p:cNvPr id="18" name="camera step 1" descr="shots/hl_fo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371600"/>
            <a:ext cx="1481328" cy="26274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154680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 Follow-cam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154680" y="4343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tracks the shuttle between hitter and receiver</a:t>
            </a:r>
            <a:endParaRPr lang="en-US" sz="1000" dirty="0"/>
          </a:p>
        </p:txBody>
      </p:sp>
      <p:pic>
        <p:nvPicPr>
          <p:cNvPr id="21" name="camera step 2" descr="shots/hl_re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371600"/>
            <a:ext cx="1481328" cy="26274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18888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  Slow-mo push-in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18888" y="4343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speed ramps down, camera closes on the hitter, holds on contact</a:t>
            </a:r>
            <a:endParaRPr lang="en-US" sz="1000" dirty="0"/>
          </a:p>
        </p:txBody>
      </p:sp>
      <p:pic>
        <p:nvPicPr>
          <p:cNvPr id="24" name="camera step 3" descr="shots/hl_freez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1371600"/>
            <a:ext cx="1481328" cy="26274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83096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 Winner freeze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83096" y="4343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stamp, score and the winning shot</a:t>
            </a:r>
            <a:endParaRPr lang="en-US" sz="1000" dirty="0"/>
          </a:p>
        </p:txBody>
      </p:sp>
      <p:pic>
        <p:nvPicPr>
          <p:cNvPr id="27" name="share panel" descr="shots/hl_d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5029200"/>
            <a:ext cx="4436405" cy="1325880"/>
          </a:xfrm>
          <a:prstGeom prst="rect">
            <a:avLst/>
          </a:prstGeom>
        </p:spPr>
      </p:pic>
      <p:sp>
        <p:nvSpPr>
          <p:cNvPr id="28" name="highlight notes"/>
          <p:cNvSpPr/>
          <p:nvPr/>
        </p:nvSpPr>
        <p:spPr>
          <a:xfrm>
            <a:off x="8275320" y="1371600"/>
            <a:ext cx="3337560" cy="4983480"/>
          </a:xfrm>
          <a:prstGeom prst="roundRect">
            <a:avLst>
              <a:gd name="adj" fmla="val 2740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503920" y="160020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EF1F2"/>
                </a:solidFill>
              </a:rPr>
              <a:t>Picked automatically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Outright winners, rally length, smash finishes and pressure points (18+) rank every rally; untick one and the next best fills in.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EF1F2"/>
                </a:solidFill>
              </a:rPr>
              <a:t>Ready to post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MP4 in 9:16 (Reels, TikTok, Shorts) or 16:9; one-tap Share, Download, and a written caption with hashtags.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5FD39A"/>
                </a:solidFill>
              </a:rPr>
              <a:t>Why it sells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Players post their best rallies with the club's name on them: free marketing for the venue, and a reason to keep the subscription.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Live and hands-free: a brief in every break, answers by voice</a:t>
            </a:r>
            <a:endParaRPr lang="en-US" sz="3000" dirty="0"/>
          </a:p>
        </p:txBody>
      </p:sp>
      <p:pic>
        <p:nvPicPr>
          <p:cNvPr id="14" name="live between-point brief" descr="shots/live_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3807468"/>
          </a:xfrm>
          <a:prstGeom prst="rect">
            <a:avLst/>
          </a:prstGeom>
        </p:spPr>
      </p:pic>
      <p:pic>
        <p:nvPicPr>
          <p:cNvPr id="15" name="voice coach panel" descr="shots/vo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023360" cy="3006932"/>
          </a:xfrm>
          <a:prstGeom prst="rect">
            <a:avLst/>
          </a:prstGeom>
        </p:spPr>
      </p:pic>
      <p:sp>
        <p:nvSpPr>
          <p:cNvPr id="16" name="privacy badge"/>
          <p:cNvSpPr/>
          <p:nvPr/>
        </p:nvSpPr>
        <p:spPr>
          <a:xfrm>
            <a:off x="7589520" y="4462272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D2A1D"/>
          </a:solidFill>
          <a:ln w="9525">
            <a:solidFill>
              <a:srgbClr val="5FD39A"/>
            </a:solidFill>
            <a:prstDash val="solid"/>
          </a:ln>
        </p:spPr>
      </p:sp>
      <p:pic>
        <p:nvPicPr>
          <p:cNvPr id="17" name="on-device shiel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4572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4507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D39A"/>
                </a:solidFill>
              </a:rPr>
              <a:t>Speech stays on this device.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Whisper runs locally in the browser: no audio and no court conversation is recorded or sent anywhere.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03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Between points (~20 s)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596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Last point, next serve, the opponent's hot zone and an error warning; longer briefs at 11 points and between games. Computed in under 1 ms.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297680" y="5303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Hands-free voice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4297680" y="5596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Tap Ask and speak: “What should I do next point?”. Whisper tiny runs in the browser, so no audio leaves the court.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5303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On the B70 in Stage II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5596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Pose and tracking live from the court camera; a 4B model turns each brief into one spoken sentence in under a second; Whisper on OpenVINO.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SOLUTION: TOOLS, TECHNOLOGIES AND METHODOLOGY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Analyst toolkit: court calibration, injury watch, position maps</a:t>
            </a:r>
            <a:endParaRPr lang="en-US" sz="3000" dirty="0"/>
          </a:p>
        </p:txBody>
      </p:sp>
      <p:pic>
        <p:nvPicPr>
          <p:cNvPr id="14" name="court calibration" descr="shots/cali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2807843"/>
          </a:xfrm>
          <a:prstGeom prst="rect">
            <a:avLst/>
          </a:prstGeom>
        </p:spPr>
      </p:pic>
      <p:pic>
        <p:nvPicPr>
          <p:cNvPr id="15" name="load and injury watch" descr="shots/risk_fe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2398690" cy="3429000"/>
          </a:xfrm>
          <a:prstGeom prst="rect">
            <a:avLst/>
          </a:prstGeom>
        </p:spPr>
      </p:pic>
      <p:sp>
        <p:nvSpPr>
          <p:cNvPr id="16" name="knee badge"/>
          <p:cNvSpPr/>
          <p:nvPr/>
        </p:nvSpPr>
        <p:spPr>
          <a:xfrm>
            <a:off x="5715000" y="4041648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4070A"/>
          </a:solidFill>
          <a:ln w="25400">
            <a:solidFill>
              <a:srgbClr val="F2D4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0"/>
              </a:srgbClr>
            </a:outerShdw>
          </a:effectLst>
        </p:spPr>
      </p:sp>
      <p:sp>
        <p:nvSpPr>
          <p:cNvPr id="17" name="knee badge dot"/>
          <p:cNvSpPr/>
          <p:nvPr/>
        </p:nvSpPr>
        <p:spPr>
          <a:xfrm>
            <a:off x="5852160" y="4206240"/>
            <a:ext cx="128016" cy="128016"/>
          </a:xfrm>
          <a:prstGeom prst="ellipse">
            <a:avLst/>
          </a:prstGeom>
          <a:solidFill>
            <a:srgbClr val="F2D46B"/>
          </a:solidFill>
          <a:ln w="12700">
            <a:solidFill>
              <a:srgbClr val="F2D46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053328" y="4041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Deep knee bend 108° on the sore right knee (over 90°)</a:t>
            </a:r>
            <a:endParaRPr lang="en-US" sz="1050" dirty="0"/>
          </a:p>
        </p:txBody>
      </p:sp>
      <p:pic>
        <p:nvPicPr>
          <p:cNvPr id="19" name="position heat map" descr="shots/positions_cou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371600"/>
            <a:ext cx="2468880" cy="27494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864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Court calibration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257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Corners found automatically from the court lines, draggable to correct; the court model is drawn back and a top-down view checks the fit.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29768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Load and injury watch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297680" y="5257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Lunges and sharp cuts per rally from positions; pose skeletons give knee bend at every hit: 5 of 6 deep bends on the sore right knee.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Maps, scouting, export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046720" y="5257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Where each player hits from (heat map or scatter); one-page scouting PDF; every shot as CSV or JSON.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HARDWARE AND SOFTWARE ARCHITECTURE, SYSTEM PLANNING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Deployment on ASUS UGen Intel Arc Pro B70</a:t>
            </a:r>
            <a:endParaRPr lang="en-US" sz="3000" dirty="0"/>
          </a:p>
        </p:txBody>
      </p:sp>
      <p:pic>
        <p:nvPicPr>
          <p:cNvPr id="14" name="hardware deployment animation" descr="clips/hardwar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280" y="1417320"/>
            <a:ext cx="869696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HARDWARE AND SOFTWARE ARCHITECTURE, SYSTEM PLANNING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One GPU, scheduled by phase: what runs when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TIME BY PHASE · BAR = SHARE OF THE CARD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166420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Rally (live)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1883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33 ms a frame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166420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Between points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1883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brief &lt; 3 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166420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After the match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1883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batch, minutes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66420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Coaching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1883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answers &lt; 10 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176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2D tracking + pose</a:t>
            </a:r>
            <a:endParaRPr lang="en-US" sz="1000" dirty="0"/>
          </a:p>
        </p:txBody>
      </p:sp>
      <p:sp>
        <p:nvSpPr>
          <p:cNvPr id="24" name="row rule 0"/>
          <p:cNvSpPr/>
          <p:nvPr/>
        </p:nvSpPr>
        <p:spPr>
          <a:xfrm>
            <a:off x="548640" y="250545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25" name="2D tracking + pose 0"/>
          <p:cNvSpPr/>
          <p:nvPr/>
        </p:nvSpPr>
        <p:spPr>
          <a:xfrm>
            <a:off x="2377440" y="2221992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6FB6FF">
              <a:alpha val="90000"/>
            </a:srgbClr>
          </a:solidFill>
          <a:ln w="6350">
            <a:solidFill>
              <a:srgbClr val="6FB6FF"/>
            </a:solidFill>
            <a:prstDash val="solid"/>
          </a:ln>
        </p:spPr>
      </p:sp>
      <p:sp>
        <p:nvSpPr>
          <p:cNvPr id="26" name="2D tracking + pose 1"/>
          <p:cNvSpPr/>
          <p:nvPr/>
        </p:nvSpPr>
        <p:spPr>
          <a:xfrm>
            <a:off x="3566160" y="2221992"/>
            <a:ext cx="260604" cy="201168"/>
          </a:xfrm>
          <a:prstGeom prst="roundRect">
            <a:avLst>
              <a:gd name="adj" fmla="val 18182"/>
            </a:avLst>
          </a:prstGeom>
          <a:solidFill>
            <a:srgbClr val="6FB6FF">
              <a:alpha val="39000"/>
            </a:srgbClr>
          </a:solidFill>
          <a:ln w="6350">
            <a:solidFill>
              <a:srgbClr val="6FB6FF"/>
            </a:solidFill>
            <a:prstDash val="solid"/>
          </a:ln>
        </p:spPr>
      </p:sp>
      <p:sp>
        <p:nvSpPr>
          <p:cNvPr id="27" name="2D tracking + pose 2"/>
          <p:cNvSpPr/>
          <p:nvPr/>
        </p:nvSpPr>
        <p:spPr>
          <a:xfrm>
            <a:off x="4754880" y="2221992"/>
            <a:ext cx="729691" cy="201168"/>
          </a:xfrm>
          <a:prstGeom prst="roundRect">
            <a:avLst>
              <a:gd name="adj" fmla="val 18182"/>
            </a:avLst>
          </a:prstGeom>
          <a:solidFill>
            <a:srgbClr val="6FB6FF">
              <a:alpha val="72000"/>
            </a:srgbClr>
          </a:solidFill>
          <a:ln w="6350">
            <a:solidFill>
              <a:srgbClr val="6FB6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3D reconstruction</a:t>
            </a:r>
            <a:endParaRPr lang="en-US" sz="1000" dirty="0"/>
          </a:p>
        </p:txBody>
      </p:sp>
      <p:sp>
        <p:nvSpPr>
          <p:cNvPr id="29" name="row rule 1"/>
          <p:cNvSpPr/>
          <p:nvPr/>
        </p:nvSpPr>
        <p:spPr>
          <a:xfrm>
            <a:off x="548640" y="287121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30" name="3D reconstruction 0"/>
          <p:cNvSpPr/>
          <p:nvPr/>
        </p:nvSpPr>
        <p:spPr>
          <a:xfrm>
            <a:off x="2377440" y="2587752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6FB6FF">
              <a:alpha val="90000"/>
            </a:srgbClr>
          </a:solidFill>
          <a:ln w="6350">
            <a:solidFill>
              <a:srgbClr val="6FB6FF"/>
            </a:solidFill>
            <a:prstDash val="solid"/>
          </a:ln>
        </p:spPr>
      </p:sp>
      <p:sp>
        <p:nvSpPr>
          <p:cNvPr id="31" name="3D reconstruction 1"/>
          <p:cNvSpPr/>
          <p:nvPr/>
        </p:nvSpPr>
        <p:spPr>
          <a:xfrm>
            <a:off x="3566160" y="2587752"/>
            <a:ext cx="260604" cy="201168"/>
          </a:xfrm>
          <a:prstGeom prst="roundRect">
            <a:avLst>
              <a:gd name="adj" fmla="val 18182"/>
            </a:avLst>
          </a:prstGeom>
          <a:solidFill>
            <a:srgbClr val="6FB6FF">
              <a:alpha val="39000"/>
            </a:srgbClr>
          </a:solidFill>
          <a:ln w="6350">
            <a:solidFill>
              <a:srgbClr val="6FB6FF"/>
            </a:solidFill>
            <a:prstDash val="solid"/>
          </a:ln>
        </p:spPr>
      </p:sp>
      <p:sp>
        <p:nvSpPr>
          <p:cNvPr id="32" name="3D reconstruction 2"/>
          <p:cNvSpPr/>
          <p:nvPr/>
        </p:nvSpPr>
        <p:spPr>
          <a:xfrm>
            <a:off x="4754880" y="2587752"/>
            <a:ext cx="729691" cy="201168"/>
          </a:xfrm>
          <a:prstGeom prst="roundRect">
            <a:avLst>
              <a:gd name="adj" fmla="val 18182"/>
            </a:avLst>
          </a:prstGeom>
          <a:solidFill>
            <a:srgbClr val="6FB6FF">
              <a:alpha val="72000"/>
            </a:srgbClr>
          </a:solidFill>
          <a:ln w="6350">
            <a:solidFill>
              <a:srgbClr val="6FB6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Intent detection</a:t>
            </a:r>
            <a:endParaRPr lang="en-US" sz="1000" dirty="0"/>
          </a:p>
        </p:txBody>
      </p:sp>
      <p:sp>
        <p:nvSpPr>
          <p:cNvPr id="34" name="row rule 2"/>
          <p:cNvSpPr/>
          <p:nvPr/>
        </p:nvSpPr>
        <p:spPr>
          <a:xfrm>
            <a:off x="548640" y="323697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35" name="Intent detection 0"/>
          <p:cNvSpPr/>
          <p:nvPr/>
        </p:nvSpPr>
        <p:spPr>
          <a:xfrm>
            <a:off x="2377440" y="2953512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6FB6FF">
              <a:alpha val="90000"/>
            </a:srgbClr>
          </a:solidFill>
          <a:ln w="6350">
            <a:solidFill>
              <a:srgbClr val="6FB6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4B assistant · voice</a:t>
            </a:r>
            <a:endParaRPr lang="en-US" sz="1000" dirty="0"/>
          </a:p>
        </p:txBody>
      </p:sp>
      <p:sp>
        <p:nvSpPr>
          <p:cNvPr id="37" name="row rule 3"/>
          <p:cNvSpPr/>
          <p:nvPr/>
        </p:nvSpPr>
        <p:spPr>
          <a:xfrm>
            <a:off x="548640" y="360273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38" name="4B assistant · voice 0"/>
          <p:cNvSpPr/>
          <p:nvPr/>
        </p:nvSpPr>
        <p:spPr>
          <a:xfrm>
            <a:off x="2377440" y="3319272"/>
            <a:ext cx="260604" cy="201168"/>
          </a:xfrm>
          <a:prstGeom prst="roundRect">
            <a:avLst>
              <a:gd name="adj" fmla="val 18182"/>
            </a:avLst>
          </a:prstGeom>
          <a:solidFill>
            <a:srgbClr val="5FD39A">
              <a:alpha val="36000"/>
            </a:srgbClr>
          </a:solidFill>
          <a:ln w="6350">
            <a:solidFill>
              <a:srgbClr val="5FD39A"/>
            </a:solidFill>
            <a:prstDash val="solid"/>
          </a:ln>
        </p:spPr>
      </p:sp>
      <p:sp>
        <p:nvSpPr>
          <p:cNvPr id="39" name="4B assistant · voice 1"/>
          <p:cNvSpPr/>
          <p:nvPr/>
        </p:nvSpPr>
        <p:spPr>
          <a:xfrm>
            <a:off x="3566160" y="3319272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5FD39A">
              <a:alpha val="90000"/>
            </a:srgbClr>
          </a:solidFill>
          <a:ln w="6350">
            <a:solidFill>
              <a:srgbClr val="5FD39A"/>
            </a:solidFill>
            <a:prstDash val="solid"/>
          </a:ln>
        </p:spPr>
      </p:sp>
      <p:sp>
        <p:nvSpPr>
          <p:cNvPr id="40" name="4B assistant · voice 3"/>
          <p:cNvSpPr/>
          <p:nvPr/>
        </p:nvSpPr>
        <p:spPr>
          <a:xfrm>
            <a:off x="5943600" y="3319272"/>
            <a:ext cx="312725" cy="201168"/>
          </a:xfrm>
          <a:prstGeom prst="roundRect">
            <a:avLst>
              <a:gd name="adj" fmla="val 18182"/>
            </a:avLst>
          </a:prstGeom>
          <a:solidFill>
            <a:srgbClr val="5FD39A">
              <a:alpha val="48000"/>
            </a:srgbClr>
          </a:solidFill>
          <a:ln w="6350">
            <a:solidFill>
              <a:srgbClr val="5FD39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3639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14B coach agents</a:t>
            </a:r>
            <a:endParaRPr lang="en-US" sz="1000" dirty="0"/>
          </a:p>
        </p:txBody>
      </p:sp>
      <p:sp>
        <p:nvSpPr>
          <p:cNvPr id="42" name="row rule 4"/>
          <p:cNvSpPr/>
          <p:nvPr/>
        </p:nvSpPr>
        <p:spPr>
          <a:xfrm>
            <a:off x="548640" y="396849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43" name="14B coach agents 3"/>
          <p:cNvSpPr/>
          <p:nvPr/>
        </p:nvSpPr>
        <p:spPr>
          <a:xfrm>
            <a:off x="5943600" y="3685032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F2E6C9">
              <a:alpha val="90000"/>
            </a:srgbClr>
          </a:solidFill>
          <a:ln w="6350">
            <a:solidFill>
              <a:srgbClr val="F2E6C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4005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Clip reviewer 7B</a:t>
            </a:r>
            <a:endParaRPr lang="en-US" sz="1000" dirty="0"/>
          </a:p>
        </p:txBody>
      </p:sp>
      <p:sp>
        <p:nvSpPr>
          <p:cNvPr id="45" name="row rule 5"/>
          <p:cNvSpPr/>
          <p:nvPr/>
        </p:nvSpPr>
        <p:spPr>
          <a:xfrm>
            <a:off x="548640" y="433425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46" name="Clip reviewer 7B 3"/>
          <p:cNvSpPr/>
          <p:nvPr/>
        </p:nvSpPr>
        <p:spPr>
          <a:xfrm>
            <a:off x="5943600" y="4050792"/>
            <a:ext cx="521208" cy="201168"/>
          </a:xfrm>
          <a:prstGeom prst="roundRect">
            <a:avLst>
              <a:gd name="adj" fmla="val 18182"/>
            </a:avLst>
          </a:prstGeom>
          <a:solidFill>
            <a:srgbClr val="FF8A6B">
              <a:alpha val="60000"/>
            </a:srgbClr>
          </a:solidFill>
          <a:ln w="6350">
            <a:solidFill>
              <a:srgbClr val="FF8A6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4370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Simulator</a:t>
            </a:r>
            <a:endParaRPr lang="en-US" sz="1000" dirty="0"/>
          </a:p>
        </p:txBody>
      </p:sp>
      <p:sp>
        <p:nvSpPr>
          <p:cNvPr id="48" name="row rule 6"/>
          <p:cNvSpPr/>
          <p:nvPr/>
        </p:nvSpPr>
        <p:spPr>
          <a:xfrm>
            <a:off x="548640" y="470001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49" name="Simulator 2"/>
          <p:cNvSpPr/>
          <p:nvPr/>
        </p:nvSpPr>
        <p:spPr>
          <a:xfrm>
            <a:off x="4754880" y="4416552"/>
            <a:ext cx="312725" cy="201168"/>
          </a:xfrm>
          <a:prstGeom prst="roundRect">
            <a:avLst>
              <a:gd name="adj" fmla="val 18182"/>
            </a:avLst>
          </a:prstGeom>
          <a:solidFill>
            <a:srgbClr val="F2D46B">
              <a:alpha val="48000"/>
            </a:srgbClr>
          </a:solidFill>
          <a:ln w="6350">
            <a:solidFill>
              <a:srgbClr val="F2D46B"/>
            </a:solidFill>
            <a:prstDash val="solid"/>
          </a:ln>
        </p:spPr>
      </p:sp>
      <p:sp>
        <p:nvSpPr>
          <p:cNvPr id="50" name="Simulator 3"/>
          <p:cNvSpPr/>
          <p:nvPr/>
        </p:nvSpPr>
        <p:spPr>
          <a:xfrm>
            <a:off x="5943600" y="4416552"/>
            <a:ext cx="729691" cy="201168"/>
          </a:xfrm>
          <a:prstGeom prst="roundRect">
            <a:avLst>
              <a:gd name="adj" fmla="val 18182"/>
            </a:avLst>
          </a:prstGeom>
          <a:solidFill>
            <a:srgbClr val="F2D46B">
              <a:alpha val="72000"/>
            </a:srgbClr>
          </a:solidFill>
          <a:ln w="6350">
            <a:solidFill>
              <a:srgbClr val="F2D46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4736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Highlight render</a:t>
            </a:r>
            <a:endParaRPr lang="en-US" sz="1000" dirty="0"/>
          </a:p>
        </p:txBody>
      </p:sp>
      <p:sp>
        <p:nvSpPr>
          <p:cNvPr id="52" name="row rule 7"/>
          <p:cNvSpPr/>
          <p:nvPr/>
        </p:nvSpPr>
        <p:spPr>
          <a:xfrm>
            <a:off x="548640" y="5065776"/>
            <a:ext cx="6537960" cy="0"/>
          </a:xfrm>
          <a:prstGeom prst="line">
            <a:avLst/>
          </a:prstGeom>
          <a:noFill/>
          <a:ln w="6350">
            <a:solidFill>
              <a:srgbClr val="111A20"/>
            </a:solidFill>
            <a:prstDash val="solid"/>
          </a:ln>
        </p:spPr>
      </p:sp>
      <p:sp>
        <p:nvSpPr>
          <p:cNvPr id="53" name="Highlight render 2"/>
          <p:cNvSpPr/>
          <p:nvPr/>
        </p:nvSpPr>
        <p:spPr>
          <a:xfrm>
            <a:off x="4754880" y="4782312"/>
            <a:ext cx="521208" cy="201168"/>
          </a:xfrm>
          <a:prstGeom prst="roundRect">
            <a:avLst>
              <a:gd name="adj" fmla="val 18182"/>
            </a:avLst>
          </a:prstGeom>
          <a:solidFill>
            <a:srgbClr val="C3CACD">
              <a:alpha val="60000"/>
            </a:srgbClr>
          </a:solidFill>
          <a:ln w="6350">
            <a:solidFill>
              <a:srgbClr val="C3CACD"/>
            </a:solidFill>
            <a:prstDash val="solid"/>
          </a:ln>
        </p:spPr>
      </p:sp>
      <p:graphicFrame>
        <p:nvGraphicFramePr>
          <p:cNvPr id="54" name="memory by phase" descr=""/>
          <p:cNvGraphicFramePr/>
          <p:nvPr/>
        </p:nvGraphicFramePr>
        <p:xfrm>
          <a:off x="7315200" y="1325880"/>
          <a:ext cx="4297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5" name="scheduler"/>
          <p:cNvSpPr/>
          <p:nvPr/>
        </p:nvSpPr>
        <p:spPr>
          <a:xfrm>
            <a:off x="548640" y="5138928"/>
            <a:ext cx="5394960" cy="11430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31520" y="5212080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E6C9"/>
                </a:solidFill>
              </a:rPr>
              <a:t>Dynamic scheduler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A priority queue on one card: live perception keeps its 33 ms deadline, the between-point brief preempts batch work, and post-match jobs fill idle time; nightly research and reflection run when the court is closed. The 14B coaches load only after the match: peak 29 of 32 GB.</a:t>
            </a:r>
            <a:endParaRPr lang="en-US" sz="1050" dirty="0"/>
          </a:p>
        </p:txBody>
      </p:sp>
      <p:sp>
        <p:nvSpPr>
          <p:cNvPr id="57" name="4B model"/>
          <p:cNvSpPr/>
          <p:nvPr/>
        </p:nvSpPr>
        <p:spPr>
          <a:xfrm>
            <a:off x="6126480" y="5138928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D2A1D"/>
          </a:solidFill>
          <a:ln w="9525">
            <a:solidFill>
              <a:srgbClr val="5FD39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09360" y="5212080"/>
            <a:ext cx="5166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D39A"/>
                </a:solidFill>
              </a:rPr>
              <a:t>4B model for the fast path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Qwen3-4B, Phi-4-mini or Gemma-3-4B on OpenVINO, INT4 ≈ 2.5 GB; at 608 GB/s the decode ceiling is about 240 tokens/s. Running today on our test GPU: Qwen3-4B (4-bit) answers the coach chat in 0.8 s median at about 160 tokens/s. B70 figures in Stage II.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EXPECTED BENEFITS AND OUTCOMES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Expected benefits and outcomes</a:t>
            </a:r>
            <a:endParaRPr lang="en-US" sz="3000" dirty="0"/>
          </a:p>
        </p:txBody>
      </p:sp>
      <p:sp>
        <p:nvSpPr>
          <p:cNvPr id="14" name="benefit 0"/>
          <p:cNvSpPr/>
          <p:nvPr/>
        </p:nvSpPr>
        <p:spPr>
          <a:xfrm>
            <a:off x="548640" y="1554480"/>
            <a:ext cx="265176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9525">
            <a:solidFill>
              <a:srgbClr val="111A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Players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Where points are won and lost, by zone and stroke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A weekly plan tied to their own footage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Measurable progress per session</a:t>
            </a:r>
            <a:endParaRPr lang="en-US" sz="1250" dirty="0"/>
          </a:p>
        </p:txBody>
      </p:sp>
      <p:sp>
        <p:nvSpPr>
          <p:cNvPr id="17" name="benefit 1"/>
          <p:cNvSpPr/>
          <p:nvPr/>
        </p:nvSpPr>
        <p:spPr>
          <a:xfrm>
            <a:off x="3355848" y="1554480"/>
            <a:ext cx="265176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9525">
            <a:solidFill>
              <a:srgbClr val="111A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84448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Coaches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Hours of video review cut to minutes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Advice backed by cited shots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Test tactics in simulation first</a:t>
            </a:r>
            <a:endParaRPr lang="en-US" sz="1250" dirty="0"/>
          </a:p>
        </p:txBody>
      </p:sp>
      <p:sp>
        <p:nvSpPr>
          <p:cNvPr id="20" name="benefit 2"/>
          <p:cNvSpPr/>
          <p:nvPr/>
        </p:nvSpPr>
        <p:spPr>
          <a:xfrm>
            <a:off x="6163056" y="1554480"/>
            <a:ext cx="265176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9525">
            <a:solidFill>
              <a:srgbClr val="111A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91656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Clubs and schools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Analytics on every court, minors' video stays local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One station, no per-upload fees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A differentiated coaching service</a:t>
            </a:r>
            <a:endParaRPr lang="en-US" sz="1250" dirty="0"/>
          </a:p>
        </p:txBody>
      </p:sp>
      <p:sp>
        <p:nvSpPr>
          <p:cNvPr id="23" name="benefit 3"/>
          <p:cNvSpPr/>
          <p:nvPr/>
        </p:nvSpPr>
        <p:spPr>
          <a:xfrm>
            <a:off x="8970264" y="1554480"/>
            <a:ext cx="2651760" cy="2606040"/>
          </a:xfrm>
          <a:prstGeom prst="roundRect">
            <a:avLst>
              <a:gd name="adj" fmla="val 3509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98864" y="1755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Other sports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Same pipeline: ball tracking, court calibration, 3D reconstruction, agents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Tennis, table tennis, pickleball, volleyball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New sport = new tracker + court model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II DELIVERABLES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Working system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074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Upload a match video on the B70 and get the full report, end to end, offline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355848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Open repository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355848" y="5074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Code, system architecture diagram, README, model information and performance data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63056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Performance report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5074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Speed, accuracy and latency measured on the B70; 3D error against reference data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70264" y="4709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Demo video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970264" y="5074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Real operation on the provided environment, 10 minutes, in English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EXPECTED BENEFITS AND OUTCOMES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Who pays, what it costs, and when it pays back</a:t>
            </a:r>
            <a:endParaRPr lang="en-US" sz="3000" dirty="0"/>
          </a:p>
        </p:txBody>
      </p:sp>
      <p:sp>
        <p:nvSpPr>
          <p:cNvPr id="14" name="model 0"/>
          <p:cNvSpPr/>
          <p:nvPr/>
        </p:nvSpPr>
        <p:spPr>
          <a:xfrm>
            <a:off x="548640" y="2084832"/>
            <a:ext cx="4069080" cy="1280160"/>
          </a:xfrm>
          <a:prstGeom prst="roundRect">
            <a:avLst>
              <a:gd name="adj" fmla="val 7143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pic>
        <p:nvPicPr>
          <p:cNvPr id="15" name="segment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88720" y="2212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B2B: club and venue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560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One Station shared by every member. 60 members on a NT$300/month “Pro analysis” add-on bring NT$18k a month against NT$7.5k a month of Station cost: hardware paid back in about 12 months, and a reason to join the club.</a:t>
            </a:r>
            <a:endParaRPr lang="en-US" sz="1050" dirty="0"/>
          </a:p>
        </p:txBody>
      </p:sp>
      <p:sp>
        <p:nvSpPr>
          <p:cNvPr id="18" name="model 1"/>
          <p:cNvSpPr/>
          <p:nvPr/>
        </p:nvSpPr>
        <p:spPr>
          <a:xfrm>
            <a:off x="548640" y="3456432"/>
            <a:ext cx="40690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9525">
            <a:solidFill>
              <a:srgbClr val="111A20"/>
            </a:solidFill>
            <a:prstDash val="solid"/>
          </a:ln>
        </p:spPr>
      </p:sp>
      <p:pic>
        <p:nvPicPr>
          <p:cNvPr id="19" name="segment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1188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8872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B2B2C: player subscription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31520" y="3931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NT$199/month through the club's Station: highlight reels, round-table plans, season tracking. Revenue split 70% club, 30% ShuttleCoach.</a:t>
            </a:r>
            <a:endParaRPr lang="en-US" sz="1050" dirty="0"/>
          </a:p>
        </p:txBody>
      </p:sp>
      <p:sp>
        <p:nvSpPr>
          <p:cNvPr id="22" name="model 2"/>
          <p:cNvSpPr/>
          <p:nvPr/>
        </p:nvSpPr>
        <p:spPr>
          <a:xfrm>
            <a:off x="548640" y="4828032"/>
            <a:ext cx="40690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9525">
            <a:solidFill>
              <a:srgbClr val="111A20"/>
            </a:solidFill>
            <a:prstDash val="solid"/>
          </a:ln>
        </p:spPr>
      </p:sp>
      <p:pic>
        <p:nvPicPr>
          <p:cNvPr id="23" name="segment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83480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188720" y="4956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Schools and university teams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31520" y="5303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Same Station, no minors' video in the cloud; pilot with a university team and a local academy.</a:t>
            </a:r>
            <a:endParaRPr lang="en-US" sz="1050" dirty="0"/>
          </a:p>
        </p:txBody>
      </p:sp>
      <p:sp>
        <p:nvSpPr>
          <p:cNvPr id="26" name="market TAM"/>
          <p:cNvSpPr/>
          <p:nvPr/>
        </p:nvSpPr>
        <p:spPr>
          <a:xfrm>
            <a:off x="548640" y="1298448"/>
            <a:ext cx="361188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rgbClr val="111A2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" y="1344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" y="1572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384 M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1874520" y="134416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people play badminton weekly worldwide (BWF, 2024); sports analytics US$2.3 B in 2025</a:t>
            </a:r>
            <a:endParaRPr lang="en-US" sz="850" dirty="0"/>
          </a:p>
        </p:txBody>
      </p:sp>
      <p:sp>
        <p:nvSpPr>
          <p:cNvPr id="30" name="market SAM"/>
          <p:cNvSpPr/>
          <p:nvPr/>
        </p:nvSpPr>
        <p:spPr>
          <a:xfrm>
            <a:off x="4297680" y="1298448"/>
            <a:ext cx="361188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rgbClr val="111A2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434840" y="1344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434840" y="1572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2 M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5623560" y="134416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players in Taiwan: 9.4% of residents 13+ (Ministry of Sports, 2025); 113 commercial venues (MOF, May 2024), +16.5% a year</a:t>
            </a:r>
            <a:endParaRPr lang="en-US" sz="850" dirty="0"/>
          </a:p>
        </p:txBody>
      </p:sp>
      <p:sp>
        <p:nvSpPr>
          <p:cNvPr id="34" name="market SOM"/>
          <p:cNvSpPr/>
          <p:nvPr/>
        </p:nvSpPr>
        <p:spPr>
          <a:xfrm>
            <a:off x="8046720" y="1298448"/>
            <a:ext cx="361188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rgbClr val="5FD39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183880" y="1344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8183880" y="1572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Stations</a:t>
            </a:r>
            <a:endParaRPr lang="en-US" sz="1700" dirty="0"/>
          </a:p>
        </p:txBody>
      </p:sp>
      <p:sp>
        <p:nvSpPr>
          <p:cNvPr id="37" name="Text 32"/>
          <p:cNvSpPr txBox="1"/>
          <p:nvPr/>
        </p:nvSpPr>
        <p:spPr>
          <a:xfrm>
            <a:off x="9372600" y="134416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year-3 target in Taiwan venues and school teams, about 1,800 subscribing players</a:t>
            </a:r>
            <a:endParaRPr lang="en-US" sz="850" dirty="0"/>
          </a:p>
        </p:txBody>
      </p:sp>
      <p:graphicFrame>
        <p:nvGraphicFramePr>
          <p:cNvPr id="38" name="tco chart" descr=""/>
          <p:cNvGraphicFramePr/>
          <p:nvPr/>
        </p:nvGraphicFramePr>
        <p:xfrm>
          <a:off x="4846320" y="2057400"/>
          <a:ext cx="6766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9" name="Text 33"/>
          <p:cNvSpPr txBox="1"/>
          <p:nvPr/>
        </p:nvSpPr>
        <p:spPr>
          <a:xfrm>
            <a:off x="4846320" y="4846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1.5 years</a:t>
            </a:r>
            <a:endParaRPr lang="en-US" sz="2600" dirty="0"/>
          </a:p>
        </p:txBody>
      </p:sp>
      <p:sp>
        <p:nvSpPr>
          <p:cNvPr id="40" name="Text 34"/>
          <p:cNvSpPr txBox="1"/>
          <p:nvPr/>
        </p:nvSpPr>
        <p:spPr>
          <a:xfrm>
            <a:off x="4846320" y="5349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payback against a part-time analyst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7132320" y="4846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2.7 years</a:t>
            </a:r>
            <a:endParaRPr lang="en-US" sz="2600" dirty="0"/>
          </a:p>
        </p:txBody>
      </p:sp>
      <p:sp>
        <p:nvSpPr>
          <p:cNvPr id="42" name="Text 36"/>
          <p:cNvSpPr txBox="1"/>
          <p:nvPr/>
        </p:nvSpPr>
        <p:spPr>
          <a:xfrm>
            <a:off x="7132320" y="5349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break-even against per-player cloud apps, with the video kept local</a:t>
            </a:r>
            <a:endParaRPr lang="en-US" sz="1150" dirty="0"/>
          </a:p>
        </p:txBody>
      </p:sp>
      <p:sp>
        <p:nvSpPr>
          <p:cNvPr id="43" name="Text 37"/>
          <p:cNvSpPr txBox="1"/>
          <p:nvPr/>
        </p:nvSpPr>
        <p:spPr>
          <a:xfrm>
            <a:off x="9418320" y="4846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~12 months</a:t>
            </a:r>
            <a:endParaRPr lang="en-US" sz="2600" dirty="0"/>
          </a:p>
        </p:txBody>
      </p:sp>
      <p:sp>
        <p:nvSpPr>
          <p:cNvPr id="44" name="Text 38"/>
          <p:cNvSpPr txBox="1"/>
          <p:nvPr/>
        </p:nvSpPr>
        <p:spPr>
          <a:xfrm>
            <a:off x="9418320" y="5349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club payback with 60 members on the NT$300 add-on</a:t>
            </a:r>
            <a:endParaRPr lang="en-US" sz="1150" dirty="0"/>
          </a:p>
        </p:txBody>
      </p:sp>
      <p:sp>
        <p:nvSpPr>
          <p:cNvPr id="45" name="Text 39"/>
          <p:cNvSpPr txBox="1"/>
          <p:nvPr/>
        </p:nvSpPr>
        <p:spPr>
          <a:xfrm>
            <a:off x="4846320" y="5943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Illustrative assumptions: analyst 8 h/week at NT$400/h, 48 weeks; cloud NT$400/player/month; Station NT$180k + NT$30k/year (NT$7.5k/month over 3 years). Replace with quotes.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REFERENCES AND GITHUB SOURCE CODE</a:t>
            </a:r>
            <a:endParaRPr lang="en-US" sz="1100" dirty="0"/>
          </a:p>
        </p:txBody>
      </p:sp>
      <p:sp>
        <p:nvSpPr>
          <p:cNvPr id="3" name="section 1 marker"/>
          <p:cNvSpPr/>
          <p:nvPr/>
        </p:nvSpPr>
        <p:spPr>
          <a:xfrm>
            <a:off x="982980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ection 2 marker"/>
          <p:cNvSpPr/>
          <p:nvPr/>
        </p:nvSpPr>
        <p:spPr>
          <a:xfrm>
            <a:off x="1019556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ection 3 marker"/>
          <p:cNvSpPr/>
          <p:nvPr/>
        </p:nvSpPr>
        <p:spPr>
          <a:xfrm>
            <a:off x="1056132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132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ection 4 marker"/>
          <p:cNvSpPr/>
          <p:nvPr/>
        </p:nvSpPr>
        <p:spPr>
          <a:xfrm>
            <a:off x="1092708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111A20"/>
          </a:solidFill>
          <a:ln w="12700">
            <a:solidFill>
              <a:srgbClr val="111A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ection 5 marker"/>
          <p:cNvSpPr/>
          <p:nvPr/>
        </p:nvSpPr>
        <p:spPr>
          <a:xfrm>
            <a:off x="11292840" y="274320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E6C9"/>
          </a:solidFill>
          <a:ln w="12700">
            <a:solidFill>
              <a:srgbClr val="F2E6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92840" y="2743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References and source code</a:t>
            </a:r>
            <a:endParaRPr lang="en-US" sz="3000" dirty="0"/>
          </a:p>
        </p:txBody>
      </p:sp>
      <p:sp>
        <p:nvSpPr>
          <p:cNvPr id="14" name="github card"/>
          <p:cNvSpPr/>
          <p:nvPr/>
        </p:nvSpPr>
        <p:spPr>
          <a:xfrm>
            <a:off x="548640" y="146304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9525">
            <a:solidFill>
              <a:srgbClr val="F2E6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1709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1645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2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https://github.com/gino6178/ASUS_hackathon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2860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TrackNetV3: shuttlecock tracking with augmentations and trajectory rectification. ACM MMAsia 2023. Code: MIT licence.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TrackNetV5: robust shuttlecock tracking via motion prompts and spatiotemporal attentive fusion (backbone used frozen). Code: </a:t>
            </a:r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F2E6C9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github.com/gino6178/TrackNetV5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ShuttleSet: a human-annotated stroke-level singles dataset for badminton tactical analysis. KDD 2023.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Monocular scene reconstruction and intent detection: in-house blocks, shown closed.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3D anatomy: BodyParts3D 4.0, © The Database Center for Life Science, CC BY 4.0; adapted via Human Atlas (MIT).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Sample match: Thailand Masters 2025 R32 broadcast footage and lab annotations, used for a research prototype only.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Libraries: Whisper tiny.en (MIT) via Transformers.js (Apache-2.0); MediaPipe Pose Landmarker (Apache-2.0). Feature ideas from Good-Badminton (yo-WASSUP): annotated video, court calibration, position maps.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Agents: Qwen3-4B (Apache-2.0) served locally; OpenVINO GenAI path for the B70; Qwen3-Embedding for the knowledge base. Papers found through the OpenAlex, arXiv and Semantic Scholar APIs; messaging via the Telegram Bot API.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Prototype status: coach agents answer on a local 4B model from computed match facts, every figure verified; tested on an RTX 3090 server, moving to the B70 in Stage II. Coach portraits are AI-generated, fictional people.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Team: [names]  ·  Contact: [email]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uttleCoach Dark">
  <a:themeElements>
    <a:clrScheme name="ShuttleCoach Dark">
      <a:dk1>
        <a:srgbClr val="04070A"/>
      </a:dk1>
      <a:lt1>
        <a:srgbClr val="EEF1F2"/>
      </a:lt1>
      <a:dk2>
        <a:srgbClr val="0A1014"/>
      </a:dk2>
      <a:lt2>
        <a:srgbClr val="C3CACD"/>
      </a:lt2>
      <a:accent1>
        <a:srgbClr val="F2E6C9"/>
      </a:accent1>
      <a:accent2>
        <a:srgbClr val="6FB6FF"/>
      </a:accent2>
      <a:accent3>
        <a:srgbClr val="FF8A6B"/>
      </a:accent3>
      <a:accent4>
        <a:srgbClr val="5FD39A"/>
      </a:accent4>
      <a:accent5>
        <a:srgbClr val="8E989D"/>
      </a:accent5>
      <a:accent6>
        <a:srgbClr val="111A20"/>
      </a:accent6>
      <a:hlink>
        <a:srgbClr val="F2E6C9"/>
      </a:hlink>
      <a:folHlink>
        <a:srgbClr val="8E989D"/>
      </a:folHlink>
    </a:clrScheme>
    <a:fontScheme name="ShuttleCoach Dark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ShuttleCoach: A Private, On-Device Multi-Agent Badminton Analyst</dc:title>
  <dc:subject>PptxGenJS Presentation</dc:subject>
  <dc:creator>PptxGenJS</dc:creator>
  <cp:lastModifiedBy>PptxGenJS</cp:lastModifiedBy>
  <cp:revision>1</cp:revision>
  <dcterms:created xsi:type="dcterms:W3CDTF">2026-10-26T15:38:03Z</dcterms:created>
  <dcterms:modified xsi:type="dcterms:W3CDTF">2026-10-26T15:38:03Z</dcterms:modified>
</cp:coreProperties>
</file>