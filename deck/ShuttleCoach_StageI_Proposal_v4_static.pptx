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a6b1ea-4e45-dc56-95b1-626856bb76e5}">
          <p14:sldIdLst>
            <p14:sldId id="256"/>
          </p14:sldIdLst>
        </p14:section>
        <p14:section name="Context and problem definition" id="{e3336e37-3c3a-2bcd-a909-e79e36219593}">
          <p14:sldIdLst>
            <p14:sldId id="257"/>
            <p14:sldId id="258"/>
          </p14:sldIdLst>
        </p14:section>
        <p14:section name="Solution: tools, technologies and methodology" id="{b7e47dcb-68f9-6aba-9ce5-d6432a092c82}">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96bfe492-ebbe-9a85-0265-b08d0876685c}">
          <p14:sldIdLst>
            <p14:sldId id="271"/>
            <p14:sldId id="272"/>
          </p14:sldIdLst>
        </p14:section>
        <p14:section name="Expected benefits and outcomes" id="{f75e31a8-aec6-821b-c80b-889bd880b6d1}">
          <p14:sldIdLst>
            <p14:sldId id="273"/>
            <p14:sldId id="274"/>
          </p14:sldIdLst>
        </p14:section>
        <p14:section name="References and GitHub source code" id="{b593d6b0-7eac-5d07-78a7-2b0d35e22a4c}">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Coach agents, 14B planned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Browser, embeddings, research</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3</c:v>
                </c:pt>
                <c:pt idx="3">
                  <c:v>2</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1.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shots/cover_poster.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shots/processing.png">    </p:cNvPr>
          <p:cNvPicPr>
            <a:picLocks noChangeAspect="1"/>
          </p:cNvPicPr>
          <p:nvPr/>
        </p:nvPicPr>
        <p:blipFill>
          <a:blip r:embed="rId5"/>
          <a:stretch>
            <a:fillRect/>
          </a:stretch>
        </p:blipFill>
        <p:spPr>
          <a:xfrm>
            <a:off x="5120640" y="1557338"/>
            <a:ext cx="6492240" cy="3651885"/>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shots/architectu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shots/replay.png">    </p:cNvPr>
          <p:cNvPicPr>
            <a:picLocks noChangeAspect="1"/>
          </p:cNvPicPr>
          <p:nvPr/>
        </p:nvPicPr>
        <p:blipFill>
          <a:blip r:embed="rId1"/>
          <a:stretch>
            <a:fillRect/>
          </a:stretch>
        </p:blipFill>
        <p:spPr>
          <a:xfrm>
            <a:off x="548640" y="1463040"/>
            <a:ext cx="6100011"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shots/rt_conflict.png">    </p:cNvPr>
          <p:cNvPicPr>
            <a:picLocks noChangeAspect="1"/>
          </p:cNvPicPr>
          <p:nvPr/>
        </p:nvPicPr>
        <p:blipFill>
          <a:blip r:embed="rId1"/>
          <a:stretch>
            <a:fillRect/>
          </a:stretch>
        </p:blipFill>
        <p:spPr>
          <a:xfrm>
            <a:off x="548640" y="1463040"/>
            <a:ext cx="7151588" cy="2788920"/>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2E6C9"/>
                </a:solidFill>
              </a:rPr>
              <a:t>Written live by the agents</a:t>
            </a:r>
            <a:endParaRPr lang="en-US" sz="1250" dirty="0"/>
          </a:p>
          <a:p>
            <a:pPr indent="0" marL="0">
              <a:buNone/>
            </a:pPr>
            <a:r>
              <a:rPr lang="en-US" sz="1250" dirty="0">
                <a:solidFill>
                  <a:schemeClr val="bg2"/>
                </a:solidFill>
              </a:rPr>
              <a:t>Each coach speaks on the local model from its own facts. Ren checks every request against memory (“right knee sore”) and challenges Lin's drill; Lin answers;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Every turn passes the verifier (8 of 8 here), or falls back to the measured fact;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_coach_tactics.jpg">    </p:cNvPr>
          <p:cNvPicPr>
            <a:picLocks noChangeAspect="1"/>
          </p:cNvPicPr>
          <p:nvPr/>
        </p:nvPicPr>
        <p:blipFill>
          <a:blip r:embed="rId1"/>
          <a:stretch>
            <a:fillRect/>
          </a:stretch>
        </p:blipFill>
        <p:spPr>
          <a:xfrm>
            <a:off x="548640" y="1371600"/>
            <a:ext cx="5440680" cy="2808872"/>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_coach_technique.jpg">    </p:cNvPr>
          <p:cNvPicPr>
            <a:picLocks noChangeAspect="1"/>
          </p:cNvPicPr>
          <p:nvPr/>
        </p:nvPicPr>
        <p:blipFill>
          <a:blip r:embed="rId2"/>
          <a:stretch>
            <a:fillRect/>
          </a:stretch>
        </p:blipFill>
        <p:spPr>
          <a:xfrm>
            <a:off x="6172200" y="1371600"/>
            <a:ext cx="543504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_coach_fitness.jpg">    </p:cNvPr>
          <p:cNvPicPr>
            <a:picLocks noChangeAspect="1"/>
          </p:cNvPicPr>
          <p:nvPr/>
        </p:nvPicPr>
        <p:blipFill>
          <a:blip r:embed="rId1"/>
          <a:stretch>
            <a:fillRect/>
          </a:stretch>
        </p:blipFill>
        <p:spPr>
          <a:xfrm>
            <a:off x="548640" y="1371600"/>
            <a:ext cx="5392579"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_coach_analyst.jpg">    </p:cNvPr>
          <p:cNvPicPr>
            <a:picLocks noChangeAspect="1"/>
          </p:cNvPicPr>
          <p:nvPr/>
        </p:nvPicPr>
        <p:blipFill>
          <a:blip r:embed="rId2"/>
          <a:stretch>
            <a:fillRect/>
          </a:stretch>
        </p:blipFill>
        <p:spPr>
          <a:xfrm>
            <a:off x="6172200" y="1371600"/>
            <a:ext cx="5242406"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Zhongzheng Sports Center · Sat 10-31 18:00-20:00 · court 4, doubles with Amy and Ben.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39 / 39</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shots/agent_arch.png">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shots/hl_replay.png">    </p:cNvPr>
          <p:cNvPicPr>
            <a:picLocks noChangeAspect="1"/>
          </p:cNvPicPr>
          <p:nvPr/>
        </p:nvPicPr>
        <p:blipFill>
          <a:blip r:embed="rId1"/>
          <a:stretch>
            <a:fillRect/>
          </a:stretch>
        </p:blipFill>
        <p:spPr>
          <a:xfrm>
            <a:off x="548640" y="1417320"/>
            <a:ext cx="2371471"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shots/hardwa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Coach agents · round table</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Coach agents · round table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Booking agent · browser</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Booking agent · browser 2"/>
          <p:cNvSpPr/>
          <p:nvPr/>
        </p:nvSpPr>
        <p:spPr>
          <a:xfrm>
            <a:off x="4754880" y="4050792"/>
            <a:ext cx="260604" cy="201168"/>
          </a:xfrm>
          <a:prstGeom prst="roundRect">
            <a:avLst>
              <a:gd name="adj" fmla="val 18182"/>
            </a:avLst>
          </a:prstGeom>
          <a:solidFill>
            <a:srgbClr val="FF8A6B">
              <a:alpha val="45000"/>
            </a:srgbClr>
          </a:solidFill>
          <a:ln w="6350">
            <a:solidFill>
              <a:srgbClr val="FF8A6B"/>
            </a:solidFill>
            <a:prstDash val="solid"/>
          </a:ln>
        </p:spPr>
      </p:sp>
      <p:sp>
        <p:nvSpPr>
          <p:cNvPr id="47" name="Booking agent · browser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8" name="Text 46"/>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Research · reflection (night)</a:t>
            </a:r>
            <a:endParaRPr lang="en-US" sz="1000" dirty="0"/>
          </a:p>
        </p:txBody>
      </p:sp>
      <p:sp>
        <p:nvSpPr>
          <p:cNvPr id="49" name="row rule 6"/>
          <p:cNvSpPr/>
          <p:nvPr/>
        </p:nvSpPr>
        <p:spPr>
          <a:xfrm>
            <a:off x="548640" y="4700016"/>
            <a:ext cx="6537960" cy="0"/>
          </a:xfrm>
          <a:prstGeom prst="line">
            <a:avLst/>
          </a:prstGeom>
          <a:noFill/>
          <a:ln w="6350">
            <a:solidFill>
              <a:srgbClr val="111A20"/>
            </a:solidFill>
            <a:prstDash val="solid"/>
          </a:ln>
        </p:spPr>
      </p:sp>
      <p:sp>
        <p:nvSpPr>
          <p:cNvPr id="50" name="Research · reflection (night) 2"/>
          <p:cNvSpPr/>
          <p:nvPr/>
        </p:nvSpPr>
        <p:spPr>
          <a:xfrm>
            <a:off x="4754880" y="4416552"/>
            <a:ext cx="625450" cy="201168"/>
          </a:xfrm>
          <a:prstGeom prst="roundRect">
            <a:avLst>
              <a:gd name="adj" fmla="val 18182"/>
            </a:avLst>
          </a:prstGeom>
          <a:solidFill>
            <a:srgbClr val="F2D46B">
              <a:alpha val="66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Simulator 2"/>
          <p:cNvSpPr/>
          <p:nvPr/>
        </p:nvSpPr>
        <p:spPr>
          <a:xfrm>
            <a:off x="4754880" y="4782312"/>
            <a:ext cx="312725" cy="201168"/>
          </a:xfrm>
          <a:prstGeom prst="roundRect">
            <a:avLst>
              <a:gd name="adj" fmla="val 18182"/>
            </a:avLst>
          </a:prstGeom>
          <a:solidFill>
            <a:srgbClr val="C3CACD">
              <a:alpha val="48000"/>
            </a:srgbClr>
          </a:solidFill>
          <a:ln w="6350">
            <a:solidFill>
              <a:srgbClr val="C3CACD"/>
            </a:solidFill>
            <a:prstDash val="solid"/>
          </a:ln>
        </p:spPr>
      </p:sp>
      <p:sp>
        <p:nvSpPr>
          <p:cNvPr id="54" name="Simulator 3"/>
          <p:cNvSpPr/>
          <p:nvPr/>
        </p:nvSpPr>
        <p:spPr>
          <a:xfrm>
            <a:off x="5943600" y="4782312"/>
            <a:ext cx="729691" cy="201168"/>
          </a:xfrm>
          <a:prstGeom prst="roundRect">
            <a:avLst>
              <a:gd name="adj" fmla="val 18182"/>
            </a:avLst>
          </a:prstGeom>
          <a:solidFill>
            <a:srgbClr val="C3CACD">
              <a:alpha val="72000"/>
            </a:srgbClr>
          </a:solidFill>
          <a:ln w="6350">
            <a:solidFill>
              <a:srgbClr val="C3CACD"/>
            </a:solidFill>
            <a:prstDash val="solid"/>
          </a:ln>
        </p:spPr>
      </p:sp>
      <p:graphicFrame>
        <p:nvGraphicFramePr>
          <p:cNvPr id="55"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6"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7" name="Text 54"/>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post-match jobs and the nightly research and reflection fill idle time. </a:t>
            </a:r>
            <a:pPr indent="0" marL="0">
              <a:buNone/>
            </a:pPr>
            <a:r>
              <a:rPr lang="en-US" sz="1050" b="1" dirty="0">
                <a:solidFill>
                  <a:srgbClr val="EEF1F2"/>
                </a:solidFill>
              </a:rPr>
              <a:t>Today, on our test GPU, one 4B model serves every agent: coach chat, the round table, booking with its browser, research and reflection.</a:t>
            </a:r>
            <a:endParaRPr lang="en-US" sz="1050" dirty="0"/>
          </a:p>
        </p:txBody>
      </p:sp>
      <p:sp>
        <p:nvSpPr>
          <p:cNvPr id="58"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9" name="Text 56"/>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Measured today on our test GPU (Qwen3-4B, 4-bit)</a:t>
            </a:r>
            <a:endParaRPr lang="en-US" sz="1050" dirty="0"/>
          </a:p>
          <a:p>
            <a:pPr indent="0" marL="0">
              <a:buNone/>
            </a:pPr>
            <a:r>
              <a:rPr lang="en-US" sz="1050" dirty="0">
                <a:solidFill>
                  <a:schemeClr val="bg2"/>
                </a:solidFill>
              </a:rPr>
              <a:t>Coach reply 0.8 s median · round-table meeting 4.0 s for 9–10 verified turns · “I want to play” to a court offer 3.3 s, fitness coach included · booking agent in its browser: 28 steps, 9.4 s · tests 23/23 booking, 21/21 end to end. On the B70: INT4 ≈ 2.5 GB, decode ceiling about 240 tokens/s.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NEXT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3D reconstruction and intent detection: shown as closed blocks.</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hand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next.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2026-10-27T05:38:27Z</dcterms:created>
  <dcterms:modified xsi:type="dcterms:W3CDTF">2026-10-27T05:38:27Z</dcterms:modified>
</cp:coreProperties>
</file>