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fd3093b-e391-505a-6527-8cf20e5372d8}">
          <p14:sldIdLst>
            <p14:sldId id="256"/>
          </p14:sldIdLst>
        </p14:section>
        <p14:section name="Context and problem definition" id="{bdaa01ca-598f-a28e-ac53-704ee964743b}">
          <p14:sldIdLst>
            <p14:sldId id="257"/>
            <p14:sldId id="258"/>
          </p14:sldIdLst>
        </p14:section>
        <p14:section name="Solution: tools, technologies and methodology" id="{a5afbfe1-cb9b-b0b2-2011-a9addc4b63d8}">
          <p14:sldIdLst>
            <p14:sldId id="259"/>
            <p14:sldId id="260"/>
            <p14:sldId id="261"/>
            <p14:sldId id="262"/>
            <p14:sldId id="263"/>
            <p14:sldId id="264"/>
            <p14:sldId id="265"/>
            <p14:sldId id="266"/>
            <p14:sldId id="267"/>
            <p14:sldId id="268"/>
            <p14:sldId id="269"/>
            <p14:sldId id="270"/>
          </p14:sldIdLst>
        </p14:section>
        <p14:section name="Hardware and software architecture, system planning" id="{627f790a-d6fe-4af4-9a35-23e4a221e10b}">
          <p14:sldIdLst>
            <p14:sldId id="271"/>
            <p14:sldId id="272"/>
          </p14:sldIdLst>
        </p14:section>
        <p14:section name="Expected benefits and outcomes" id="{7a0a8daa-b79c-0aa7-bec6-9d542648b600}">
          <p14:sldIdLst>
            <p14:sldId id="273"/>
            <p14:sldId id="274"/>
          </p14:sldIdLst>
        </p14:section>
        <p14:section name="References and GitHub source code" id="{83745d78-df18-9a09-c65d-e3b0e7d491b7}">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C3CACD"/>
                </a:solidFill>
                <a:latin typeface="+mn-lt"/>
              </a:defRPr>
            </a:pPr>
            <a:r>
              <a:rPr sz="1100" b="0" i="0" u="none" strike="noStrike">
                <a:solidFill>
                  <a:srgbClr val="C3CACD"/>
                </a:solidFill>
                <a:latin typeface="+mn-lt"/>
              </a:rPr>
              <a:t>Peak GPU memory by phase (GB, planned; card = 32)</a:t>
            </a:r>
          </a:p>
        </c:rich>
      </c:tx>
      <c:layout/>
      <c:overlay val="0"/>
    </c:title>
    <c:autoTitleDeleted val="0"/>
    <c:plotArea>
      <c:layout/>
      <c:barChart>
        <c:barDir val="col"/>
        <c:grouping val="stacked"/>
        <c:varyColors val="0"/>
        <c:ser>
          <c:idx val="0"/>
          <c:order val="0"/>
          <c:tx>
            <c:strRef>
              <c:f>Sheet1!$B$1</c:f>
              <c:strCache>
                <c:ptCount val="1"/>
                <c:pt idx="0">
                  <c:v>Tracking, pose, 3D, intent</c:v>
                </c:pt>
              </c:strCache>
            </c:strRef>
          </c:tx>
          <c:spPr>
            <a:solidFill>
              <a:srgbClr val="6FB6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Rally (live)</c:v>
                  </c:pt>
                  <c:pt idx="1">
                    <c:v>Between points</c:v>
                  </c:pt>
                  <c:pt idx="2">
                    <c:v>After the match</c:v>
                  </c:pt>
                  <c:pt idx="3">
                    <c:v>Coaching</c:v>
                  </c:pt>
                </c:lvl>
              </c:multiLvlStrCache>
            </c:multiLvlStrRef>
          </c:cat>
          <c:val>
            <c:numRef>
              <c:f>Sheet1!$B$2:$B$5</c:f>
              <c:numCache>
                <c:formatCode>General</c:formatCode>
                <c:ptCount val="4"/>
                <c:pt idx="0">
                  <c:v>6</c:v>
                </c:pt>
                <c:pt idx="1">
                  <c:v>6</c:v>
                </c:pt>
                <c:pt idx="2">
                  <c:v>6</c:v>
                </c:pt>
                <c:pt idx="3">
                  <c:v>0</c:v>
                </c:pt>
              </c:numCache>
            </c:numRef>
          </c:val>
        </c:ser>
        <c:ser>
          <c:idx val="1"/>
          <c:order val="1"/>
          <c:tx>
            <c:strRef>
              <c:f>Sheet1!$C$1</c:f>
              <c:strCache>
                <c:ptCount val="1"/>
                <c:pt idx="0">
                  <c:v>4B assistant + voice</c:v>
                </c:pt>
              </c:strCache>
            </c:strRef>
          </c:tx>
          <c:spPr>
            <a:solidFill>
              <a:srgbClr val="5FD39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Rally (live)</c:v>
                  </c:pt>
                  <c:pt idx="1">
                    <c:v>Between points</c:v>
                  </c:pt>
                  <c:pt idx="2">
                    <c:v>After the match</c:v>
                  </c:pt>
                  <c:pt idx="3">
                    <c:v>Coaching</c:v>
                  </c:pt>
                </c:lvl>
              </c:multiLvlStrCache>
            </c:multiLvlStrRef>
          </c:cat>
          <c:val>
            <c:numRef>
              <c:f>Sheet1!$C$2:$C$5</c:f>
              <c:numCache>
                <c:formatCode>General</c:formatCode>
                <c:ptCount val="4"/>
                <c:pt idx="0">
                  <c:v>3</c:v>
                </c:pt>
                <c:pt idx="1">
                  <c:v>3</c:v>
                </c:pt>
                <c:pt idx="2">
                  <c:v>0</c:v>
                </c:pt>
                <c:pt idx="3">
                  <c:v>3</c:v>
                </c:pt>
              </c:numCache>
            </c:numRef>
          </c:val>
        </c:ser>
        <c:ser>
          <c:idx val="2"/>
          <c:order val="2"/>
          <c:tx>
            <c:strRef>
              <c:f>Sheet1!$D$1</c:f>
              <c:strCache>
                <c:ptCount val="1"/>
                <c:pt idx="0">
                  <c:v>Coach agents, 14B planned + KV cache</c:v>
                </c:pt>
              </c:strCache>
            </c:strRef>
          </c:tx>
          <c:spPr>
            <a:solidFill>
              <a:srgbClr val="F2E6C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Rally (live)</c:v>
                  </c:pt>
                  <c:pt idx="1">
                    <c:v>Between points</c:v>
                  </c:pt>
                  <c:pt idx="2">
                    <c:v>After the match</c:v>
                  </c:pt>
                  <c:pt idx="3">
                    <c:v>Coaching</c:v>
                  </c:pt>
                </c:lvl>
              </c:multiLvlStrCache>
            </c:multiLvlStrRef>
          </c:cat>
          <c:val>
            <c:numRef>
              <c:f>Sheet1!$D$2:$D$5</c:f>
              <c:numCache>
                <c:formatCode>General</c:formatCode>
                <c:ptCount val="4"/>
                <c:pt idx="0">
                  <c:v>0</c:v>
                </c:pt>
                <c:pt idx="1">
                  <c:v>0</c:v>
                </c:pt>
                <c:pt idx="2">
                  <c:v>0</c:v>
                </c:pt>
                <c:pt idx="3">
                  <c:v>16</c:v>
                </c:pt>
              </c:numCache>
            </c:numRef>
          </c:val>
        </c:ser>
        <c:ser>
          <c:idx val="3"/>
          <c:order val="3"/>
          <c:tx>
            <c:strRef>
              <c:f>Sheet1!$E$1</c:f>
              <c:strCache>
                <c:ptCount val="1"/>
                <c:pt idx="0">
                  <c:v>Browser, embeddings, research</c:v>
                </c:pt>
              </c:strCache>
            </c:strRef>
          </c:tx>
          <c:spPr>
            <a:solidFill>
              <a:srgbClr val="FF8A6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Rally (live)</c:v>
                  </c:pt>
                  <c:pt idx="1">
                    <c:v>Between points</c:v>
                  </c:pt>
                  <c:pt idx="2">
                    <c:v>After the match</c:v>
                  </c:pt>
                  <c:pt idx="3">
                    <c:v>Coaching</c:v>
                  </c:pt>
                </c:lvl>
              </c:multiLvlStrCache>
            </c:multiLvlStrRef>
          </c:cat>
          <c:val>
            <c:numRef>
              <c:f>Sheet1!$E$2:$E$5</c:f>
              <c:numCache>
                <c:formatCode>General</c:formatCode>
                <c:ptCount val="4"/>
                <c:pt idx="0">
                  <c:v>0</c:v>
                </c:pt>
                <c:pt idx="1">
                  <c:v>0</c:v>
                </c:pt>
                <c:pt idx="2">
                  <c:v>3</c:v>
                </c:pt>
                <c:pt idx="3">
                  <c:v>2</c:v>
                </c:pt>
              </c:numCache>
            </c:numRef>
          </c:val>
        </c:ser>
        <c:ser>
          <c:idx val="4"/>
          <c:order val="4"/>
          <c:tx>
            <c:strRef>
              <c:f>Sheet1!$F$1</c:f>
              <c:strCache>
                <c:ptCount val="1"/>
                <c:pt idx="0">
                  <c:v>Simulator</c:v>
                </c:pt>
              </c:strCache>
            </c:strRef>
          </c:tx>
          <c:spPr>
            <a:solidFill>
              <a:srgbClr val="F2D46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Rally (live)</c:v>
                  </c:pt>
                  <c:pt idx="1">
                    <c:v>Between points</c:v>
                  </c:pt>
                  <c:pt idx="2">
                    <c:v>After the match</c:v>
                  </c:pt>
                  <c:pt idx="3">
                    <c:v>Coaching</c:v>
                  </c:pt>
                </c:lvl>
              </c:multiLvlStrCache>
            </c:multiLvlStrRef>
          </c:cat>
          <c:val>
            <c:numRef>
              <c:f>Sheet1!$F$2:$F$5</c:f>
              <c:numCache>
                <c:formatCode>General</c:formatCode>
                <c:ptCount val="4"/>
                <c:pt idx="0">
                  <c:v>0</c:v>
                </c:pt>
                <c:pt idx="1">
                  <c:v>0</c:v>
                </c:pt>
                <c:pt idx="2">
                  <c:v>0</c:v>
                </c:pt>
                <c:pt idx="3">
                  <c:v>4</c:v>
                </c:pt>
              </c:numCache>
            </c:numRef>
          </c:val>
        </c:ser>
        <c:ser>
          <c:idx val="5"/>
          <c:order val="5"/>
          <c:tx>
            <c:strRef>
              <c:f>Sheet1!$G$1</c:f>
              <c:strCache>
                <c:ptCount val="1"/>
                <c:pt idx="0">
                  <c:v>Player memory</c:v>
                </c:pt>
              </c:strCache>
            </c:strRef>
          </c:tx>
          <c:spPr>
            <a:solidFill>
              <a:srgbClr val="8E989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Rally (live)</c:v>
                  </c:pt>
                  <c:pt idx="1">
                    <c:v>Between points</c:v>
                  </c:pt>
                  <c:pt idx="2">
                    <c:v>After the match</c:v>
                  </c:pt>
                  <c:pt idx="3">
                    <c:v>Coaching</c:v>
                  </c:pt>
                </c:lvl>
              </c:multiLvlStrCache>
            </c:multiLvlStrRef>
          </c:cat>
          <c:val>
            <c:numRef>
              <c:f>Sheet1!$G$2:$G$5</c:f>
              <c:numCache>
                <c:formatCode>General</c:formatCode>
                <c:ptCount val="4"/>
                <c:pt idx="0">
                  <c:v>1</c:v>
                </c:pt>
                <c:pt idx="1">
                  <c:v>1</c:v>
                </c:pt>
                <c:pt idx="2">
                  <c:v>1</c:v>
                </c:pt>
                <c:pt idx="3">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C3CACD"/>
                </a:solidFill>
                <a:latin typeface="+mn-lt"/>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6350" cap="flat">
              <a:solidFill>
                <a:srgbClr val="111A20"/>
              </a:solidFill>
              <a:prstDash val="solid"/>
              <a:round/>
            </a:ln>
          </c:spPr>
        </c:majorGridlines>
        <c:numFmt formatCode="0&quot; GB&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E989D"/>
                </a:solidFill>
                <a:latin typeface="Arial"/>
              </a:defRPr>
            </a:pPr>
            <a:endParaRPr lang="en-US"/>
          </a:p>
        </c:txPr>
        <c:crossAx val="2094734554"/>
        <c:crosses val="autoZero"/>
        <c:crossBetween val="between"/>
        <c:majorUnit val="8"/>
      </c:valAx>
      <c:spPr>
        <a:noFill/>
        <a:ln>
          <a:noFill/>
        </a:ln>
        <a:effectLst/>
      </c:spPr>
    </c:plotArea>
    <c:legend>
      <c:legendPos val="b"/>
      <c:overlay val="0"/>
      <c:txPr>
        <a:bodyPr/>
        <a:lstStyle/>
        <a:p>
          <a:pPr>
            <a:defRPr sz="850">
              <a:solidFill>
                <a:srgbClr val="C3CAC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C3CACD"/>
                </a:solidFill>
                <a:latin typeface="+mn-lt"/>
              </a:defRPr>
            </a:pPr>
            <a:r>
              <a:rPr sz="1200" b="0" i="0" u="none" strike="noStrike">
                <a:solidFill>
                  <a:srgbClr val="C3CACD"/>
                </a:solidFill>
                <a:latin typeface="+mn-lt"/>
              </a:rPr>
              <a:t>Cumulative cost for a 20-player club, NT$ thousand (illustrative)</a:t>
            </a:r>
          </a:p>
        </c:rich>
      </c:tx>
      <c:layout/>
      <c:overlay val="0"/>
    </c:title>
    <c:autoTitleDeleted val="0"/>
    <c:plotArea>
      <c:layout/>
      <c:barChart>
        <c:barDir val="col"/>
        <c:grouping val="clustered"/>
        <c:varyColors val="0"/>
        <c:ser>
          <c:idx val="0"/>
          <c:order val="0"/>
          <c:tx>
            <c:strRef>
              <c:f>Sheet1!$B$1</c:f>
              <c:strCache>
                <c:ptCount val="1"/>
                <c:pt idx="0">
                  <c:v>Part-time video analyst</c:v>
                </c:pt>
              </c:strCache>
            </c:strRef>
          </c:tx>
          <c:spPr>
            <a:solidFill>
              <a:srgbClr val="8E989D"/>
            </a:solidFill>
            <a:effectLst/>
          </c:spPr>
          <c:invertIfNegative val="0"/>
          <c:dLbls>
            <c:numFmt formatCode="#,##0" sourceLinked="0"/>
            <c:txPr>
              <a:bodyPr/>
              <a:lstStyle/>
              <a:p>
                <a:pPr>
                  <a:defRPr b="0" i="0" strike="noStrike" sz="1100" u="none">
                    <a:solidFill>
                      <a:srgbClr val="C3CACD"/>
                    </a:solidFill>
                    <a:latin typeface="+mn-lt"/>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154</c:v>
                </c:pt>
                <c:pt idx="1">
                  <c:v>307</c:v>
                </c:pt>
                <c:pt idx="2">
                  <c:v>461</c:v>
                </c:pt>
              </c:numCache>
            </c:numRef>
          </c:val>
        </c:ser>
        <c:ser>
          <c:idx val="1"/>
          <c:order val="1"/>
          <c:tx>
            <c:strRef>
              <c:f>Sheet1!$C$1</c:f>
              <c:strCache>
                <c:ptCount val="1"/>
                <c:pt idx="0">
                  <c:v>Cloud app, per player</c:v>
                </c:pt>
              </c:strCache>
            </c:strRef>
          </c:tx>
          <c:spPr>
            <a:solidFill>
              <a:srgbClr val="FF8A6B"/>
            </a:solidFill>
            <a:effectLst/>
          </c:spPr>
          <c:invertIfNegative val="0"/>
          <c:dLbls>
            <c:numFmt formatCode="#,##0" sourceLinked="0"/>
            <c:txPr>
              <a:bodyPr/>
              <a:lstStyle/>
              <a:p>
                <a:pPr>
                  <a:defRPr b="0" i="0" strike="noStrike" sz="1100" u="none">
                    <a:solidFill>
                      <a:srgbClr val="C3CACD"/>
                    </a:solidFill>
                    <a:latin typeface="+mn-lt"/>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96</c:v>
                </c:pt>
                <c:pt idx="1">
                  <c:v>192</c:v>
                </c:pt>
                <c:pt idx="2">
                  <c:v>288</c:v>
                </c:pt>
              </c:numCache>
            </c:numRef>
          </c:val>
        </c:ser>
        <c:ser>
          <c:idx val="2"/>
          <c:order val="2"/>
          <c:tx>
            <c:strRef>
              <c:f>Sheet1!$D$1</c:f>
              <c:strCache>
                <c:ptCount val="1"/>
                <c:pt idx="0">
                  <c:v>ShuttleCoach Station</c:v>
                </c:pt>
              </c:strCache>
            </c:strRef>
          </c:tx>
          <c:spPr>
            <a:solidFill>
              <a:srgbClr val="F2E6C9"/>
            </a:solidFill>
            <a:effectLst/>
          </c:spPr>
          <c:invertIfNegative val="0"/>
          <c:dLbls>
            <c:numFmt formatCode="#,##0" sourceLinked="0"/>
            <c:txPr>
              <a:bodyPr/>
              <a:lstStyle/>
              <a:p>
                <a:pPr>
                  <a:defRPr b="0" i="0" strike="noStrike" sz="1100" u="none">
                    <a:solidFill>
                      <a:srgbClr val="C3CACD"/>
                    </a:solidFill>
                    <a:latin typeface="+mn-lt"/>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Sheet1!$D$2:$D$4</c:f>
              <c:numCache>
                <c:formatCode>General</c:formatCode>
                <c:ptCount val="3"/>
                <c:pt idx="0">
                  <c:v>210</c:v>
                </c:pt>
                <c:pt idx="1">
                  <c:v>240</c:v>
                </c:pt>
                <c:pt idx="2">
                  <c:v>270</c:v>
                </c:pt>
              </c:numCache>
            </c:numRef>
          </c:val>
        </c:ser>
        <c:dLbls>
          <c:numFmt formatCode="#,##0" sourceLinked="0"/>
          <c:txPr>
            <a:bodyPr/>
            <a:lstStyle/>
            <a:p>
              <a:pPr>
                <a:defRPr b="0" i="0" strike="noStrike" sz="1100" u="none">
                  <a:solidFill>
                    <a:srgbClr val="C3CAC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3CACD"/>
                </a:solidFill>
                <a:latin typeface="+mn-lt"/>
              </a:defRPr>
            </a:pPr>
            <a:endParaRPr lang="en-US"/>
          </a:p>
        </c:txPr>
        <c:crossAx val="2094734552"/>
        <c:crosses val="autoZero"/>
        <c:auto val="1"/>
        <c:lblAlgn val="ctr"/>
        <c:noMultiLvlLbl val="1"/>
      </c:catAx>
      <c:valAx>
        <c:axId val="2094734552"/>
        <c:scaling>
          <c:orientation val="minMax"/>
          <c:max val="5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C3CAC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cover is the live product: the 3D rally behind the title is reconstructed from a single broadcast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coaches keep reading and learn from their players; so do these. Each night a research agent reads new papers into a local knowledge base, and each coach reflects on player feedback, rejected drafts and new findings to change its own playbook, behind gates a head coach would apply: a cited study, a safety check, no regression, and a human sign-off for anything about health. The same staff extends to Telegram as a 24-hour coach: food at home, schedule and training log, with reminders before each session and an evening check-in. Only text passes through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ShuttleCoach is built from LLM agents that act, not a chatbot. Each agent runs the same loop on the local model: read the request, plan the tool calls, act with tools such as calendars, the map and the sports centres, the knowledge base and memory, check the result with the verifier and safety gates, ask a person before anything binding, and learn from feedback overnight. The animation follows a real booking run logged on the station: each player's calendar and area, 18 sports centres, the fairest free court, and the player's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257800"/>
            <a:ext cx="10972800" cy="365760"/>
          </a:xfrm>
          <a:prstGeom prst="rect">
            <a:avLst/>
          </a:prstGeom>
          <a:noFill/>
          <a:ln/>
        </p:spPr>
        <p:txBody>
          <a:bodyPr wrap="square" rtlCol="0"/>
          <a:lstStyle>
            <a:lvl1pPr algn="l" indent="0" marL="0">
              <a:buNone/>
              <a:defRPr lang="en-US" sz="1300" spc="200" kern="0" dirty="0">
                <a:solidFill>
                  <a:schemeClr val="accent1"/>
                </a:solidFill>
                <a:latin typeface="Consolas" pitchFamily="34" charset="0"/>
                <a:ea typeface="Consolas" pitchFamily="34" charset="-122"/>
                <a:cs typeface="Consolas" pitchFamily="34" charset="-120"/>
              </a:defRPr>
            </a:lvl1pPr>
          </a:lstStyle>
          <a:p>
            <a:pPr algn="l"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5852160" cy="21945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3840480"/>
            <a:ext cx="585216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19088"/>
            <a:ext cx="8229600" cy="256032"/>
          </a:xfrm>
          <a:prstGeom prst="rect">
            <a:avLst/>
          </a:prstGeom>
          <a:noFill/>
          <a:ln/>
        </p:spPr>
        <p:txBody>
          <a:bodyPr wrap="square" rtlCol="0" anchor="ctr"/>
          <a:lstStyle/>
          <a:p>
            <a:pPr indent="0" marL="0">
              <a:buNone/>
            </a:pPr>
            <a:r>
              <a:rPr lang="en-US" sz="900" spc="100" kern="0" dirty="0">
                <a:solidFill>
                  <a:schemeClr val="accent5"/>
                </a:solidFill>
                <a:latin typeface="Consolas" pitchFamily="34" charset="0"/>
                <a:ea typeface="Consolas" pitchFamily="34" charset="-122"/>
                <a:cs typeface="Consolas" pitchFamily="34" charset="-120"/>
              </a:rPr>
              <a:t>SHUTTLECOACH  ·  ASUS UGEN AI LEAGUE 2026  ·  BATTLEFIELD THUNDERSTORM</a:t>
            </a:r>
            <a:endParaRPr lang="en-US" sz="9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gino6178/ASUS_hackathon" TargetMode="External"/><Relationship Id="rId1"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1.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github.com/gino6178/ASUS_hackathon" TargetMode="External"/><Relationship Id="rId2" Type="http://schemas.openxmlformats.org/officeDocument/2006/relationships/hyperlink" Target="https://github.com/gino6178/TrackNetV5" TargetMode="External"/><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3D rally reconstruction" descr="shots/cover_post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40080" y="1600200"/>
            <a:ext cx="73152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PRIVATE BADMINTON INTELLIGENCE</a:t>
            </a:r>
            <a:endParaRPr lang="en-US" sz="1100" dirty="0"/>
          </a:p>
        </p:txBody>
      </p:sp>
      <p:sp>
        <p:nvSpPr>
          <p:cNvPr id="4" name="Text 1"/>
          <p:cNvSpPr txBox="1"/>
          <p:nvPr/>
        </p:nvSpPr>
        <p:spPr>
          <a:xfrm>
            <a:off x="640080" y="1965960"/>
            <a:ext cx="5943600" cy="2377440"/>
          </a:xfrm>
          <a:prstGeom prst="rect">
            <a:avLst/>
          </a:prstGeom>
          <a:noFill/>
          <a:ln/>
        </p:spPr>
        <p:txBody>
          <a:bodyPr wrap="square" lIns="0" tIns="0" rIns="0" bIns="0" rtlCol="0" anchor="t"/>
          <a:lstStyle/>
          <a:p>
            <a:pPr indent="0" marL="0">
              <a:lnSpc>
                <a:spcPct val="85000"/>
              </a:lnSpc>
              <a:buNone/>
            </a:pPr>
            <a:r>
              <a:rPr lang="en-US" sz="8000" b="1" spc="400" kern="0" dirty="0">
                <a:solidFill>
                  <a:schemeClr val="bg1"/>
                </a:solidFill>
                <a:latin typeface="Bahnschrift" pitchFamily="34" charset="0"/>
                <a:ea typeface="Bahnschrift" pitchFamily="34" charset="-122"/>
                <a:cs typeface="Bahnschrift" pitchFamily="34" charset="-120"/>
              </a:rPr>
              <a:t>SHUTTLE</a:t>
            </a:r>
            <a:endParaRPr lang="en-US" sz="8000" dirty="0"/>
          </a:p>
          <a:p>
            <a:pPr indent="0" marL="0">
              <a:lnSpc>
                <a:spcPct val="85000"/>
              </a:lnSpc>
              <a:buNone/>
            </a:pPr>
            <a:r>
              <a:rPr lang="en-US" sz="8000" b="1" spc="400" kern="0" dirty="0">
                <a:solidFill>
                  <a:schemeClr val="bg1"/>
                </a:solidFill>
                <a:latin typeface="Bahnschrift" pitchFamily="34" charset="0"/>
                <a:ea typeface="Bahnschrift" pitchFamily="34" charset="-122"/>
                <a:cs typeface="Bahnschrift" pitchFamily="34" charset="-120"/>
              </a:rPr>
              <a:t>COACH</a:t>
            </a:r>
            <a:endParaRPr lang="en-US" sz="8000" dirty="0"/>
          </a:p>
        </p:txBody>
      </p:sp>
      <p:sp>
        <p:nvSpPr>
          <p:cNvPr id="5" name="Text 2"/>
          <p:cNvSpPr txBox="1"/>
          <p:nvPr/>
        </p:nvSpPr>
        <p:spPr>
          <a:xfrm>
            <a:off x="640080" y="4343400"/>
            <a:ext cx="4480560" cy="822960"/>
          </a:xfrm>
          <a:prstGeom prst="rect">
            <a:avLst/>
          </a:prstGeom>
          <a:noFill/>
          <a:ln/>
        </p:spPr>
        <p:txBody>
          <a:bodyPr wrap="square" lIns="0" tIns="0" rIns="0" bIns="0" rtlCol="0" anchor="t"/>
          <a:lstStyle/>
          <a:p>
            <a:pPr indent="0" marL="0">
              <a:buNone/>
            </a:pPr>
            <a:r>
              <a:rPr lang="en-US" sz="2200" dirty="0">
                <a:solidFill>
                  <a:schemeClr val="bg2"/>
                </a:solidFill>
              </a:rPr>
              <a:t>A private, on-device multi-agent badminton analyst</a:t>
            </a:r>
            <a:endParaRPr lang="en-US" sz="2200" dirty="0"/>
          </a:p>
        </p:txBody>
      </p:sp>
      <p:sp>
        <p:nvSpPr>
          <p:cNvPr id="6" name="Text 0"/>
          <p:cNvSpPr/>
          <p:nvPr>
            <p:ph idx="100" type="title" hasCustomPrompt="1"/>
          </p:nvPr>
        </p:nvSpPr>
        <p:spPr>
          <a:xfrm>
            <a:off x="640080" y="5257800"/>
            <a:ext cx="10972800" cy="365760"/>
          </a:xfrm>
          <a:prstGeom prst="rect">
            <a:avLst/>
          </a:prstGeom>
          <a:noFill/>
          <a:ln/>
        </p:spPr>
        <p:txBody>
          <a:bodyPr wrap="square" rtlCol="0"/>
          <a:lstStyle/>
          <a:p>
            <a:pPr algn="l" indent="0" marL="0">
              <a:buNone/>
            </a:pPr>
            <a:r>
              <a:rPr lang="en-US" sz="1300" spc="200" kern="0" dirty="0">
                <a:solidFill>
                  <a:schemeClr val="accent1"/>
                </a:solidFill>
                <a:latin typeface="Consolas" pitchFamily="34" charset="0"/>
                <a:ea typeface="Consolas" pitchFamily="34" charset="-122"/>
                <a:cs typeface="Consolas" pitchFamily="34" charset="-120"/>
              </a:rPr>
              <a:t>BATTLEFIELD THUNDERSTORM · INTEL ARC PRO B70 32GB · EVERYDAY AI</a:t>
            </a:r>
            <a:endParaRPr lang="en-US" sz="1300" dirty="0"/>
          </a:p>
        </p:txBody>
      </p:sp>
      <p:sp>
        <p:nvSpPr>
          <p:cNvPr id="7" name="Text 4"/>
          <p:cNvSpPr txBox="1"/>
          <p:nvPr/>
        </p:nvSpPr>
        <p:spPr>
          <a:xfrm>
            <a:off x="640080" y="5669280"/>
            <a:ext cx="8229600" cy="365760"/>
          </a:xfrm>
          <a:prstGeom prst="rect">
            <a:avLst/>
          </a:prstGeom>
          <a:noFill/>
          <a:ln/>
        </p:spPr>
        <p:txBody>
          <a:bodyPr wrap="square" lIns="0" tIns="0" rIns="0" bIns="0" rtlCol="0" anchor="t"/>
          <a:lstStyle/>
          <a:p>
            <a:pPr indent="0" marL="0">
              <a:buNone/>
            </a:pPr>
            <a:r>
              <a:rPr lang="en-US" sz="1400" dirty="0">
                <a:solidFill>
                  <a:schemeClr val="accent5"/>
                </a:solidFill>
              </a:rPr>
              <a:t>Team rm-rf-2  ·  </a:t>
            </a:r>
            <a:pPr indent="0" marL="0">
              <a:buNone/>
            </a:pPr>
            <a:r>
              <a:rPr lang="en-US" sz="1400" u="sng" dirty="0">
                <a:solidFill>
                  <a:srgbClr val="F2E6C9"/>
                </a:solidFill>
                <a:hlinkClick r:id="rId2" invalidUrl="" action="" tgtFrame="" tooltip="" history="1" highlightClick="0" endSnd="0">
                  <a:extLst>
                    <a:ext uri="{A12FA001-AC4F-418D-AE19-62706E023703}">
                      <ahyp:hlinkClr xmlns:ahyp="http://schemas.microsoft.com/office/drawing/2018/hyperlinkcolor" val="tx"/>
                    </a:ext>
                  </a:extLst>
                </a:hlinkClick>
              </a:rPr>
              <a:t>github.com/gino6178/ASUS_hackathon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1 · CONTEXT AND PROBLEM DEFINITION</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F2E6C9"/>
          </a:solidFill>
          <a:ln w="12700">
            <a:solidFill>
              <a:srgbClr val="F2E6C9"/>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111A20"/>
          </a:solidFill>
          <a:ln w="12700">
            <a:solidFill>
              <a:srgbClr val="111A20"/>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Pros get data-driven coaching. Everyone else guesses.</a:t>
            </a:r>
            <a:endParaRPr lang="en-US" sz="3000" dirty="0"/>
          </a:p>
        </p:txBody>
      </p:sp>
      <p:sp>
        <p:nvSpPr>
          <p:cNvPr id="14" name="shuttlecoach column"/>
          <p:cNvSpPr/>
          <p:nvPr/>
        </p:nvSpPr>
        <p:spPr>
          <a:xfrm>
            <a:off x="8915400" y="1463040"/>
            <a:ext cx="2788920" cy="4709160"/>
          </a:xfrm>
          <a:prstGeom prst="roundRect">
            <a:avLst>
              <a:gd name="adj" fmla="val 3279"/>
            </a:avLst>
          </a:prstGeom>
          <a:solidFill>
            <a:schemeClr val="accent6"/>
          </a:solidFill>
          <a:ln w="9525">
            <a:solidFill>
              <a:srgbClr val="F2E6C9"/>
            </a:solidFill>
            <a:prstDash val="solid"/>
          </a:ln>
        </p:spPr>
      </p:sp>
      <p:sp>
        <p:nvSpPr>
          <p:cNvPr id="15" name="column dot 0"/>
          <p:cNvSpPr/>
          <p:nvPr/>
        </p:nvSpPr>
        <p:spPr>
          <a:xfrm>
            <a:off x="3566160" y="1700784"/>
            <a:ext cx="201168" cy="201168"/>
          </a:xfrm>
          <a:prstGeom prst="ellipse">
            <a:avLst/>
          </a:prstGeom>
          <a:solidFill>
            <a:schemeClr val="accent5"/>
          </a:solidFill>
          <a:ln w="12700">
            <a:solidFill>
              <a:schemeClr val="accent5"/>
            </a:solidFill>
            <a:prstDash val="solid"/>
          </a:ln>
        </p:spPr>
      </p:sp>
      <p:sp>
        <p:nvSpPr>
          <p:cNvPr id="16" name="Text 14"/>
          <p:cNvSpPr txBox="1"/>
          <p:nvPr/>
        </p:nvSpPr>
        <p:spPr>
          <a:xfrm>
            <a:off x="3886200" y="1609344"/>
            <a:ext cx="2240280" cy="384048"/>
          </a:xfrm>
          <a:prstGeom prst="rect">
            <a:avLst/>
          </a:prstGeom>
          <a:noFill/>
          <a:ln/>
        </p:spPr>
        <p:txBody>
          <a:bodyPr wrap="square" lIns="0" tIns="0" rIns="0" bIns="0" rtlCol="0" anchor="ctr"/>
          <a:lstStyle/>
          <a:p>
            <a:pPr indent="0" marL="0">
              <a:buNone/>
            </a:pPr>
            <a:r>
              <a:rPr lang="en-US" sz="1700" b="1" dirty="0">
                <a:solidFill>
                  <a:schemeClr val="bg1"/>
                </a:solidFill>
              </a:rPr>
              <a:t>Hire an analyst</a:t>
            </a:r>
            <a:endParaRPr lang="en-US" sz="1700" dirty="0"/>
          </a:p>
        </p:txBody>
      </p:sp>
      <p:sp>
        <p:nvSpPr>
          <p:cNvPr id="17" name="column dot 1"/>
          <p:cNvSpPr/>
          <p:nvPr/>
        </p:nvSpPr>
        <p:spPr>
          <a:xfrm>
            <a:off x="6309360" y="1700784"/>
            <a:ext cx="201168" cy="201168"/>
          </a:xfrm>
          <a:prstGeom prst="ellipse">
            <a:avLst/>
          </a:prstGeom>
          <a:solidFill>
            <a:schemeClr val="accent3"/>
          </a:solidFill>
          <a:ln w="12700">
            <a:solidFill>
              <a:schemeClr val="accent3"/>
            </a:solidFill>
            <a:prstDash val="solid"/>
          </a:ln>
        </p:spPr>
      </p:sp>
      <p:sp>
        <p:nvSpPr>
          <p:cNvPr id="18" name="Text 16"/>
          <p:cNvSpPr txBox="1"/>
          <p:nvPr/>
        </p:nvSpPr>
        <p:spPr>
          <a:xfrm>
            <a:off x="6629400" y="1609344"/>
            <a:ext cx="2240280" cy="384048"/>
          </a:xfrm>
          <a:prstGeom prst="rect">
            <a:avLst/>
          </a:prstGeom>
          <a:noFill/>
          <a:ln/>
        </p:spPr>
        <p:txBody>
          <a:bodyPr wrap="square" lIns="0" tIns="0" rIns="0" bIns="0" rtlCol="0" anchor="ctr"/>
          <a:lstStyle/>
          <a:p>
            <a:pPr indent="0" marL="0">
              <a:buNone/>
            </a:pPr>
            <a:r>
              <a:rPr lang="en-US" sz="1700" b="1" dirty="0">
                <a:solidFill>
                  <a:schemeClr val="bg1"/>
                </a:solidFill>
              </a:rPr>
              <a:t>Cloud analysis app</a:t>
            </a:r>
            <a:endParaRPr lang="en-US" sz="1700" dirty="0"/>
          </a:p>
        </p:txBody>
      </p:sp>
      <p:sp>
        <p:nvSpPr>
          <p:cNvPr id="19" name="column dot 2"/>
          <p:cNvSpPr/>
          <p:nvPr/>
        </p:nvSpPr>
        <p:spPr>
          <a:xfrm>
            <a:off x="9052560" y="1700784"/>
            <a:ext cx="201168" cy="201168"/>
          </a:xfrm>
          <a:prstGeom prst="ellipse">
            <a:avLst/>
          </a:prstGeom>
          <a:solidFill>
            <a:schemeClr val="accent1"/>
          </a:solidFill>
          <a:ln w="12700">
            <a:solidFill>
              <a:schemeClr val="accent1"/>
            </a:solidFill>
            <a:prstDash val="solid"/>
          </a:ln>
        </p:spPr>
      </p:sp>
      <p:sp>
        <p:nvSpPr>
          <p:cNvPr id="20" name="Text 18"/>
          <p:cNvSpPr txBox="1"/>
          <p:nvPr/>
        </p:nvSpPr>
        <p:spPr>
          <a:xfrm>
            <a:off x="9372600" y="1609344"/>
            <a:ext cx="2240280" cy="384048"/>
          </a:xfrm>
          <a:prstGeom prst="rect">
            <a:avLst/>
          </a:prstGeom>
          <a:noFill/>
          <a:ln/>
        </p:spPr>
        <p:txBody>
          <a:bodyPr wrap="square" lIns="0" tIns="0" rIns="0" bIns="0" rtlCol="0" anchor="ctr"/>
          <a:lstStyle/>
          <a:p>
            <a:pPr indent="0" marL="0">
              <a:buNone/>
            </a:pPr>
            <a:r>
              <a:rPr lang="en-US" sz="1700" b="1" dirty="0">
                <a:solidFill>
                  <a:schemeClr val="accent1"/>
                </a:solidFill>
              </a:rPr>
              <a:t>ShuttleCoach</a:t>
            </a:r>
            <a:endParaRPr lang="en-US" sz="1700" dirty="0"/>
          </a:p>
        </p:txBody>
      </p:sp>
      <p:sp>
        <p:nvSpPr>
          <p:cNvPr id="21" name="row rule 0"/>
          <p:cNvSpPr/>
          <p:nvPr/>
        </p:nvSpPr>
        <p:spPr>
          <a:xfrm>
            <a:off x="548640" y="2148840"/>
            <a:ext cx="11064240" cy="0"/>
          </a:xfrm>
          <a:prstGeom prst="line">
            <a:avLst/>
          </a:prstGeom>
          <a:noFill/>
          <a:ln w="9525">
            <a:solidFill>
              <a:srgbClr val="111A20"/>
            </a:solidFill>
            <a:prstDash val="solid"/>
          </a:ln>
        </p:spPr>
      </p:sp>
      <p:sp>
        <p:nvSpPr>
          <p:cNvPr id="22" name="Text 20"/>
          <p:cNvSpPr txBox="1"/>
          <p:nvPr/>
        </p:nvSpPr>
        <p:spPr>
          <a:xfrm>
            <a:off x="548640" y="2240280"/>
            <a:ext cx="2834640" cy="466344"/>
          </a:xfrm>
          <a:prstGeom prst="rect">
            <a:avLst/>
          </a:prstGeom>
          <a:noFill/>
          <a:ln/>
        </p:spPr>
        <p:txBody>
          <a:bodyPr wrap="square" lIns="0" tIns="0" rIns="0" bIns="0" rtlCol="0" anchor="ctr"/>
          <a:lstStyle/>
          <a:p>
            <a:pPr indent="0" marL="0">
              <a:buNone/>
            </a:pPr>
            <a:r>
              <a:rPr lang="en-US" sz="1350" dirty="0">
                <a:solidFill>
                  <a:schemeClr val="accent5"/>
                </a:solidFill>
              </a:rPr>
              <a:t>Match video leaves the court</a:t>
            </a:r>
            <a:endParaRPr lang="en-US" sz="1350" dirty="0"/>
          </a:p>
        </p:txBody>
      </p:sp>
      <p:sp>
        <p:nvSpPr>
          <p:cNvPr id="23" name="Text 21"/>
          <p:cNvSpPr txBox="1"/>
          <p:nvPr/>
        </p:nvSpPr>
        <p:spPr>
          <a:xfrm>
            <a:off x="3566160" y="2240280"/>
            <a:ext cx="2514600" cy="466344"/>
          </a:xfrm>
          <a:prstGeom prst="rect">
            <a:avLst/>
          </a:prstGeom>
          <a:noFill/>
          <a:ln/>
        </p:spPr>
        <p:txBody>
          <a:bodyPr wrap="square" lIns="0" tIns="0" rIns="0" bIns="0" rtlCol="0" anchor="ctr"/>
          <a:lstStyle/>
          <a:p>
            <a:pPr indent="0" marL="0">
              <a:buNone/>
            </a:pPr>
            <a:r>
              <a:rPr lang="en-US" sz="1450" dirty="0">
                <a:solidFill>
                  <a:schemeClr val="bg2"/>
                </a:solidFill>
              </a:rPr>
              <a:t>Shared with a person</a:t>
            </a:r>
            <a:endParaRPr lang="en-US" sz="1450" dirty="0"/>
          </a:p>
        </p:txBody>
      </p:sp>
      <p:sp>
        <p:nvSpPr>
          <p:cNvPr id="24" name="Text 22"/>
          <p:cNvSpPr txBox="1"/>
          <p:nvPr/>
        </p:nvSpPr>
        <p:spPr>
          <a:xfrm>
            <a:off x="6309360" y="2240280"/>
            <a:ext cx="2514600" cy="466344"/>
          </a:xfrm>
          <a:prstGeom prst="rect">
            <a:avLst/>
          </a:prstGeom>
          <a:noFill/>
          <a:ln/>
        </p:spPr>
        <p:txBody>
          <a:bodyPr wrap="square" lIns="0" tIns="0" rIns="0" bIns="0" rtlCol="0" anchor="ctr"/>
          <a:lstStyle/>
          <a:p>
            <a:pPr indent="0" marL="0">
              <a:buNone/>
            </a:pPr>
            <a:r>
              <a:rPr lang="en-US" sz="1450" dirty="0">
                <a:solidFill>
                  <a:schemeClr val="accent3"/>
                </a:solidFill>
              </a:rPr>
              <a:t>Uploaded to a server</a:t>
            </a:r>
            <a:endParaRPr lang="en-US" sz="1450" dirty="0"/>
          </a:p>
        </p:txBody>
      </p:sp>
      <p:sp>
        <p:nvSpPr>
          <p:cNvPr id="25" name="Text 23"/>
          <p:cNvSpPr txBox="1"/>
          <p:nvPr/>
        </p:nvSpPr>
        <p:spPr>
          <a:xfrm>
            <a:off x="9052560" y="2240280"/>
            <a:ext cx="2514600" cy="466344"/>
          </a:xfrm>
          <a:prstGeom prst="rect">
            <a:avLst/>
          </a:prstGeom>
          <a:noFill/>
          <a:ln/>
        </p:spPr>
        <p:txBody>
          <a:bodyPr wrap="square" lIns="0" tIns="0" rIns="0" bIns="0" rtlCol="0" anchor="ctr"/>
          <a:lstStyle/>
          <a:p>
            <a:pPr indent="0" marL="0">
              <a:buNone/>
            </a:pPr>
            <a:r>
              <a:rPr lang="en-US" sz="1450" b="1" dirty="0">
                <a:solidFill>
                  <a:schemeClr val="bg1"/>
                </a:solidFill>
              </a:rPr>
              <a:t>Never: 0 bytes leave</a:t>
            </a:r>
            <a:endParaRPr lang="en-US" sz="1450" dirty="0"/>
          </a:p>
        </p:txBody>
      </p:sp>
      <p:sp>
        <p:nvSpPr>
          <p:cNvPr id="26" name="row rule 1"/>
          <p:cNvSpPr/>
          <p:nvPr/>
        </p:nvSpPr>
        <p:spPr>
          <a:xfrm>
            <a:off x="548640" y="2752344"/>
            <a:ext cx="11064240" cy="0"/>
          </a:xfrm>
          <a:prstGeom prst="line">
            <a:avLst/>
          </a:prstGeom>
          <a:noFill/>
          <a:ln w="9525">
            <a:solidFill>
              <a:srgbClr val="111A20"/>
            </a:solidFill>
            <a:prstDash val="solid"/>
          </a:ln>
        </p:spPr>
      </p:sp>
      <p:sp>
        <p:nvSpPr>
          <p:cNvPr id="27" name="Text 25"/>
          <p:cNvSpPr txBox="1"/>
          <p:nvPr/>
        </p:nvSpPr>
        <p:spPr>
          <a:xfrm>
            <a:off x="548640" y="2843784"/>
            <a:ext cx="2834640" cy="466344"/>
          </a:xfrm>
          <a:prstGeom prst="rect">
            <a:avLst/>
          </a:prstGeom>
          <a:noFill/>
          <a:ln/>
        </p:spPr>
        <p:txBody>
          <a:bodyPr wrap="square" lIns="0" tIns="0" rIns="0" bIns="0" rtlCol="0" anchor="ctr"/>
          <a:lstStyle/>
          <a:p>
            <a:pPr indent="0" marL="0">
              <a:buNone/>
            </a:pPr>
            <a:r>
              <a:rPr lang="en-US" sz="1350" dirty="0">
                <a:solidFill>
                  <a:schemeClr val="accent5"/>
                </a:solidFill>
              </a:rPr>
              <a:t>Time to a report</a:t>
            </a:r>
            <a:endParaRPr lang="en-US" sz="1350" dirty="0"/>
          </a:p>
        </p:txBody>
      </p:sp>
      <p:sp>
        <p:nvSpPr>
          <p:cNvPr id="28" name="Text 26"/>
          <p:cNvSpPr txBox="1"/>
          <p:nvPr/>
        </p:nvSpPr>
        <p:spPr>
          <a:xfrm>
            <a:off x="3566160" y="2843784"/>
            <a:ext cx="2514600" cy="466344"/>
          </a:xfrm>
          <a:prstGeom prst="rect">
            <a:avLst/>
          </a:prstGeom>
          <a:noFill/>
          <a:ln/>
        </p:spPr>
        <p:txBody>
          <a:bodyPr wrap="square" lIns="0" tIns="0" rIns="0" bIns="0" rtlCol="0" anchor="ctr"/>
          <a:lstStyle/>
          <a:p>
            <a:pPr indent="0" marL="0">
              <a:buNone/>
            </a:pPr>
            <a:r>
              <a:rPr lang="en-US" sz="1450" dirty="0">
                <a:solidFill>
                  <a:schemeClr val="bg2"/>
                </a:solidFill>
              </a:rPr>
              <a:t>Days</a:t>
            </a:r>
            <a:endParaRPr lang="en-US" sz="1450" dirty="0"/>
          </a:p>
        </p:txBody>
      </p:sp>
      <p:sp>
        <p:nvSpPr>
          <p:cNvPr id="29" name="Text 27"/>
          <p:cNvSpPr txBox="1"/>
          <p:nvPr/>
        </p:nvSpPr>
        <p:spPr>
          <a:xfrm>
            <a:off x="6309360" y="2843784"/>
            <a:ext cx="2514600" cy="466344"/>
          </a:xfrm>
          <a:prstGeom prst="rect">
            <a:avLst/>
          </a:prstGeom>
          <a:noFill/>
          <a:ln/>
        </p:spPr>
        <p:txBody>
          <a:bodyPr wrap="square" lIns="0" tIns="0" rIns="0" bIns="0" rtlCol="0" anchor="ctr"/>
          <a:lstStyle/>
          <a:p>
            <a:pPr indent="0" marL="0">
              <a:buNone/>
            </a:pPr>
            <a:r>
              <a:rPr lang="en-US" sz="1450" dirty="0">
                <a:solidFill>
                  <a:schemeClr val="bg2"/>
                </a:solidFill>
              </a:rPr>
              <a:t>Upload, then queue</a:t>
            </a:r>
            <a:endParaRPr lang="en-US" sz="1450" dirty="0"/>
          </a:p>
        </p:txBody>
      </p:sp>
      <p:sp>
        <p:nvSpPr>
          <p:cNvPr id="30" name="Text 28"/>
          <p:cNvSpPr txBox="1"/>
          <p:nvPr/>
        </p:nvSpPr>
        <p:spPr>
          <a:xfrm>
            <a:off x="9052560" y="2843784"/>
            <a:ext cx="2514600" cy="466344"/>
          </a:xfrm>
          <a:prstGeom prst="rect">
            <a:avLst/>
          </a:prstGeom>
          <a:noFill/>
          <a:ln/>
        </p:spPr>
        <p:txBody>
          <a:bodyPr wrap="square" lIns="0" tIns="0" rIns="0" bIns="0" rtlCol="0" anchor="ctr"/>
          <a:lstStyle/>
          <a:p>
            <a:pPr indent="0" marL="0">
              <a:buNone/>
            </a:pPr>
            <a:r>
              <a:rPr lang="en-US" sz="1450" b="1" dirty="0">
                <a:solidFill>
                  <a:schemeClr val="bg1"/>
                </a:solidFill>
              </a:rPr>
              <a:t>≤ match length</a:t>
            </a:r>
            <a:endParaRPr lang="en-US" sz="1450" dirty="0"/>
          </a:p>
        </p:txBody>
      </p:sp>
      <p:sp>
        <p:nvSpPr>
          <p:cNvPr id="31" name="row rule 2"/>
          <p:cNvSpPr/>
          <p:nvPr/>
        </p:nvSpPr>
        <p:spPr>
          <a:xfrm>
            <a:off x="548640" y="3355848"/>
            <a:ext cx="11064240" cy="0"/>
          </a:xfrm>
          <a:prstGeom prst="line">
            <a:avLst/>
          </a:prstGeom>
          <a:noFill/>
          <a:ln w="9525">
            <a:solidFill>
              <a:srgbClr val="111A20"/>
            </a:solidFill>
            <a:prstDash val="solid"/>
          </a:ln>
        </p:spPr>
      </p:sp>
      <p:sp>
        <p:nvSpPr>
          <p:cNvPr id="32" name="Text 30"/>
          <p:cNvSpPr txBox="1"/>
          <p:nvPr/>
        </p:nvSpPr>
        <p:spPr>
          <a:xfrm>
            <a:off x="548640" y="3447288"/>
            <a:ext cx="2834640" cy="466344"/>
          </a:xfrm>
          <a:prstGeom prst="rect">
            <a:avLst/>
          </a:prstGeom>
          <a:noFill/>
          <a:ln/>
        </p:spPr>
        <p:txBody>
          <a:bodyPr wrap="square" lIns="0" tIns="0" rIns="0" bIns="0" rtlCol="0" anchor="ctr"/>
          <a:lstStyle/>
          <a:p>
            <a:pPr indent="0" marL="0">
              <a:buNone/>
            </a:pPr>
            <a:r>
              <a:rPr lang="en-US" sz="1350" dirty="0">
                <a:solidFill>
                  <a:schemeClr val="accent5"/>
                </a:solidFill>
              </a:rPr>
              <a:t>Cost model</a:t>
            </a:r>
            <a:endParaRPr lang="en-US" sz="1350" dirty="0"/>
          </a:p>
        </p:txBody>
      </p:sp>
      <p:sp>
        <p:nvSpPr>
          <p:cNvPr id="33" name="Text 31"/>
          <p:cNvSpPr txBox="1"/>
          <p:nvPr/>
        </p:nvSpPr>
        <p:spPr>
          <a:xfrm>
            <a:off x="3566160" y="3447288"/>
            <a:ext cx="2514600" cy="466344"/>
          </a:xfrm>
          <a:prstGeom prst="rect">
            <a:avLst/>
          </a:prstGeom>
          <a:noFill/>
          <a:ln/>
        </p:spPr>
        <p:txBody>
          <a:bodyPr wrap="square" lIns="0" tIns="0" rIns="0" bIns="0" rtlCol="0" anchor="ctr"/>
          <a:lstStyle/>
          <a:p>
            <a:pPr indent="0" marL="0">
              <a:buNone/>
            </a:pPr>
            <a:r>
              <a:rPr lang="en-US" sz="1450" dirty="0">
                <a:solidFill>
                  <a:schemeClr val="bg2"/>
                </a:solidFill>
              </a:rPr>
              <a:t>Salary or per-match fee</a:t>
            </a:r>
            <a:endParaRPr lang="en-US" sz="1450" dirty="0"/>
          </a:p>
        </p:txBody>
      </p:sp>
      <p:sp>
        <p:nvSpPr>
          <p:cNvPr id="34" name="Text 32"/>
          <p:cNvSpPr txBox="1"/>
          <p:nvPr/>
        </p:nvSpPr>
        <p:spPr>
          <a:xfrm>
            <a:off x="6309360" y="3447288"/>
            <a:ext cx="2514600" cy="466344"/>
          </a:xfrm>
          <a:prstGeom prst="rect">
            <a:avLst/>
          </a:prstGeom>
          <a:noFill/>
          <a:ln/>
        </p:spPr>
        <p:txBody>
          <a:bodyPr wrap="square" lIns="0" tIns="0" rIns="0" bIns="0" rtlCol="0" anchor="ctr"/>
          <a:lstStyle/>
          <a:p>
            <a:pPr indent="0" marL="0">
              <a:buNone/>
            </a:pPr>
            <a:r>
              <a:rPr lang="en-US" sz="1450" dirty="0">
                <a:solidFill>
                  <a:schemeClr val="bg2"/>
                </a:solidFill>
              </a:rPr>
              <a:t>Monthly, per player</a:t>
            </a:r>
            <a:endParaRPr lang="en-US" sz="1450" dirty="0"/>
          </a:p>
        </p:txBody>
      </p:sp>
      <p:sp>
        <p:nvSpPr>
          <p:cNvPr id="35" name="Text 33"/>
          <p:cNvSpPr txBox="1"/>
          <p:nvPr/>
        </p:nvSpPr>
        <p:spPr>
          <a:xfrm>
            <a:off x="9052560" y="3447288"/>
            <a:ext cx="2514600" cy="466344"/>
          </a:xfrm>
          <a:prstGeom prst="rect">
            <a:avLst/>
          </a:prstGeom>
          <a:noFill/>
          <a:ln/>
        </p:spPr>
        <p:txBody>
          <a:bodyPr wrap="square" lIns="0" tIns="0" rIns="0" bIns="0" rtlCol="0" anchor="ctr"/>
          <a:lstStyle/>
          <a:p>
            <a:pPr indent="0" marL="0">
              <a:buNone/>
            </a:pPr>
            <a:r>
              <a:rPr lang="en-US" sz="1450" b="1" dirty="0">
                <a:solidFill>
                  <a:schemeClr val="bg1"/>
                </a:solidFill>
              </a:rPr>
              <a:t>One station + yearly update</a:t>
            </a:r>
            <a:endParaRPr lang="en-US" sz="1450" dirty="0"/>
          </a:p>
        </p:txBody>
      </p:sp>
      <p:sp>
        <p:nvSpPr>
          <p:cNvPr id="36" name="row rule 3"/>
          <p:cNvSpPr/>
          <p:nvPr/>
        </p:nvSpPr>
        <p:spPr>
          <a:xfrm>
            <a:off x="548640" y="3959352"/>
            <a:ext cx="11064240" cy="0"/>
          </a:xfrm>
          <a:prstGeom prst="line">
            <a:avLst/>
          </a:prstGeom>
          <a:noFill/>
          <a:ln w="9525">
            <a:solidFill>
              <a:srgbClr val="111A20"/>
            </a:solidFill>
            <a:prstDash val="solid"/>
          </a:ln>
        </p:spPr>
      </p:sp>
      <p:sp>
        <p:nvSpPr>
          <p:cNvPr id="37" name="Text 35"/>
          <p:cNvSpPr txBox="1"/>
          <p:nvPr/>
        </p:nvSpPr>
        <p:spPr>
          <a:xfrm>
            <a:off x="548640" y="4050792"/>
            <a:ext cx="2834640" cy="466344"/>
          </a:xfrm>
          <a:prstGeom prst="rect">
            <a:avLst/>
          </a:prstGeom>
          <a:noFill/>
          <a:ln/>
        </p:spPr>
        <p:txBody>
          <a:bodyPr wrap="square" lIns="0" tIns="0" rIns="0" bIns="0" rtlCol="0" anchor="ctr"/>
          <a:lstStyle/>
          <a:p>
            <a:pPr indent="0" marL="0">
              <a:buNone/>
            </a:pPr>
            <a:r>
              <a:rPr lang="en-US" sz="1350" dirty="0">
                <a:solidFill>
                  <a:schemeClr val="accent5"/>
                </a:solidFill>
              </a:rPr>
              <a:t>Works with no internet</a:t>
            </a:r>
            <a:endParaRPr lang="en-US" sz="1350" dirty="0"/>
          </a:p>
        </p:txBody>
      </p:sp>
      <p:sp>
        <p:nvSpPr>
          <p:cNvPr id="38" name="Text 36"/>
          <p:cNvSpPr txBox="1"/>
          <p:nvPr/>
        </p:nvSpPr>
        <p:spPr>
          <a:xfrm>
            <a:off x="3566160" y="4050792"/>
            <a:ext cx="2514600" cy="466344"/>
          </a:xfrm>
          <a:prstGeom prst="rect">
            <a:avLst/>
          </a:prstGeom>
          <a:noFill/>
          <a:ln/>
        </p:spPr>
        <p:txBody>
          <a:bodyPr wrap="square" lIns="0" tIns="0" rIns="0" bIns="0" rtlCol="0" anchor="ctr"/>
          <a:lstStyle/>
          <a:p>
            <a:pPr indent="0" marL="0">
              <a:buNone/>
            </a:pPr>
            <a:r>
              <a:rPr lang="en-US" sz="1450" dirty="0">
                <a:solidFill>
                  <a:schemeClr val="bg2"/>
                </a:solidFill>
              </a:rPr>
              <a:t>Yes</a:t>
            </a:r>
            <a:endParaRPr lang="en-US" sz="1450" dirty="0"/>
          </a:p>
        </p:txBody>
      </p:sp>
      <p:sp>
        <p:nvSpPr>
          <p:cNvPr id="39" name="Text 37"/>
          <p:cNvSpPr txBox="1"/>
          <p:nvPr/>
        </p:nvSpPr>
        <p:spPr>
          <a:xfrm>
            <a:off x="6309360" y="4050792"/>
            <a:ext cx="2514600" cy="466344"/>
          </a:xfrm>
          <a:prstGeom prst="rect">
            <a:avLst/>
          </a:prstGeom>
          <a:noFill/>
          <a:ln/>
        </p:spPr>
        <p:txBody>
          <a:bodyPr wrap="square" lIns="0" tIns="0" rIns="0" bIns="0" rtlCol="0" anchor="ctr"/>
          <a:lstStyle/>
          <a:p>
            <a:pPr indent="0" marL="0">
              <a:buNone/>
            </a:pPr>
            <a:r>
              <a:rPr lang="en-US" sz="1450" dirty="0">
                <a:solidFill>
                  <a:schemeClr val="bg2"/>
                </a:solidFill>
              </a:rPr>
              <a:t>No</a:t>
            </a:r>
            <a:endParaRPr lang="en-US" sz="1450" dirty="0"/>
          </a:p>
        </p:txBody>
      </p:sp>
      <p:sp>
        <p:nvSpPr>
          <p:cNvPr id="40" name="Text 38"/>
          <p:cNvSpPr txBox="1"/>
          <p:nvPr/>
        </p:nvSpPr>
        <p:spPr>
          <a:xfrm>
            <a:off x="9052560" y="4050792"/>
            <a:ext cx="2514600" cy="466344"/>
          </a:xfrm>
          <a:prstGeom prst="rect">
            <a:avLst/>
          </a:prstGeom>
          <a:noFill/>
          <a:ln/>
        </p:spPr>
        <p:txBody>
          <a:bodyPr wrap="square" lIns="0" tIns="0" rIns="0" bIns="0" rtlCol="0" anchor="ctr"/>
          <a:lstStyle/>
          <a:p>
            <a:pPr indent="0" marL="0">
              <a:buNone/>
            </a:pPr>
            <a:r>
              <a:rPr lang="en-US" sz="1450" b="1" dirty="0">
                <a:solidFill>
                  <a:schemeClr val="bg1"/>
                </a:solidFill>
              </a:rPr>
              <a:t>Yes</a:t>
            </a:r>
            <a:endParaRPr lang="en-US" sz="1450" dirty="0"/>
          </a:p>
        </p:txBody>
      </p:sp>
      <p:sp>
        <p:nvSpPr>
          <p:cNvPr id="41" name="row rule 4"/>
          <p:cNvSpPr/>
          <p:nvPr/>
        </p:nvSpPr>
        <p:spPr>
          <a:xfrm>
            <a:off x="548640" y="4562856"/>
            <a:ext cx="11064240" cy="0"/>
          </a:xfrm>
          <a:prstGeom prst="line">
            <a:avLst/>
          </a:prstGeom>
          <a:noFill/>
          <a:ln w="9525">
            <a:solidFill>
              <a:srgbClr val="111A20"/>
            </a:solidFill>
            <a:prstDash val="solid"/>
          </a:ln>
        </p:spPr>
      </p:sp>
      <p:sp>
        <p:nvSpPr>
          <p:cNvPr id="42" name="Text 40"/>
          <p:cNvSpPr txBox="1"/>
          <p:nvPr/>
        </p:nvSpPr>
        <p:spPr>
          <a:xfrm>
            <a:off x="548640" y="4654296"/>
            <a:ext cx="2834640" cy="466344"/>
          </a:xfrm>
          <a:prstGeom prst="rect">
            <a:avLst/>
          </a:prstGeom>
          <a:noFill/>
          <a:ln/>
        </p:spPr>
        <p:txBody>
          <a:bodyPr wrap="square" lIns="0" tIns="0" rIns="0" bIns="0" rtlCol="0" anchor="ctr"/>
          <a:lstStyle/>
          <a:p>
            <a:pPr indent="0" marL="0">
              <a:buNone/>
            </a:pPr>
            <a:r>
              <a:rPr lang="en-US" sz="1350" dirty="0">
                <a:solidFill>
                  <a:schemeClr val="accent5"/>
                </a:solidFill>
              </a:rPr>
              <a:t>3D flight and shot speed</a:t>
            </a:r>
            <a:endParaRPr lang="en-US" sz="1350" dirty="0"/>
          </a:p>
        </p:txBody>
      </p:sp>
      <p:sp>
        <p:nvSpPr>
          <p:cNvPr id="43" name="Text 41"/>
          <p:cNvSpPr txBox="1"/>
          <p:nvPr/>
        </p:nvSpPr>
        <p:spPr>
          <a:xfrm>
            <a:off x="3566160" y="4654296"/>
            <a:ext cx="2514600" cy="466344"/>
          </a:xfrm>
          <a:prstGeom prst="rect">
            <a:avLst/>
          </a:prstGeom>
          <a:noFill/>
          <a:ln/>
        </p:spPr>
        <p:txBody>
          <a:bodyPr wrap="square" lIns="0" tIns="0" rIns="0" bIns="0" rtlCol="0" anchor="ctr"/>
          <a:lstStyle/>
          <a:p>
            <a:pPr indent="0" marL="0">
              <a:buNone/>
            </a:pPr>
            <a:r>
              <a:rPr lang="en-US" sz="1450" dirty="0">
                <a:solidFill>
                  <a:schemeClr val="bg2"/>
                </a:solidFill>
              </a:rPr>
              <a:t>Rarely</a:t>
            </a:r>
            <a:endParaRPr lang="en-US" sz="1450" dirty="0"/>
          </a:p>
        </p:txBody>
      </p:sp>
      <p:sp>
        <p:nvSpPr>
          <p:cNvPr id="44" name="Text 42"/>
          <p:cNvSpPr txBox="1"/>
          <p:nvPr/>
        </p:nvSpPr>
        <p:spPr>
          <a:xfrm>
            <a:off x="6309360" y="4654296"/>
            <a:ext cx="2514600" cy="466344"/>
          </a:xfrm>
          <a:prstGeom prst="rect">
            <a:avLst/>
          </a:prstGeom>
          <a:noFill/>
          <a:ln/>
        </p:spPr>
        <p:txBody>
          <a:bodyPr wrap="square" lIns="0" tIns="0" rIns="0" bIns="0" rtlCol="0" anchor="ctr"/>
          <a:lstStyle/>
          <a:p>
            <a:pPr indent="0" marL="0">
              <a:buNone/>
            </a:pPr>
            <a:r>
              <a:rPr lang="en-US" sz="1450" dirty="0">
                <a:solidFill>
                  <a:schemeClr val="bg2"/>
                </a:solidFill>
              </a:rPr>
              <a:t>2D stats</a:t>
            </a:r>
            <a:endParaRPr lang="en-US" sz="1450" dirty="0"/>
          </a:p>
        </p:txBody>
      </p:sp>
      <p:sp>
        <p:nvSpPr>
          <p:cNvPr id="45" name="Text 43"/>
          <p:cNvSpPr txBox="1"/>
          <p:nvPr/>
        </p:nvSpPr>
        <p:spPr>
          <a:xfrm>
            <a:off x="9052560" y="4654296"/>
            <a:ext cx="2514600" cy="466344"/>
          </a:xfrm>
          <a:prstGeom prst="rect">
            <a:avLst/>
          </a:prstGeom>
          <a:noFill/>
          <a:ln/>
        </p:spPr>
        <p:txBody>
          <a:bodyPr wrap="square" lIns="0" tIns="0" rIns="0" bIns="0" rtlCol="0" anchor="ctr"/>
          <a:lstStyle/>
          <a:p>
            <a:pPr indent="0" marL="0">
              <a:buNone/>
            </a:pPr>
            <a:r>
              <a:rPr lang="en-US" sz="1450" b="1" dirty="0">
                <a:solidFill>
                  <a:schemeClr val="bg1"/>
                </a:solidFill>
              </a:rPr>
              <a:t>Every shot, metric 3D</a:t>
            </a:r>
            <a:endParaRPr lang="en-US" sz="1450" dirty="0"/>
          </a:p>
        </p:txBody>
      </p:sp>
      <p:sp>
        <p:nvSpPr>
          <p:cNvPr id="46" name="row rule 5"/>
          <p:cNvSpPr/>
          <p:nvPr/>
        </p:nvSpPr>
        <p:spPr>
          <a:xfrm>
            <a:off x="548640" y="5166360"/>
            <a:ext cx="11064240" cy="0"/>
          </a:xfrm>
          <a:prstGeom prst="line">
            <a:avLst/>
          </a:prstGeom>
          <a:noFill/>
          <a:ln w="9525">
            <a:solidFill>
              <a:srgbClr val="111A20"/>
            </a:solidFill>
            <a:prstDash val="solid"/>
          </a:ln>
        </p:spPr>
      </p:sp>
      <p:sp>
        <p:nvSpPr>
          <p:cNvPr id="47" name="Text 45"/>
          <p:cNvSpPr txBox="1"/>
          <p:nvPr/>
        </p:nvSpPr>
        <p:spPr>
          <a:xfrm>
            <a:off x="548640" y="5257800"/>
            <a:ext cx="2834640" cy="466344"/>
          </a:xfrm>
          <a:prstGeom prst="rect">
            <a:avLst/>
          </a:prstGeom>
          <a:noFill/>
          <a:ln/>
        </p:spPr>
        <p:txBody>
          <a:bodyPr wrap="square" lIns="0" tIns="0" rIns="0" bIns="0" rtlCol="0" anchor="ctr"/>
          <a:lstStyle/>
          <a:p>
            <a:pPr indent="0" marL="0">
              <a:buNone/>
            </a:pPr>
            <a:r>
              <a:rPr lang="en-US" sz="1350" dirty="0">
                <a:solidFill>
                  <a:schemeClr val="accent5"/>
                </a:solidFill>
              </a:rPr>
              <a:t>Plan adapted to the player</a:t>
            </a:r>
            <a:endParaRPr lang="en-US" sz="1350" dirty="0"/>
          </a:p>
        </p:txBody>
      </p:sp>
      <p:sp>
        <p:nvSpPr>
          <p:cNvPr id="48" name="Text 46"/>
          <p:cNvSpPr txBox="1"/>
          <p:nvPr/>
        </p:nvSpPr>
        <p:spPr>
          <a:xfrm>
            <a:off x="3566160" y="5257800"/>
            <a:ext cx="2514600" cy="466344"/>
          </a:xfrm>
          <a:prstGeom prst="rect">
            <a:avLst/>
          </a:prstGeom>
          <a:noFill/>
          <a:ln/>
        </p:spPr>
        <p:txBody>
          <a:bodyPr wrap="square" lIns="0" tIns="0" rIns="0" bIns="0" rtlCol="0" anchor="ctr"/>
          <a:lstStyle/>
          <a:p>
            <a:pPr indent="0" marL="0">
              <a:buNone/>
            </a:pPr>
            <a:r>
              <a:rPr lang="en-US" sz="1450" dirty="0">
                <a:solidFill>
                  <a:schemeClr val="bg2"/>
                </a:solidFill>
              </a:rPr>
              <a:t>If there is time</a:t>
            </a:r>
            <a:endParaRPr lang="en-US" sz="1450" dirty="0"/>
          </a:p>
        </p:txBody>
      </p:sp>
      <p:sp>
        <p:nvSpPr>
          <p:cNvPr id="49" name="Text 47"/>
          <p:cNvSpPr txBox="1"/>
          <p:nvPr/>
        </p:nvSpPr>
        <p:spPr>
          <a:xfrm>
            <a:off x="6309360" y="5257800"/>
            <a:ext cx="2514600" cy="466344"/>
          </a:xfrm>
          <a:prstGeom prst="rect">
            <a:avLst/>
          </a:prstGeom>
          <a:noFill/>
          <a:ln/>
        </p:spPr>
        <p:txBody>
          <a:bodyPr wrap="square" lIns="0" tIns="0" rIns="0" bIns="0" rtlCol="0" anchor="ctr"/>
          <a:lstStyle/>
          <a:p>
            <a:pPr indent="0" marL="0">
              <a:buNone/>
            </a:pPr>
            <a:r>
              <a:rPr lang="en-US" sz="1450" dirty="0">
                <a:solidFill>
                  <a:schemeClr val="bg2"/>
                </a:solidFill>
              </a:rPr>
              <a:t>Generic tips</a:t>
            </a:r>
            <a:endParaRPr lang="en-US" sz="1450" dirty="0"/>
          </a:p>
        </p:txBody>
      </p:sp>
      <p:sp>
        <p:nvSpPr>
          <p:cNvPr id="50" name="Text 48"/>
          <p:cNvSpPr txBox="1"/>
          <p:nvPr/>
        </p:nvSpPr>
        <p:spPr>
          <a:xfrm>
            <a:off x="9052560" y="5257800"/>
            <a:ext cx="2514600" cy="466344"/>
          </a:xfrm>
          <a:prstGeom prst="rect">
            <a:avLst/>
          </a:prstGeom>
          <a:noFill/>
          <a:ln/>
        </p:spPr>
        <p:txBody>
          <a:bodyPr wrap="square" lIns="0" tIns="0" rIns="0" bIns="0" rtlCol="0" anchor="ctr"/>
          <a:lstStyle/>
          <a:p>
            <a:pPr indent="0" marL="0">
              <a:buNone/>
            </a:pPr>
            <a:r>
              <a:rPr lang="en-US" sz="1450" b="1" dirty="0">
                <a:solidFill>
                  <a:schemeClr val="bg1"/>
                </a:solidFill>
              </a:rPr>
              <a:t>A coaching staff that debates and learns</a:t>
            </a:r>
            <a:endParaRPr lang="en-US" sz="1450" dirty="0"/>
          </a:p>
        </p:txBody>
      </p:sp>
      <p:sp>
        <p:nvSpPr>
          <p:cNvPr id="51" name="Text 49"/>
          <p:cNvSpPr txBox="1"/>
          <p:nvPr/>
        </p:nvSpPr>
        <p:spPr>
          <a:xfrm>
            <a:off x="548640" y="5897880"/>
            <a:ext cx="8229600" cy="320040"/>
          </a:xfrm>
          <a:prstGeom prst="rect">
            <a:avLst/>
          </a:prstGeom>
          <a:noFill/>
          <a:ln/>
        </p:spPr>
        <p:txBody>
          <a:bodyPr wrap="square" lIns="0" tIns="0" rIns="0" bIns="0" rtlCol="0" anchor="t"/>
          <a:lstStyle/>
          <a:p>
            <a:pPr indent="0" marL="0">
              <a:buNone/>
            </a:pPr>
            <a:r>
              <a:rPr lang="en-US" sz="1400" i="1" dirty="0">
                <a:solidFill>
                  <a:schemeClr val="accent1"/>
                </a:solidFill>
              </a:rPr>
              <a:t>Pro insight, priced for a club, and the footage never leaves the building.</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1 · CONTEXT AND PROBLEM DEFINITION</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F2E6C9"/>
          </a:solidFill>
          <a:ln w="12700">
            <a:solidFill>
              <a:srgbClr val="F2E6C9"/>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111A20"/>
          </a:solidFill>
          <a:ln w="12700">
            <a:solidFill>
              <a:srgbClr val="111A20"/>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Match video is personal data, so the analysis stays local</a:t>
            </a:r>
            <a:endParaRPr lang="en-US" sz="3000" dirty="0"/>
          </a:p>
        </p:txBody>
      </p:sp>
      <p:sp>
        <p:nvSpPr>
          <p:cNvPr id="14" name="why circle 0"/>
          <p:cNvSpPr/>
          <p:nvPr/>
        </p:nvSpPr>
        <p:spPr>
          <a:xfrm>
            <a:off x="640080" y="1645920"/>
            <a:ext cx="868680" cy="868680"/>
          </a:xfrm>
          <a:prstGeom prst="ellipse">
            <a:avLst/>
          </a:prstGeom>
          <a:solidFill>
            <a:schemeClr val="accent6"/>
          </a:solidFill>
          <a:ln w="12700">
            <a:solidFill>
              <a:schemeClr val="accent6"/>
            </a:solidFill>
            <a:prstDash val="solid"/>
          </a:ln>
        </p:spPr>
      </p:sp>
      <p:pic>
        <p:nvPicPr>
          <p:cNvPr id="15" name="why icon 0" descr="preencoded.png">    </p:cNvPr>
          <p:cNvPicPr>
            <a:picLocks noChangeAspect="1"/>
          </p:cNvPicPr>
          <p:nvPr/>
        </p:nvPicPr>
        <p:blipFill>
          <a:blip r:embed="rId1"/>
          <a:stretch>
            <a:fillRect/>
          </a:stretch>
        </p:blipFill>
        <p:spPr>
          <a:xfrm>
            <a:off x="859536" y="1865376"/>
            <a:ext cx="429768" cy="429768"/>
          </a:xfrm>
          <a:prstGeom prst="rect">
            <a:avLst/>
          </a:prstGeom>
        </p:spPr>
      </p:pic>
      <p:sp>
        <p:nvSpPr>
          <p:cNvPr id="16" name="Text 13"/>
          <p:cNvSpPr txBox="1"/>
          <p:nvPr/>
        </p:nvSpPr>
        <p:spPr>
          <a:xfrm>
            <a:off x="1783080" y="1664208"/>
            <a:ext cx="4754880" cy="411480"/>
          </a:xfrm>
          <a:prstGeom prst="rect">
            <a:avLst/>
          </a:prstGeom>
          <a:noFill/>
          <a:ln/>
        </p:spPr>
        <p:txBody>
          <a:bodyPr wrap="square" lIns="0" tIns="0" rIns="0" bIns="0" rtlCol="0" anchor="t"/>
          <a:lstStyle/>
          <a:p>
            <a:pPr indent="0" marL="0">
              <a:buNone/>
            </a:pPr>
            <a:r>
              <a:rPr lang="en-US" sz="2000" b="1" dirty="0">
                <a:solidFill>
                  <a:schemeClr val="bg1"/>
                </a:solidFill>
              </a:rPr>
              <a:t>Biometric data</a:t>
            </a:r>
            <a:endParaRPr lang="en-US" sz="2000" dirty="0"/>
          </a:p>
        </p:txBody>
      </p:sp>
      <p:sp>
        <p:nvSpPr>
          <p:cNvPr id="17" name="Text 14"/>
          <p:cNvSpPr txBox="1"/>
          <p:nvPr/>
        </p:nvSpPr>
        <p:spPr>
          <a:xfrm>
            <a:off x="1783080" y="2103120"/>
            <a:ext cx="4754880" cy="822960"/>
          </a:xfrm>
          <a:prstGeom prst="rect">
            <a:avLst/>
          </a:prstGeom>
          <a:noFill/>
          <a:ln/>
        </p:spPr>
        <p:txBody>
          <a:bodyPr wrap="square" lIns="0" tIns="0" rIns="0" bIns="0" rtlCol="0" anchor="t"/>
          <a:lstStyle/>
          <a:p>
            <a:pPr indent="0" marL="0">
              <a:buNone/>
            </a:pPr>
            <a:r>
              <a:rPr lang="en-US" sz="1500" dirty="0">
                <a:solidFill>
                  <a:schemeClr val="bg2"/>
                </a:solidFill>
              </a:rPr>
              <a:t>Faces, body shape and movement signatures, often of minors in school and junior programmes.</a:t>
            </a:r>
            <a:endParaRPr lang="en-US" sz="1500" dirty="0"/>
          </a:p>
        </p:txBody>
      </p:sp>
      <p:sp>
        <p:nvSpPr>
          <p:cNvPr id="18" name="why circle 1"/>
          <p:cNvSpPr/>
          <p:nvPr/>
        </p:nvSpPr>
        <p:spPr>
          <a:xfrm>
            <a:off x="640080" y="3108960"/>
            <a:ext cx="868680" cy="868680"/>
          </a:xfrm>
          <a:prstGeom prst="ellipse">
            <a:avLst/>
          </a:prstGeom>
          <a:solidFill>
            <a:schemeClr val="accent6"/>
          </a:solidFill>
          <a:ln w="12700">
            <a:solidFill>
              <a:schemeClr val="accent6"/>
            </a:solidFill>
            <a:prstDash val="solid"/>
          </a:ln>
        </p:spPr>
      </p:sp>
      <p:pic>
        <p:nvPicPr>
          <p:cNvPr id="19" name="why icon 1" descr="preencoded.png">    </p:cNvPr>
          <p:cNvPicPr>
            <a:picLocks noChangeAspect="1"/>
          </p:cNvPicPr>
          <p:nvPr/>
        </p:nvPicPr>
        <p:blipFill>
          <a:blip r:embed="rId2"/>
          <a:stretch>
            <a:fillRect/>
          </a:stretch>
        </p:blipFill>
        <p:spPr>
          <a:xfrm>
            <a:off x="859536" y="3328416"/>
            <a:ext cx="429768" cy="429768"/>
          </a:xfrm>
          <a:prstGeom prst="rect">
            <a:avLst/>
          </a:prstGeom>
        </p:spPr>
      </p:pic>
      <p:sp>
        <p:nvSpPr>
          <p:cNvPr id="20" name="Text 16"/>
          <p:cNvSpPr txBox="1"/>
          <p:nvPr/>
        </p:nvSpPr>
        <p:spPr>
          <a:xfrm>
            <a:off x="1783080" y="3127248"/>
            <a:ext cx="4754880" cy="411480"/>
          </a:xfrm>
          <a:prstGeom prst="rect">
            <a:avLst/>
          </a:prstGeom>
          <a:noFill/>
          <a:ln/>
        </p:spPr>
        <p:txBody>
          <a:bodyPr wrap="square" lIns="0" tIns="0" rIns="0" bIns="0" rtlCol="0" anchor="t"/>
          <a:lstStyle/>
          <a:p>
            <a:pPr indent="0" marL="0">
              <a:buNone/>
            </a:pPr>
            <a:r>
              <a:rPr lang="en-US" sz="2000" b="1" dirty="0">
                <a:solidFill>
                  <a:schemeClr val="bg1"/>
                </a:solidFill>
              </a:rPr>
              <a:t>Tactical secrets</a:t>
            </a:r>
            <a:endParaRPr lang="en-US" sz="2000" dirty="0"/>
          </a:p>
        </p:txBody>
      </p:sp>
      <p:sp>
        <p:nvSpPr>
          <p:cNvPr id="21" name="Text 17"/>
          <p:cNvSpPr txBox="1"/>
          <p:nvPr/>
        </p:nvSpPr>
        <p:spPr>
          <a:xfrm>
            <a:off x="1783080" y="3566160"/>
            <a:ext cx="4754880" cy="822960"/>
          </a:xfrm>
          <a:prstGeom prst="rect">
            <a:avLst/>
          </a:prstGeom>
          <a:noFill/>
          <a:ln/>
        </p:spPr>
        <p:txBody>
          <a:bodyPr wrap="square" lIns="0" tIns="0" rIns="0" bIns="0" rtlCol="0" anchor="t"/>
          <a:lstStyle/>
          <a:p>
            <a:pPr indent="0" marL="0">
              <a:buNone/>
            </a:pPr>
            <a:r>
              <a:rPr lang="en-US" sz="1500" dirty="0">
                <a:solidFill>
                  <a:schemeClr val="bg2"/>
                </a:solidFill>
              </a:rPr>
              <a:t>A team's footage is its game plan. Coaches will not upload it to a third-party cloud.</a:t>
            </a:r>
            <a:endParaRPr lang="en-US" sz="1500" dirty="0"/>
          </a:p>
        </p:txBody>
      </p:sp>
      <p:sp>
        <p:nvSpPr>
          <p:cNvPr id="22" name="why circle 2"/>
          <p:cNvSpPr/>
          <p:nvPr/>
        </p:nvSpPr>
        <p:spPr>
          <a:xfrm>
            <a:off x="640080" y="4572000"/>
            <a:ext cx="868680" cy="868680"/>
          </a:xfrm>
          <a:prstGeom prst="ellipse">
            <a:avLst/>
          </a:prstGeom>
          <a:solidFill>
            <a:schemeClr val="accent6"/>
          </a:solidFill>
          <a:ln w="12700">
            <a:solidFill>
              <a:schemeClr val="accent6"/>
            </a:solidFill>
            <a:prstDash val="solid"/>
          </a:ln>
        </p:spPr>
      </p:sp>
      <p:pic>
        <p:nvPicPr>
          <p:cNvPr id="23" name="why icon 2" descr="preencoded.png">    </p:cNvPr>
          <p:cNvPicPr>
            <a:picLocks noChangeAspect="1"/>
          </p:cNvPicPr>
          <p:nvPr/>
        </p:nvPicPr>
        <p:blipFill>
          <a:blip r:embed="rId3"/>
          <a:stretch>
            <a:fillRect/>
          </a:stretch>
        </p:blipFill>
        <p:spPr>
          <a:xfrm>
            <a:off x="859536" y="4791456"/>
            <a:ext cx="429768" cy="429768"/>
          </a:xfrm>
          <a:prstGeom prst="rect">
            <a:avLst/>
          </a:prstGeom>
        </p:spPr>
      </p:pic>
      <p:sp>
        <p:nvSpPr>
          <p:cNvPr id="24" name="Text 19"/>
          <p:cNvSpPr txBox="1"/>
          <p:nvPr/>
        </p:nvSpPr>
        <p:spPr>
          <a:xfrm>
            <a:off x="1783080" y="4590288"/>
            <a:ext cx="4754880" cy="411480"/>
          </a:xfrm>
          <a:prstGeom prst="rect">
            <a:avLst/>
          </a:prstGeom>
          <a:noFill/>
          <a:ln/>
        </p:spPr>
        <p:txBody>
          <a:bodyPr wrap="square" lIns="0" tIns="0" rIns="0" bIns="0" rtlCol="0" anchor="t"/>
          <a:lstStyle/>
          <a:p>
            <a:pPr indent="0" marL="0">
              <a:buNone/>
            </a:pPr>
            <a:r>
              <a:rPr lang="en-US" sz="2000" b="1" dirty="0">
                <a:solidFill>
                  <a:schemeClr val="bg1"/>
                </a:solidFill>
              </a:rPr>
              <a:t>Courts are offline</a:t>
            </a:r>
            <a:endParaRPr lang="en-US" sz="2000" dirty="0"/>
          </a:p>
        </p:txBody>
      </p:sp>
      <p:sp>
        <p:nvSpPr>
          <p:cNvPr id="25" name="Text 20"/>
          <p:cNvSpPr txBox="1"/>
          <p:nvPr/>
        </p:nvSpPr>
        <p:spPr>
          <a:xfrm>
            <a:off x="1783080" y="5029200"/>
            <a:ext cx="4754880" cy="822960"/>
          </a:xfrm>
          <a:prstGeom prst="rect">
            <a:avLst/>
          </a:prstGeom>
          <a:noFill/>
          <a:ln/>
        </p:spPr>
        <p:txBody>
          <a:bodyPr wrap="square" lIns="0" tIns="0" rIns="0" bIns="0" rtlCol="0" anchor="t"/>
          <a:lstStyle/>
          <a:p>
            <a:pPr indent="0" marL="0">
              <a:buNone/>
            </a:pPr>
            <a:r>
              <a:rPr lang="en-US" sz="1500" dirty="0">
                <a:solidFill>
                  <a:schemeClr val="bg2"/>
                </a:solidFill>
              </a:rPr>
              <a:t>Gyms and community halls have weak or no internet.</a:t>
            </a:r>
            <a:endParaRPr lang="en-US" sz="1500" dirty="0"/>
          </a:p>
        </p:txBody>
      </p:sp>
      <p:sp>
        <p:nvSpPr>
          <p:cNvPr id="26" name="design rule"/>
          <p:cNvSpPr/>
          <p:nvPr/>
        </p:nvSpPr>
        <p:spPr>
          <a:xfrm>
            <a:off x="7040880" y="1645920"/>
            <a:ext cx="4572000" cy="4114800"/>
          </a:xfrm>
          <a:prstGeom prst="roundRect">
            <a:avLst>
              <a:gd name="adj" fmla="val 2222"/>
            </a:avLst>
          </a:prstGeom>
          <a:solidFill>
            <a:schemeClr val="accent6"/>
          </a:solidFill>
          <a:ln w="9525">
            <a:solidFill>
              <a:srgbClr val="F2E6C9"/>
            </a:solidFill>
            <a:prstDash val="solid"/>
          </a:ln>
        </p:spPr>
      </p:sp>
      <p:sp>
        <p:nvSpPr>
          <p:cNvPr id="27" name="Text 22"/>
          <p:cNvSpPr txBox="1"/>
          <p:nvPr/>
        </p:nvSpPr>
        <p:spPr>
          <a:xfrm>
            <a:off x="7406640" y="1965960"/>
            <a:ext cx="73152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DESIGN RULE</a:t>
            </a:r>
            <a:endParaRPr lang="en-US" sz="1100" dirty="0"/>
          </a:p>
        </p:txBody>
      </p:sp>
      <p:sp>
        <p:nvSpPr>
          <p:cNvPr id="28" name="Text 23"/>
          <p:cNvSpPr txBox="1"/>
          <p:nvPr/>
        </p:nvSpPr>
        <p:spPr>
          <a:xfrm>
            <a:off x="7406640" y="2423160"/>
            <a:ext cx="3840480" cy="1645920"/>
          </a:xfrm>
          <a:prstGeom prst="rect">
            <a:avLst/>
          </a:prstGeom>
          <a:noFill/>
          <a:ln/>
        </p:spPr>
        <p:txBody>
          <a:bodyPr wrap="square" lIns="0" tIns="0" rIns="0" bIns="0" rtlCol="0" anchor="t"/>
          <a:lstStyle/>
          <a:p>
            <a:pPr indent="0" marL="0">
              <a:buNone/>
            </a:pPr>
            <a:r>
              <a:rPr lang="en-US" sz="2800" b="1" dirty="0">
                <a:solidFill>
                  <a:schemeClr val="bg1"/>
                </a:solidFill>
                <a:latin typeface="Bahnschrift" pitchFamily="34" charset="0"/>
                <a:ea typeface="Bahnschrift" pitchFamily="34" charset="-122"/>
                <a:cs typeface="Bahnschrift" pitchFamily="34" charset="-120"/>
              </a:rPr>
              <a:t>Zero bytes of video or pose data leave the machine.</a:t>
            </a:r>
            <a:endParaRPr lang="en-US" sz="2800" dirty="0"/>
          </a:p>
        </p:txBody>
      </p:sp>
      <p:sp>
        <p:nvSpPr>
          <p:cNvPr id="29" name="Text 24"/>
          <p:cNvSpPr txBox="1"/>
          <p:nvPr/>
        </p:nvSpPr>
        <p:spPr>
          <a:xfrm>
            <a:off x="7406640" y="3886200"/>
            <a:ext cx="3840480" cy="822960"/>
          </a:xfrm>
          <a:prstGeom prst="rect">
            <a:avLst/>
          </a:prstGeom>
          <a:noFill/>
          <a:ln/>
        </p:spPr>
        <p:txBody>
          <a:bodyPr wrap="square" lIns="0" tIns="0" rIns="0" bIns="0" rtlCol="0" anchor="t"/>
          <a:lstStyle/>
          <a:p>
            <a:pPr indent="0" marL="0">
              <a:buNone/>
            </a:pPr>
            <a:r>
              <a:rPr lang="en-US" sz="1500" dirty="0">
                <a:solidFill>
                  <a:schemeClr val="bg2"/>
                </a:solidFill>
              </a:rPr>
              <a:t>Every model, from shuttle tracking to the coaching agents, runs on one Intel Arc Pro B70.</a:t>
            </a:r>
            <a:endParaRPr lang="en-US" sz="1500" dirty="0"/>
          </a:p>
        </p:txBody>
      </p:sp>
      <p:sp>
        <p:nvSpPr>
          <p:cNvPr id="30" name="Text 25"/>
          <p:cNvSpPr txBox="1"/>
          <p:nvPr/>
        </p:nvSpPr>
        <p:spPr>
          <a:xfrm>
            <a:off x="7406640" y="4754880"/>
            <a:ext cx="3840480" cy="822960"/>
          </a:xfrm>
          <a:prstGeom prst="rect">
            <a:avLst/>
          </a:prstGeom>
          <a:noFill/>
          <a:ln/>
        </p:spPr>
        <p:txBody>
          <a:bodyPr wrap="square" lIns="0" tIns="0" rIns="0" bIns="0" rtlCol="0" anchor="t"/>
          <a:lstStyle/>
          <a:p>
            <a:pPr indent="0" marL="0">
              <a:buNone/>
            </a:pPr>
            <a:r>
              <a:rPr lang="en-US" sz="1300" i="1" dirty="0">
                <a:solidFill>
                  <a:schemeClr val="accent1"/>
                </a:solidFill>
              </a:rPr>
              <a:t>Offline by default · no account · Telegram is opt-in and carries text only · one-step deletion · reports never share frames.</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2 · SOLUTION: TOOLS, TECHNOLOGIES AND METHODOLOGY</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F2E6C9"/>
          </a:solidFill>
          <a:ln w="12700">
            <a:solidFill>
              <a:srgbClr val="F2E6C9"/>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One camera in. A coaching staff out.</a:t>
            </a:r>
            <a:endParaRPr lang="en-US" sz="3000" dirty="0"/>
          </a:p>
        </p:txBody>
      </p:sp>
      <p:sp>
        <p:nvSpPr>
          <p:cNvPr id="14" name="flow dot 0"/>
          <p:cNvSpPr/>
          <p:nvPr/>
        </p:nvSpPr>
        <p:spPr>
          <a:xfrm>
            <a:off x="640080" y="1600200"/>
            <a:ext cx="731520" cy="731520"/>
          </a:xfrm>
          <a:prstGeom prst="ellipse">
            <a:avLst/>
          </a:prstGeom>
          <a:solidFill>
            <a:schemeClr val="accent1"/>
          </a:solidFill>
          <a:ln w="12700">
            <a:solidFill>
              <a:srgbClr val="04070A">
                <a:alpha val="0"/>
              </a:srgbClr>
            </a:solidFill>
            <a:prstDash val="solid"/>
          </a:ln>
        </p:spPr>
      </p:sp>
      <p:pic>
        <p:nvPicPr>
          <p:cNvPr id="15" name="flow icon 0" descr="preencoded.png">    </p:cNvPr>
          <p:cNvPicPr>
            <a:picLocks noChangeAspect="1"/>
          </p:cNvPicPr>
          <p:nvPr/>
        </p:nvPicPr>
        <p:blipFill>
          <a:blip r:embed="rId1"/>
          <a:stretch>
            <a:fillRect/>
          </a:stretch>
        </p:blipFill>
        <p:spPr>
          <a:xfrm>
            <a:off x="822960" y="1783080"/>
            <a:ext cx="365760" cy="365760"/>
          </a:xfrm>
          <a:prstGeom prst="rect">
            <a:avLst/>
          </a:prstGeom>
        </p:spPr>
      </p:pic>
      <p:sp>
        <p:nvSpPr>
          <p:cNvPr id="16" name="Text 13"/>
          <p:cNvSpPr txBox="1"/>
          <p:nvPr/>
        </p:nvSpPr>
        <p:spPr>
          <a:xfrm>
            <a:off x="1600200" y="1618488"/>
            <a:ext cx="3291840" cy="365760"/>
          </a:xfrm>
          <a:prstGeom prst="rect">
            <a:avLst/>
          </a:prstGeom>
          <a:noFill/>
          <a:ln/>
        </p:spPr>
        <p:txBody>
          <a:bodyPr wrap="square" lIns="0" tIns="0" rIns="0" bIns="0" rtlCol="0" anchor="t"/>
          <a:lstStyle/>
          <a:p>
            <a:pPr indent="0" marL="0">
              <a:buNone/>
            </a:pPr>
            <a:r>
              <a:rPr lang="en-US" sz="1900" b="1" dirty="0">
                <a:solidFill>
                  <a:schemeClr val="bg1"/>
                </a:solidFill>
              </a:rPr>
              <a:t>Record</a:t>
            </a:r>
            <a:endParaRPr lang="en-US" sz="1900" dirty="0"/>
          </a:p>
        </p:txBody>
      </p:sp>
      <p:sp>
        <p:nvSpPr>
          <p:cNvPr id="17" name="Text 14"/>
          <p:cNvSpPr txBox="1"/>
          <p:nvPr/>
        </p:nvSpPr>
        <p:spPr>
          <a:xfrm>
            <a:off x="1600200" y="1984248"/>
            <a:ext cx="3291840" cy="548640"/>
          </a:xfrm>
          <a:prstGeom prst="rect">
            <a:avLst/>
          </a:prstGeom>
          <a:noFill/>
          <a:ln/>
        </p:spPr>
        <p:txBody>
          <a:bodyPr wrap="square" lIns="0" tIns="0" rIns="0" bIns="0" rtlCol="0" anchor="t"/>
          <a:lstStyle/>
          <a:p>
            <a:pPr indent="0" marL="0">
              <a:buNone/>
            </a:pPr>
            <a:r>
              <a:rPr lang="en-US" sz="1400" dirty="0">
                <a:solidFill>
                  <a:schemeClr val="bg2"/>
                </a:solidFill>
              </a:rPr>
              <a:t>Any fixed camera behind the court</a:t>
            </a:r>
            <a:endParaRPr lang="en-US" sz="1400" dirty="0"/>
          </a:p>
        </p:txBody>
      </p:sp>
      <p:sp>
        <p:nvSpPr>
          <p:cNvPr id="18" name="flow dot 1"/>
          <p:cNvSpPr/>
          <p:nvPr/>
        </p:nvSpPr>
        <p:spPr>
          <a:xfrm>
            <a:off x="640080" y="2715768"/>
            <a:ext cx="731520" cy="731520"/>
          </a:xfrm>
          <a:prstGeom prst="ellipse">
            <a:avLst/>
          </a:prstGeom>
          <a:solidFill>
            <a:schemeClr val="accent1"/>
          </a:solidFill>
          <a:ln w="12700">
            <a:solidFill>
              <a:srgbClr val="04070A">
                <a:alpha val="0"/>
              </a:srgbClr>
            </a:solidFill>
            <a:prstDash val="solid"/>
          </a:ln>
        </p:spPr>
      </p:sp>
      <p:pic>
        <p:nvPicPr>
          <p:cNvPr id="19" name="flow icon 1" descr="preencoded.png">    </p:cNvPr>
          <p:cNvPicPr>
            <a:picLocks noChangeAspect="1"/>
          </p:cNvPicPr>
          <p:nvPr/>
        </p:nvPicPr>
        <p:blipFill>
          <a:blip r:embed="rId2"/>
          <a:stretch>
            <a:fillRect/>
          </a:stretch>
        </p:blipFill>
        <p:spPr>
          <a:xfrm>
            <a:off x="822960" y="2898648"/>
            <a:ext cx="365760" cy="365760"/>
          </a:xfrm>
          <a:prstGeom prst="rect">
            <a:avLst/>
          </a:prstGeom>
        </p:spPr>
      </p:pic>
      <p:sp>
        <p:nvSpPr>
          <p:cNvPr id="20" name="Text 16"/>
          <p:cNvSpPr txBox="1"/>
          <p:nvPr/>
        </p:nvSpPr>
        <p:spPr>
          <a:xfrm>
            <a:off x="1600200" y="2734056"/>
            <a:ext cx="3291840" cy="365760"/>
          </a:xfrm>
          <a:prstGeom prst="rect">
            <a:avLst/>
          </a:prstGeom>
          <a:noFill/>
          <a:ln/>
        </p:spPr>
        <p:txBody>
          <a:bodyPr wrap="square" lIns="0" tIns="0" rIns="0" bIns="0" rtlCol="0" anchor="t"/>
          <a:lstStyle/>
          <a:p>
            <a:pPr indent="0" marL="0">
              <a:buNone/>
            </a:pPr>
            <a:r>
              <a:rPr lang="en-US" sz="1900" b="1" dirty="0">
                <a:solidFill>
                  <a:schemeClr val="bg1"/>
                </a:solidFill>
              </a:rPr>
              <a:t>Reconstruct</a:t>
            </a:r>
            <a:endParaRPr lang="en-US" sz="1900" dirty="0"/>
          </a:p>
        </p:txBody>
      </p:sp>
      <p:sp>
        <p:nvSpPr>
          <p:cNvPr id="21" name="Text 17"/>
          <p:cNvSpPr txBox="1"/>
          <p:nvPr/>
        </p:nvSpPr>
        <p:spPr>
          <a:xfrm>
            <a:off x="1600200" y="3099816"/>
            <a:ext cx="3291840" cy="548640"/>
          </a:xfrm>
          <a:prstGeom prst="rect">
            <a:avLst/>
          </a:prstGeom>
          <a:noFill/>
          <a:ln/>
        </p:spPr>
        <p:txBody>
          <a:bodyPr wrap="square" lIns="0" tIns="0" rIns="0" bIns="0" rtlCol="0" anchor="t"/>
          <a:lstStyle/>
          <a:p>
            <a:pPr indent="0" marL="0">
              <a:buNone/>
            </a:pPr>
            <a:r>
              <a:rPr lang="en-US" sz="1400" dirty="0">
                <a:solidFill>
                  <a:schemeClr val="bg2"/>
                </a:solidFill>
              </a:rPr>
              <a:t>Shuttle flight in metric 3D, hits, player positions</a:t>
            </a:r>
            <a:endParaRPr lang="en-US" sz="1400" dirty="0"/>
          </a:p>
        </p:txBody>
      </p:sp>
      <p:sp>
        <p:nvSpPr>
          <p:cNvPr id="22" name="flow dot 2"/>
          <p:cNvSpPr/>
          <p:nvPr/>
        </p:nvSpPr>
        <p:spPr>
          <a:xfrm>
            <a:off x="640080" y="3831336"/>
            <a:ext cx="731520" cy="731520"/>
          </a:xfrm>
          <a:prstGeom prst="ellipse">
            <a:avLst/>
          </a:prstGeom>
          <a:solidFill>
            <a:schemeClr val="accent1"/>
          </a:solidFill>
          <a:ln w="12700">
            <a:solidFill>
              <a:srgbClr val="04070A">
                <a:alpha val="0"/>
              </a:srgbClr>
            </a:solidFill>
            <a:prstDash val="solid"/>
          </a:ln>
        </p:spPr>
      </p:sp>
      <p:pic>
        <p:nvPicPr>
          <p:cNvPr id="23" name="flow icon 2" descr="preencoded.png">    </p:cNvPr>
          <p:cNvPicPr>
            <a:picLocks noChangeAspect="1"/>
          </p:cNvPicPr>
          <p:nvPr/>
        </p:nvPicPr>
        <p:blipFill>
          <a:blip r:embed="rId3"/>
          <a:stretch>
            <a:fillRect/>
          </a:stretch>
        </p:blipFill>
        <p:spPr>
          <a:xfrm>
            <a:off x="822960" y="4014216"/>
            <a:ext cx="365760" cy="365760"/>
          </a:xfrm>
          <a:prstGeom prst="rect">
            <a:avLst/>
          </a:prstGeom>
        </p:spPr>
      </p:pic>
      <p:sp>
        <p:nvSpPr>
          <p:cNvPr id="24" name="Text 19"/>
          <p:cNvSpPr txBox="1"/>
          <p:nvPr/>
        </p:nvSpPr>
        <p:spPr>
          <a:xfrm>
            <a:off x="1600200" y="3849624"/>
            <a:ext cx="3291840" cy="365760"/>
          </a:xfrm>
          <a:prstGeom prst="rect">
            <a:avLst/>
          </a:prstGeom>
          <a:noFill/>
          <a:ln/>
        </p:spPr>
        <p:txBody>
          <a:bodyPr wrap="square" lIns="0" tIns="0" rIns="0" bIns="0" rtlCol="0" anchor="t"/>
          <a:lstStyle/>
          <a:p>
            <a:pPr indent="0" marL="0">
              <a:buNone/>
            </a:pPr>
            <a:r>
              <a:rPr lang="en-US" sz="1900" b="1" dirty="0">
                <a:solidFill>
                  <a:schemeClr val="bg1"/>
                </a:solidFill>
              </a:rPr>
              <a:t>Reason</a:t>
            </a:r>
            <a:endParaRPr lang="en-US" sz="1900" dirty="0"/>
          </a:p>
        </p:txBody>
      </p:sp>
      <p:sp>
        <p:nvSpPr>
          <p:cNvPr id="25" name="Text 20"/>
          <p:cNvSpPr txBox="1"/>
          <p:nvPr/>
        </p:nvSpPr>
        <p:spPr>
          <a:xfrm>
            <a:off x="1600200" y="4215384"/>
            <a:ext cx="3291840" cy="548640"/>
          </a:xfrm>
          <a:prstGeom prst="rect">
            <a:avLst/>
          </a:prstGeom>
          <a:noFill/>
          <a:ln/>
        </p:spPr>
        <p:txBody>
          <a:bodyPr wrap="square" lIns="0" tIns="0" rIns="0" bIns="0" rtlCol="0" anchor="t"/>
          <a:lstStyle/>
          <a:p>
            <a:pPr indent="0" marL="0">
              <a:buNone/>
            </a:pPr>
            <a:r>
              <a:rPr lang="en-US" sz="1400" dirty="0">
                <a:solidFill>
                  <a:schemeClr val="bg2"/>
                </a:solidFill>
              </a:rPr>
              <a:t>Four coach agents analyse, remember and simulate</a:t>
            </a:r>
            <a:endParaRPr lang="en-US" sz="1400" dirty="0"/>
          </a:p>
        </p:txBody>
      </p:sp>
      <p:sp>
        <p:nvSpPr>
          <p:cNvPr id="26" name="flow dot 3"/>
          <p:cNvSpPr/>
          <p:nvPr/>
        </p:nvSpPr>
        <p:spPr>
          <a:xfrm>
            <a:off x="640080" y="4946904"/>
            <a:ext cx="731520" cy="731520"/>
          </a:xfrm>
          <a:prstGeom prst="ellipse">
            <a:avLst/>
          </a:prstGeom>
          <a:solidFill>
            <a:schemeClr val="accent3"/>
          </a:solidFill>
          <a:ln w="12700">
            <a:solidFill>
              <a:srgbClr val="04070A">
                <a:alpha val="0"/>
              </a:srgbClr>
            </a:solidFill>
            <a:prstDash val="solid"/>
          </a:ln>
        </p:spPr>
      </p:sp>
      <p:pic>
        <p:nvPicPr>
          <p:cNvPr id="27" name="flow icon 3" descr="preencoded.png">    </p:cNvPr>
          <p:cNvPicPr>
            <a:picLocks noChangeAspect="1"/>
          </p:cNvPicPr>
          <p:nvPr/>
        </p:nvPicPr>
        <p:blipFill>
          <a:blip r:embed="rId4"/>
          <a:stretch>
            <a:fillRect/>
          </a:stretch>
        </p:blipFill>
        <p:spPr>
          <a:xfrm>
            <a:off x="822960" y="5129784"/>
            <a:ext cx="365760" cy="365760"/>
          </a:xfrm>
          <a:prstGeom prst="rect">
            <a:avLst/>
          </a:prstGeom>
        </p:spPr>
      </p:pic>
      <p:sp>
        <p:nvSpPr>
          <p:cNvPr id="28" name="Text 22"/>
          <p:cNvSpPr txBox="1"/>
          <p:nvPr/>
        </p:nvSpPr>
        <p:spPr>
          <a:xfrm>
            <a:off x="1600200" y="4965192"/>
            <a:ext cx="3291840" cy="365760"/>
          </a:xfrm>
          <a:prstGeom prst="rect">
            <a:avLst/>
          </a:prstGeom>
          <a:noFill/>
          <a:ln/>
        </p:spPr>
        <p:txBody>
          <a:bodyPr wrap="square" lIns="0" tIns="0" rIns="0" bIns="0" rtlCol="0" anchor="t"/>
          <a:lstStyle/>
          <a:p>
            <a:pPr indent="0" marL="0">
              <a:buNone/>
            </a:pPr>
            <a:r>
              <a:rPr lang="en-US" sz="1900" b="1" dirty="0">
                <a:solidFill>
                  <a:schemeClr val="bg1"/>
                </a:solidFill>
              </a:rPr>
              <a:t>Act</a:t>
            </a:r>
            <a:endParaRPr lang="en-US" sz="1900" dirty="0"/>
          </a:p>
        </p:txBody>
      </p:sp>
      <p:sp>
        <p:nvSpPr>
          <p:cNvPr id="29" name="Text 23"/>
          <p:cNvSpPr txBox="1"/>
          <p:nvPr/>
        </p:nvSpPr>
        <p:spPr>
          <a:xfrm>
            <a:off x="1600200" y="5330952"/>
            <a:ext cx="3291840" cy="548640"/>
          </a:xfrm>
          <a:prstGeom prst="rect">
            <a:avLst/>
          </a:prstGeom>
          <a:noFill/>
          <a:ln/>
        </p:spPr>
        <p:txBody>
          <a:bodyPr wrap="square" lIns="0" tIns="0" rIns="0" bIns="0" rtlCol="0" anchor="t"/>
          <a:lstStyle/>
          <a:p>
            <a:pPr indent="0" marL="0">
              <a:buNone/>
            </a:pPr>
            <a:r>
              <a:rPr lang="en-US" sz="1400" dirty="0">
                <a:solidFill>
                  <a:schemeClr val="bg2"/>
                </a:solidFill>
              </a:rPr>
              <a:t>Personified coaches flash zones, muscles and flights</a:t>
            </a:r>
            <a:endParaRPr lang="en-US" sz="1400" dirty="0"/>
          </a:p>
        </p:txBody>
      </p:sp>
      <p:pic>
        <p:nvPicPr>
          <p:cNvPr id="30" name="upload and processing clip" descr="shots/processing.png">    </p:cNvPr>
          <p:cNvPicPr>
            <a:picLocks noChangeAspect="1"/>
          </p:cNvPicPr>
          <p:nvPr/>
        </p:nvPicPr>
        <p:blipFill>
          <a:blip r:embed="rId5"/>
          <a:stretch>
            <a:fillRect/>
          </a:stretch>
        </p:blipFill>
        <p:spPr>
          <a:xfrm>
            <a:off x="5120640" y="1557338"/>
            <a:ext cx="6492240" cy="3651885"/>
          </a:xfrm>
          <a:prstGeom prst="rect">
            <a:avLst/>
          </a:prstGeom>
        </p:spPr>
      </p:pic>
      <p:sp>
        <p:nvSpPr>
          <p:cNvPr id="31" name="Text 24"/>
          <p:cNvSpPr txBox="1"/>
          <p:nvPr/>
        </p:nvSpPr>
        <p:spPr>
          <a:xfrm>
            <a:off x="5120640" y="5349240"/>
            <a:ext cx="6492240" cy="457200"/>
          </a:xfrm>
          <a:prstGeom prst="rect">
            <a:avLst/>
          </a:prstGeom>
          <a:noFill/>
          <a:ln/>
        </p:spPr>
        <p:txBody>
          <a:bodyPr wrap="square" lIns="0" tIns="0" rIns="0" bIns="0" rtlCol="0" anchor="t"/>
          <a:lstStyle/>
          <a:p>
            <a:pPr indent="0" marL="0">
              <a:buNone/>
            </a:pPr>
            <a:r>
              <a:rPr lang="en-US" sz="1200" i="1" dirty="0">
                <a:solidFill>
                  <a:schemeClr val="accent5"/>
                </a:solidFill>
              </a:rPr>
              <a:t>Recorded from the prototype: the video is opened by the browser and never uploaded.</a:t>
            </a:r>
            <a:endParaRPr lang="en-US" sz="12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2 · SOLUTION: TOOLS, TECHNOLOGIES AND METHODOLOGY</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F2E6C9"/>
          </a:solidFill>
          <a:ln w="12700">
            <a:solidFill>
              <a:srgbClr val="F2E6C9"/>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Solution: tools, technologies and methodology</a:t>
            </a:r>
            <a:endParaRPr lang="en-US" sz="3000" dirty="0"/>
          </a:p>
        </p:txBody>
      </p:sp>
      <p:sp>
        <p:nvSpPr>
          <p:cNvPr id="14" name="layer Perception"/>
          <p:cNvSpPr/>
          <p:nvPr/>
        </p:nvSpPr>
        <p:spPr>
          <a:xfrm>
            <a:off x="548640" y="1371600"/>
            <a:ext cx="7269480" cy="868680"/>
          </a:xfrm>
          <a:prstGeom prst="roundRect">
            <a:avLst>
              <a:gd name="adj" fmla="val 10526"/>
            </a:avLst>
          </a:prstGeom>
          <a:solidFill>
            <a:schemeClr val="accent6"/>
          </a:solidFill>
          <a:ln w="9525">
            <a:solidFill>
              <a:srgbClr val="6FB6FF"/>
            </a:solidFill>
            <a:prstDash val="solid"/>
          </a:ln>
        </p:spPr>
      </p:sp>
      <p:sp>
        <p:nvSpPr>
          <p:cNvPr id="15" name="layer bar Perception"/>
          <p:cNvSpPr/>
          <p:nvPr/>
        </p:nvSpPr>
        <p:spPr>
          <a:xfrm>
            <a:off x="566928" y="1481328"/>
            <a:ext cx="64008" cy="649224"/>
          </a:xfrm>
          <a:prstGeom prst="rect">
            <a:avLst/>
          </a:prstGeom>
          <a:solidFill>
            <a:srgbClr val="6FB6FF"/>
          </a:solidFill>
          <a:ln w="12700">
            <a:solidFill>
              <a:srgbClr val="6FB6FF"/>
            </a:solidFill>
            <a:prstDash val="solid"/>
          </a:ln>
        </p:spPr>
      </p:sp>
      <p:sp>
        <p:nvSpPr>
          <p:cNvPr id="16" name="Text 14"/>
          <p:cNvSpPr txBox="1"/>
          <p:nvPr/>
        </p:nvSpPr>
        <p:spPr>
          <a:xfrm>
            <a:off x="731520" y="1463040"/>
            <a:ext cx="1371600" cy="292608"/>
          </a:xfrm>
          <a:prstGeom prst="rect">
            <a:avLst/>
          </a:prstGeom>
          <a:noFill/>
          <a:ln/>
        </p:spPr>
        <p:txBody>
          <a:bodyPr wrap="square" lIns="0" tIns="0" rIns="0" bIns="0" rtlCol="0" anchor="t"/>
          <a:lstStyle/>
          <a:p>
            <a:pPr indent="0" marL="0">
              <a:buNone/>
            </a:pPr>
            <a:r>
              <a:rPr lang="en-US" sz="1300" b="1" dirty="0">
                <a:solidFill>
                  <a:schemeClr val="bg1"/>
                </a:solidFill>
              </a:rPr>
              <a:t>Perception</a:t>
            </a:r>
            <a:endParaRPr lang="en-US" sz="1300" dirty="0"/>
          </a:p>
        </p:txBody>
      </p:sp>
      <p:sp>
        <p:nvSpPr>
          <p:cNvPr id="17" name="Text 15"/>
          <p:cNvSpPr txBox="1"/>
          <p:nvPr/>
        </p:nvSpPr>
        <p:spPr>
          <a:xfrm>
            <a:off x="731520" y="1737360"/>
            <a:ext cx="1371600" cy="457200"/>
          </a:xfrm>
          <a:prstGeom prst="rect">
            <a:avLst/>
          </a:prstGeom>
          <a:noFill/>
          <a:ln/>
        </p:spPr>
        <p:txBody>
          <a:bodyPr wrap="square" lIns="0" tIns="0" rIns="0" bIns="0" rtlCol="0" anchor="t"/>
          <a:lstStyle/>
          <a:p>
            <a:pPr indent="0" marL="0">
              <a:buNone/>
            </a:pPr>
            <a:r>
              <a:rPr lang="en-US" sz="900" dirty="0">
                <a:solidFill>
                  <a:schemeClr val="accent5"/>
                </a:solidFill>
              </a:rPr>
              <a:t>video → tracks</a:t>
            </a:r>
            <a:endParaRPr lang="en-US" sz="900" dirty="0"/>
          </a:p>
        </p:txBody>
      </p:sp>
      <p:sp>
        <p:nvSpPr>
          <p:cNvPr id="18" name="chip TrackNetV5 · 2D shuttle"/>
          <p:cNvSpPr/>
          <p:nvPr/>
        </p:nvSpPr>
        <p:spPr>
          <a:xfrm>
            <a:off x="2148840" y="1499616"/>
            <a:ext cx="1827886" cy="274320"/>
          </a:xfrm>
          <a:prstGeom prst="roundRect">
            <a:avLst>
              <a:gd name="adj" fmla="val 20000"/>
            </a:avLst>
          </a:prstGeom>
          <a:solidFill>
            <a:srgbClr val="04070A"/>
          </a:solidFill>
          <a:ln w="9525">
            <a:solidFill>
              <a:srgbClr val="2A343A"/>
            </a:solidFill>
            <a:prstDash val="solid"/>
          </a:ln>
        </p:spPr>
      </p:sp>
      <p:sp>
        <p:nvSpPr>
          <p:cNvPr id="19" name="Text 17"/>
          <p:cNvSpPr txBox="1"/>
          <p:nvPr/>
        </p:nvSpPr>
        <p:spPr>
          <a:xfrm>
            <a:off x="2148840" y="1499616"/>
            <a:ext cx="1827886" cy="274320"/>
          </a:xfrm>
          <a:prstGeom prst="rect">
            <a:avLst/>
          </a:prstGeom>
          <a:noFill/>
          <a:ln/>
        </p:spPr>
        <p:txBody>
          <a:bodyPr wrap="square" lIns="0" tIns="0" rIns="0" bIns="0" rtlCol="0" anchor="ctr"/>
          <a:lstStyle/>
          <a:p>
            <a:pPr algn="ctr" indent="0" marL="0">
              <a:buNone/>
            </a:pPr>
            <a:r>
              <a:rPr lang="en-US" sz="950" dirty="0">
                <a:solidFill>
                  <a:schemeClr val="bg2"/>
                </a:solidFill>
              </a:rPr>
              <a:t>TrackNetV5 · 2D shuttle</a:t>
            </a:r>
            <a:endParaRPr lang="en-US" sz="950" dirty="0"/>
          </a:p>
        </p:txBody>
      </p:sp>
      <p:sp>
        <p:nvSpPr>
          <p:cNvPr id="20" name="chip Monocular scene reconstruction"/>
          <p:cNvSpPr/>
          <p:nvPr/>
        </p:nvSpPr>
        <p:spPr>
          <a:xfrm>
            <a:off x="4049878" y="1499616"/>
            <a:ext cx="2295144" cy="274320"/>
          </a:xfrm>
          <a:prstGeom prst="roundRect">
            <a:avLst>
              <a:gd name="adj" fmla="val 20000"/>
            </a:avLst>
          </a:prstGeom>
          <a:solidFill>
            <a:srgbClr val="04070A"/>
          </a:solidFill>
          <a:ln w="9525">
            <a:solidFill>
              <a:srgbClr val="F2E6C9"/>
            </a:solidFill>
            <a:prstDash val="dash"/>
          </a:ln>
        </p:spPr>
      </p:sp>
      <p:sp>
        <p:nvSpPr>
          <p:cNvPr id="21" name="Text 19"/>
          <p:cNvSpPr txBox="1"/>
          <p:nvPr/>
        </p:nvSpPr>
        <p:spPr>
          <a:xfrm>
            <a:off x="4049878" y="1499616"/>
            <a:ext cx="2295144" cy="274320"/>
          </a:xfrm>
          <a:prstGeom prst="rect">
            <a:avLst/>
          </a:prstGeom>
          <a:noFill/>
          <a:ln/>
        </p:spPr>
        <p:txBody>
          <a:bodyPr wrap="square" lIns="0" tIns="0" rIns="0" bIns="0" rtlCol="0" anchor="ctr"/>
          <a:lstStyle/>
          <a:p>
            <a:pPr algn="ctr" indent="0" marL="0">
              <a:buNone/>
            </a:pPr>
            <a:r>
              <a:rPr lang="en-US" sz="950" dirty="0">
                <a:solidFill>
                  <a:schemeClr val="accent1"/>
                </a:solidFill>
              </a:rPr>
              <a:t>Monocular scene reconstruction</a:t>
            </a:r>
            <a:endParaRPr lang="en-US" sz="950" dirty="0"/>
          </a:p>
        </p:txBody>
      </p:sp>
      <p:sp>
        <p:nvSpPr>
          <p:cNvPr id="22" name="chip Intent detection"/>
          <p:cNvSpPr/>
          <p:nvPr/>
        </p:nvSpPr>
        <p:spPr>
          <a:xfrm>
            <a:off x="2148840" y="1828800"/>
            <a:ext cx="1360627" cy="274320"/>
          </a:xfrm>
          <a:prstGeom prst="roundRect">
            <a:avLst>
              <a:gd name="adj" fmla="val 20000"/>
            </a:avLst>
          </a:prstGeom>
          <a:solidFill>
            <a:srgbClr val="04070A"/>
          </a:solidFill>
          <a:ln w="9525">
            <a:solidFill>
              <a:srgbClr val="F2E6C9"/>
            </a:solidFill>
            <a:prstDash val="dash"/>
          </a:ln>
        </p:spPr>
      </p:sp>
      <p:sp>
        <p:nvSpPr>
          <p:cNvPr id="23" name="Text 21"/>
          <p:cNvSpPr txBox="1"/>
          <p:nvPr/>
        </p:nvSpPr>
        <p:spPr>
          <a:xfrm>
            <a:off x="2148840" y="1828800"/>
            <a:ext cx="1360627" cy="274320"/>
          </a:xfrm>
          <a:prstGeom prst="rect">
            <a:avLst/>
          </a:prstGeom>
          <a:noFill/>
          <a:ln/>
        </p:spPr>
        <p:txBody>
          <a:bodyPr wrap="square" lIns="0" tIns="0" rIns="0" bIns="0" rtlCol="0" anchor="ctr"/>
          <a:lstStyle/>
          <a:p>
            <a:pPr algn="ctr" indent="0" marL="0">
              <a:buNone/>
            </a:pPr>
            <a:r>
              <a:rPr lang="en-US" sz="950" dirty="0">
                <a:solidFill>
                  <a:schemeClr val="accent1"/>
                </a:solidFill>
              </a:rPr>
              <a:t>Intent detection</a:t>
            </a:r>
            <a:endParaRPr lang="en-US" sz="950" dirty="0"/>
          </a:p>
        </p:txBody>
      </p:sp>
      <p:sp>
        <p:nvSpPr>
          <p:cNvPr id="24" name="chip hit detection"/>
          <p:cNvSpPr/>
          <p:nvPr/>
        </p:nvSpPr>
        <p:spPr>
          <a:xfrm>
            <a:off x="3582619" y="1828800"/>
            <a:ext cx="1160374" cy="274320"/>
          </a:xfrm>
          <a:prstGeom prst="roundRect">
            <a:avLst>
              <a:gd name="adj" fmla="val 20000"/>
            </a:avLst>
          </a:prstGeom>
          <a:solidFill>
            <a:srgbClr val="04070A"/>
          </a:solidFill>
          <a:ln w="9525">
            <a:solidFill>
              <a:srgbClr val="2A343A"/>
            </a:solidFill>
            <a:prstDash val="solid"/>
          </a:ln>
        </p:spPr>
      </p:sp>
      <p:sp>
        <p:nvSpPr>
          <p:cNvPr id="25" name="Text 23"/>
          <p:cNvSpPr txBox="1"/>
          <p:nvPr/>
        </p:nvSpPr>
        <p:spPr>
          <a:xfrm>
            <a:off x="3582619" y="1828800"/>
            <a:ext cx="1160374" cy="274320"/>
          </a:xfrm>
          <a:prstGeom prst="rect">
            <a:avLst/>
          </a:prstGeom>
          <a:noFill/>
          <a:ln/>
        </p:spPr>
        <p:txBody>
          <a:bodyPr wrap="square" lIns="0" tIns="0" rIns="0" bIns="0" rtlCol="0" anchor="ctr"/>
          <a:lstStyle/>
          <a:p>
            <a:pPr algn="ctr" indent="0" marL="0">
              <a:buNone/>
            </a:pPr>
            <a:r>
              <a:rPr lang="en-US" sz="950" dirty="0">
                <a:solidFill>
                  <a:schemeClr val="bg2"/>
                </a:solidFill>
              </a:rPr>
              <a:t>hit detection</a:t>
            </a:r>
            <a:endParaRPr lang="en-US" sz="950" dirty="0"/>
          </a:p>
        </p:txBody>
      </p:sp>
      <p:sp>
        <p:nvSpPr>
          <p:cNvPr id="26" name="chip YOLO11-pose / MediaPipe"/>
          <p:cNvSpPr/>
          <p:nvPr/>
        </p:nvSpPr>
        <p:spPr>
          <a:xfrm>
            <a:off x="4816145" y="1828800"/>
            <a:ext cx="1827886" cy="274320"/>
          </a:xfrm>
          <a:prstGeom prst="roundRect">
            <a:avLst>
              <a:gd name="adj" fmla="val 20000"/>
            </a:avLst>
          </a:prstGeom>
          <a:solidFill>
            <a:srgbClr val="04070A"/>
          </a:solidFill>
          <a:ln w="9525">
            <a:solidFill>
              <a:srgbClr val="2A343A"/>
            </a:solidFill>
            <a:prstDash val="solid"/>
          </a:ln>
        </p:spPr>
      </p:sp>
      <p:sp>
        <p:nvSpPr>
          <p:cNvPr id="27" name="Text 25"/>
          <p:cNvSpPr txBox="1"/>
          <p:nvPr/>
        </p:nvSpPr>
        <p:spPr>
          <a:xfrm>
            <a:off x="4816145" y="1828800"/>
            <a:ext cx="1827886" cy="274320"/>
          </a:xfrm>
          <a:prstGeom prst="rect">
            <a:avLst/>
          </a:prstGeom>
          <a:noFill/>
          <a:ln/>
        </p:spPr>
        <p:txBody>
          <a:bodyPr wrap="square" lIns="0" tIns="0" rIns="0" bIns="0" rtlCol="0" anchor="ctr"/>
          <a:lstStyle/>
          <a:p>
            <a:pPr algn="ctr" indent="0" marL="0">
              <a:buNone/>
            </a:pPr>
            <a:r>
              <a:rPr lang="en-US" sz="950" dirty="0">
                <a:solidFill>
                  <a:schemeClr val="bg2"/>
                </a:solidFill>
              </a:rPr>
              <a:t>YOLO11-pose / MediaPipe</a:t>
            </a:r>
            <a:endParaRPr lang="en-US" sz="950" dirty="0"/>
          </a:p>
        </p:txBody>
      </p:sp>
      <p:sp>
        <p:nvSpPr>
          <p:cNvPr id="28" name="flow arrow"/>
          <p:cNvSpPr/>
          <p:nvPr/>
        </p:nvSpPr>
        <p:spPr>
          <a:xfrm>
            <a:off x="4183380" y="2258568"/>
            <a:ext cx="0" cy="182880"/>
          </a:xfrm>
          <a:prstGeom prst="line">
            <a:avLst/>
          </a:prstGeom>
          <a:noFill/>
          <a:ln w="19050">
            <a:solidFill>
              <a:srgbClr val="8E989D"/>
            </a:solidFill>
            <a:prstDash val="solid"/>
            <a:tailEnd type="triangle"/>
          </a:ln>
        </p:spPr>
      </p:sp>
      <p:sp>
        <p:nvSpPr>
          <p:cNvPr id="29" name="layer Analytics"/>
          <p:cNvSpPr/>
          <p:nvPr/>
        </p:nvSpPr>
        <p:spPr>
          <a:xfrm>
            <a:off x="548640" y="2468880"/>
            <a:ext cx="7269480" cy="731520"/>
          </a:xfrm>
          <a:prstGeom prst="roundRect">
            <a:avLst>
              <a:gd name="adj" fmla="val 12500"/>
            </a:avLst>
          </a:prstGeom>
          <a:solidFill>
            <a:schemeClr val="accent6"/>
          </a:solidFill>
          <a:ln w="9525">
            <a:solidFill>
              <a:srgbClr val="F2D46B"/>
            </a:solidFill>
            <a:prstDash val="solid"/>
          </a:ln>
        </p:spPr>
      </p:sp>
      <p:sp>
        <p:nvSpPr>
          <p:cNvPr id="30" name="layer bar Analytics"/>
          <p:cNvSpPr/>
          <p:nvPr/>
        </p:nvSpPr>
        <p:spPr>
          <a:xfrm>
            <a:off x="566928" y="2578608"/>
            <a:ext cx="64008" cy="512064"/>
          </a:xfrm>
          <a:prstGeom prst="rect">
            <a:avLst/>
          </a:prstGeom>
          <a:solidFill>
            <a:srgbClr val="F2D46B"/>
          </a:solidFill>
          <a:ln w="12700">
            <a:solidFill>
              <a:srgbClr val="F2D46B"/>
            </a:solidFill>
            <a:prstDash val="solid"/>
          </a:ln>
        </p:spPr>
      </p:sp>
      <p:sp>
        <p:nvSpPr>
          <p:cNvPr id="31" name="Text 29"/>
          <p:cNvSpPr txBox="1"/>
          <p:nvPr/>
        </p:nvSpPr>
        <p:spPr>
          <a:xfrm>
            <a:off x="731520" y="2560320"/>
            <a:ext cx="1371600" cy="292608"/>
          </a:xfrm>
          <a:prstGeom prst="rect">
            <a:avLst/>
          </a:prstGeom>
          <a:noFill/>
          <a:ln/>
        </p:spPr>
        <p:txBody>
          <a:bodyPr wrap="square" lIns="0" tIns="0" rIns="0" bIns="0" rtlCol="0" anchor="t"/>
          <a:lstStyle/>
          <a:p>
            <a:pPr indent="0" marL="0">
              <a:buNone/>
            </a:pPr>
            <a:r>
              <a:rPr lang="en-US" sz="1300" b="1" dirty="0">
                <a:solidFill>
                  <a:schemeClr val="bg1"/>
                </a:solidFill>
              </a:rPr>
              <a:t>Analytics</a:t>
            </a:r>
            <a:endParaRPr lang="en-US" sz="1300" dirty="0"/>
          </a:p>
        </p:txBody>
      </p:sp>
      <p:sp>
        <p:nvSpPr>
          <p:cNvPr id="32" name="Text 30"/>
          <p:cNvSpPr txBox="1"/>
          <p:nvPr/>
        </p:nvSpPr>
        <p:spPr>
          <a:xfrm>
            <a:off x="731520" y="2834640"/>
            <a:ext cx="1371600" cy="320040"/>
          </a:xfrm>
          <a:prstGeom prst="rect">
            <a:avLst/>
          </a:prstGeom>
          <a:noFill/>
          <a:ln/>
        </p:spPr>
        <p:txBody>
          <a:bodyPr wrap="square" lIns="0" tIns="0" rIns="0" bIns="0" rtlCol="0" anchor="t"/>
          <a:lstStyle/>
          <a:p>
            <a:pPr indent="0" marL="0">
              <a:buNone/>
            </a:pPr>
            <a:r>
              <a:rPr lang="en-US" sz="900" dirty="0">
                <a:solidFill>
                  <a:schemeClr val="accent5"/>
                </a:solidFill>
              </a:rPr>
              <a:t>tracks → facts</a:t>
            </a:r>
            <a:endParaRPr lang="en-US" sz="900" dirty="0"/>
          </a:p>
        </p:txBody>
      </p:sp>
      <p:sp>
        <p:nvSpPr>
          <p:cNvPr id="33" name="chip match database"/>
          <p:cNvSpPr/>
          <p:nvPr/>
        </p:nvSpPr>
        <p:spPr>
          <a:xfrm>
            <a:off x="2148840" y="2596896"/>
            <a:ext cx="1227125" cy="274320"/>
          </a:xfrm>
          <a:prstGeom prst="roundRect">
            <a:avLst>
              <a:gd name="adj" fmla="val 20000"/>
            </a:avLst>
          </a:prstGeom>
          <a:solidFill>
            <a:srgbClr val="04070A"/>
          </a:solidFill>
          <a:ln w="9525">
            <a:solidFill>
              <a:srgbClr val="2A343A"/>
            </a:solidFill>
            <a:prstDash val="solid"/>
          </a:ln>
        </p:spPr>
      </p:sp>
      <p:sp>
        <p:nvSpPr>
          <p:cNvPr id="34" name="Text 32"/>
          <p:cNvSpPr txBox="1"/>
          <p:nvPr/>
        </p:nvSpPr>
        <p:spPr>
          <a:xfrm>
            <a:off x="2148840" y="2596896"/>
            <a:ext cx="1227125" cy="274320"/>
          </a:xfrm>
          <a:prstGeom prst="rect">
            <a:avLst/>
          </a:prstGeom>
          <a:noFill/>
          <a:ln/>
        </p:spPr>
        <p:txBody>
          <a:bodyPr wrap="square" lIns="0" tIns="0" rIns="0" bIns="0" rtlCol="0" anchor="ctr"/>
          <a:lstStyle/>
          <a:p>
            <a:pPr algn="ctr" indent="0" marL="0">
              <a:buNone/>
            </a:pPr>
            <a:r>
              <a:rPr lang="en-US" sz="950" dirty="0">
                <a:solidFill>
                  <a:schemeClr val="bg2"/>
                </a:solidFill>
              </a:rPr>
              <a:t>match database</a:t>
            </a:r>
            <a:endParaRPr lang="en-US" sz="950" dirty="0"/>
          </a:p>
        </p:txBody>
      </p:sp>
      <p:sp>
        <p:nvSpPr>
          <p:cNvPr id="35" name="chip speed · apex · landing"/>
          <p:cNvSpPr/>
          <p:nvPr/>
        </p:nvSpPr>
        <p:spPr>
          <a:xfrm>
            <a:off x="3449117" y="2596896"/>
            <a:ext cx="1761134" cy="274320"/>
          </a:xfrm>
          <a:prstGeom prst="roundRect">
            <a:avLst>
              <a:gd name="adj" fmla="val 20000"/>
            </a:avLst>
          </a:prstGeom>
          <a:solidFill>
            <a:srgbClr val="04070A"/>
          </a:solidFill>
          <a:ln w="9525">
            <a:solidFill>
              <a:srgbClr val="2A343A"/>
            </a:solidFill>
            <a:prstDash val="solid"/>
          </a:ln>
        </p:spPr>
      </p:sp>
      <p:sp>
        <p:nvSpPr>
          <p:cNvPr id="36" name="Text 34"/>
          <p:cNvSpPr txBox="1"/>
          <p:nvPr/>
        </p:nvSpPr>
        <p:spPr>
          <a:xfrm>
            <a:off x="3449117" y="2596896"/>
            <a:ext cx="1761134" cy="274320"/>
          </a:xfrm>
          <a:prstGeom prst="rect">
            <a:avLst/>
          </a:prstGeom>
          <a:noFill/>
          <a:ln/>
        </p:spPr>
        <p:txBody>
          <a:bodyPr wrap="square" lIns="0" tIns="0" rIns="0" bIns="0" rtlCol="0" anchor="ctr"/>
          <a:lstStyle/>
          <a:p>
            <a:pPr algn="ctr" indent="0" marL="0">
              <a:buNone/>
            </a:pPr>
            <a:r>
              <a:rPr lang="en-US" sz="950" dirty="0">
                <a:solidFill>
                  <a:schemeClr val="bg2"/>
                </a:solidFill>
              </a:rPr>
              <a:t>speed · apex · landing</a:t>
            </a:r>
            <a:endParaRPr lang="en-US" sz="950" dirty="0"/>
          </a:p>
        </p:txBody>
      </p:sp>
      <p:sp>
        <p:nvSpPr>
          <p:cNvPr id="37" name="chip stroke type"/>
          <p:cNvSpPr/>
          <p:nvPr/>
        </p:nvSpPr>
        <p:spPr>
          <a:xfrm>
            <a:off x="5283403" y="2596896"/>
            <a:ext cx="1026871" cy="274320"/>
          </a:xfrm>
          <a:prstGeom prst="roundRect">
            <a:avLst>
              <a:gd name="adj" fmla="val 20000"/>
            </a:avLst>
          </a:prstGeom>
          <a:solidFill>
            <a:srgbClr val="04070A"/>
          </a:solidFill>
          <a:ln w="9525">
            <a:solidFill>
              <a:srgbClr val="2A343A"/>
            </a:solidFill>
            <a:prstDash val="solid"/>
          </a:ln>
        </p:spPr>
      </p:sp>
      <p:sp>
        <p:nvSpPr>
          <p:cNvPr id="38" name="Text 36"/>
          <p:cNvSpPr txBox="1"/>
          <p:nvPr/>
        </p:nvSpPr>
        <p:spPr>
          <a:xfrm>
            <a:off x="5283403" y="2596896"/>
            <a:ext cx="1026871" cy="274320"/>
          </a:xfrm>
          <a:prstGeom prst="rect">
            <a:avLst/>
          </a:prstGeom>
          <a:noFill/>
          <a:ln/>
        </p:spPr>
        <p:txBody>
          <a:bodyPr wrap="square" lIns="0" tIns="0" rIns="0" bIns="0" rtlCol="0" anchor="ctr"/>
          <a:lstStyle/>
          <a:p>
            <a:pPr algn="ctr" indent="0" marL="0">
              <a:buNone/>
            </a:pPr>
            <a:r>
              <a:rPr lang="en-US" sz="950" dirty="0">
                <a:solidFill>
                  <a:schemeClr val="bg2"/>
                </a:solidFill>
              </a:rPr>
              <a:t>stroke type</a:t>
            </a:r>
            <a:endParaRPr lang="en-US" sz="950" dirty="0"/>
          </a:p>
        </p:txBody>
      </p:sp>
      <p:sp>
        <p:nvSpPr>
          <p:cNvPr id="39" name="chip rally outcome"/>
          <p:cNvSpPr/>
          <p:nvPr/>
        </p:nvSpPr>
        <p:spPr>
          <a:xfrm>
            <a:off x="6383426" y="2596896"/>
            <a:ext cx="1160374" cy="274320"/>
          </a:xfrm>
          <a:prstGeom prst="roundRect">
            <a:avLst>
              <a:gd name="adj" fmla="val 20000"/>
            </a:avLst>
          </a:prstGeom>
          <a:solidFill>
            <a:srgbClr val="04070A"/>
          </a:solidFill>
          <a:ln w="9525">
            <a:solidFill>
              <a:srgbClr val="2A343A"/>
            </a:solidFill>
            <a:prstDash val="solid"/>
          </a:ln>
        </p:spPr>
      </p:sp>
      <p:sp>
        <p:nvSpPr>
          <p:cNvPr id="40" name="Text 38"/>
          <p:cNvSpPr txBox="1"/>
          <p:nvPr/>
        </p:nvSpPr>
        <p:spPr>
          <a:xfrm>
            <a:off x="6383426" y="2596896"/>
            <a:ext cx="1160374" cy="274320"/>
          </a:xfrm>
          <a:prstGeom prst="rect">
            <a:avLst/>
          </a:prstGeom>
          <a:noFill/>
          <a:ln/>
        </p:spPr>
        <p:txBody>
          <a:bodyPr wrap="square" lIns="0" tIns="0" rIns="0" bIns="0" rtlCol="0" anchor="ctr"/>
          <a:lstStyle/>
          <a:p>
            <a:pPr algn="ctr" indent="0" marL="0">
              <a:buNone/>
            </a:pPr>
            <a:r>
              <a:rPr lang="en-US" sz="950" dirty="0">
                <a:solidFill>
                  <a:schemeClr val="bg2"/>
                </a:solidFill>
              </a:rPr>
              <a:t>rally outcome</a:t>
            </a:r>
            <a:endParaRPr lang="en-US" sz="950" dirty="0"/>
          </a:p>
        </p:txBody>
      </p:sp>
      <p:sp>
        <p:nvSpPr>
          <p:cNvPr id="41" name="flow arrow"/>
          <p:cNvSpPr/>
          <p:nvPr/>
        </p:nvSpPr>
        <p:spPr>
          <a:xfrm>
            <a:off x="4183380" y="3218688"/>
            <a:ext cx="0" cy="182880"/>
          </a:xfrm>
          <a:prstGeom prst="line">
            <a:avLst/>
          </a:prstGeom>
          <a:noFill/>
          <a:ln w="19050">
            <a:solidFill>
              <a:srgbClr val="8E989D"/>
            </a:solidFill>
            <a:prstDash val="solid"/>
            <a:tailEnd type="triangle"/>
          </a:ln>
        </p:spPr>
      </p:sp>
      <p:sp>
        <p:nvSpPr>
          <p:cNvPr id="42" name="layer Agents"/>
          <p:cNvSpPr/>
          <p:nvPr/>
        </p:nvSpPr>
        <p:spPr>
          <a:xfrm>
            <a:off x="548640" y="3429000"/>
            <a:ext cx="4983480" cy="1143000"/>
          </a:xfrm>
          <a:prstGeom prst="roundRect">
            <a:avLst>
              <a:gd name="adj" fmla="val 8000"/>
            </a:avLst>
          </a:prstGeom>
          <a:solidFill>
            <a:schemeClr val="accent6"/>
          </a:solidFill>
          <a:ln w="9525">
            <a:solidFill>
              <a:srgbClr val="F2E6C9"/>
            </a:solidFill>
            <a:prstDash val="solid"/>
          </a:ln>
        </p:spPr>
      </p:sp>
      <p:sp>
        <p:nvSpPr>
          <p:cNvPr id="43" name="layer bar Agents"/>
          <p:cNvSpPr/>
          <p:nvPr/>
        </p:nvSpPr>
        <p:spPr>
          <a:xfrm>
            <a:off x="566928" y="3538728"/>
            <a:ext cx="64008" cy="923544"/>
          </a:xfrm>
          <a:prstGeom prst="rect">
            <a:avLst/>
          </a:prstGeom>
          <a:solidFill>
            <a:srgbClr val="F2E6C9"/>
          </a:solidFill>
          <a:ln w="12700">
            <a:solidFill>
              <a:srgbClr val="F2E6C9"/>
            </a:solidFill>
            <a:prstDash val="solid"/>
          </a:ln>
        </p:spPr>
      </p:sp>
      <p:sp>
        <p:nvSpPr>
          <p:cNvPr id="44" name="Text 42"/>
          <p:cNvSpPr txBox="1"/>
          <p:nvPr/>
        </p:nvSpPr>
        <p:spPr>
          <a:xfrm>
            <a:off x="731520" y="3520440"/>
            <a:ext cx="1371600" cy="292608"/>
          </a:xfrm>
          <a:prstGeom prst="rect">
            <a:avLst/>
          </a:prstGeom>
          <a:noFill/>
          <a:ln/>
        </p:spPr>
        <p:txBody>
          <a:bodyPr wrap="square" lIns="0" tIns="0" rIns="0" bIns="0" rtlCol="0" anchor="t"/>
          <a:lstStyle/>
          <a:p>
            <a:pPr indent="0" marL="0">
              <a:buNone/>
            </a:pPr>
            <a:r>
              <a:rPr lang="en-US" sz="1300" b="1" dirty="0">
                <a:solidFill>
                  <a:schemeClr val="bg1"/>
                </a:solidFill>
              </a:rPr>
              <a:t>Agents</a:t>
            </a:r>
            <a:endParaRPr lang="en-US" sz="1300" dirty="0"/>
          </a:p>
        </p:txBody>
      </p:sp>
      <p:sp>
        <p:nvSpPr>
          <p:cNvPr id="45" name="Text 43"/>
          <p:cNvSpPr txBox="1"/>
          <p:nvPr/>
        </p:nvSpPr>
        <p:spPr>
          <a:xfrm>
            <a:off x="731520" y="3794760"/>
            <a:ext cx="1371600" cy="731520"/>
          </a:xfrm>
          <a:prstGeom prst="rect">
            <a:avLst/>
          </a:prstGeom>
          <a:noFill/>
          <a:ln/>
        </p:spPr>
        <p:txBody>
          <a:bodyPr wrap="square" lIns="0" tIns="0" rIns="0" bIns="0" rtlCol="0" anchor="t"/>
          <a:lstStyle/>
          <a:p>
            <a:pPr indent="0" marL="0">
              <a:buNone/>
            </a:pPr>
            <a:r>
              <a:rPr lang="en-US" sz="900" dirty="0">
                <a:solidFill>
                  <a:schemeClr val="accent5"/>
                </a:solidFill>
              </a:rPr>
              <a:t>facts → advice</a:t>
            </a:r>
            <a:endParaRPr lang="en-US" sz="900" dirty="0"/>
          </a:p>
        </p:txBody>
      </p:sp>
      <p:sp>
        <p:nvSpPr>
          <p:cNvPr id="46" name="chip Tactics"/>
          <p:cNvSpPr/>
          <p:nvPr/>
        </p:nvSpPr>
        <p:spPr>
          <a:xfrm>
            <a:off x="2148840" y="3557016"/>
            <a:ext cx="759866" cy="274320"/>
          </a:xfrm>
          <a:prstGeom prst="roundRect">
            <a:avLst>
              <a:gd name="adj" fmla="val 20000"/>
            </a:avLst>
          </a:prstGeom>
          <a:solidFill>
            <a:srgbClr val="04070A"/>
          </a:solidFill>
          <a:ln w="9525">
            <a:solidFill>
              <a:srgbClr val="2A343A"/>
            </a:solidFill>
            <a:prstDash val="solid"/>
          </a:ln>
        </p:spPr>
      </p:sp>
      <p:sp>
        <p:nvSpPr>
          <p:cNvPr id="47" name="Text 45"/>
          <p:cNvSpPr txBox="1"/>
          <p:nvPr/>
        </p:nvSpPr>
        <p:spPr>
          <a:xfrm>
            <a:off x="2148840" y="3557016"/>
            <a:ext cx="759866" cy="274320"/>
          </a:xfrm>
          <a:prstGeom prst="rect">
            <a:avLst/>
          </a:prstGeom>
          <a:noFill/>
          <a:ln/>
        </p:spPr>
        <p:txBody>
          <a:bodyPr wrap="square" lIns="0" tIns="0" rIns="0" bIns="0" rtlCol="0" anchor="ctr"/>
          <a:lstStyle/>
          <a:p>
            <a:pPr algn="ctr" indent="0" marL="0">
              <a:buNone/>
            </a:pPr>
            <a:r>
              <a:rPr lang="en-US" sz="950" dirty="0">
                <a:solidFill>
                  <a:schemeClr val="bg2"/>
                </a:solidFill>
              </a:rPr>
              <a:t>Tactics</a:t>
            </a:r>
            <a:endParaRPr lang="en-US" sz="950" dirty="0"/>
          </a:p>
        </p:txBody>
      </p:sp>
      <p:sp>
        <p:nvSpPr>
          <p:cNvPr id="48" name="chip Technique"/>
          <p:cNvSpPr/>
          <p:nvPr/>
        </p:nvSpPr>
        <p:spPr>
          <a:xfrm>
            <a:off x="2981858" y="3557016"/>
            <a:ext cx="893369" cy="274320"/>
          </a:xfrm>
          <a:prstGeom prst="roundRect">
            <a:avLst>
              <a:gd name="adj" fmla="val 20000"/>
            </a:avLst>
          </a:prstGeom>
          <a:solidFill>
            <a:srgbClr val="04070A"/>
          </a:solidFill>
          <a:ln w="9525">
            <a:solidFill>
              <a:srgbClr val="2A343A"/>
            </a:solidFill>
            <a:prstDash val="solid"/>
          </a:ln>
        </p:spPr>
      </p:sp>
      <p:sp>
        <p:nvSpPr>
          <p:cNvPr id="49" name="Text 47"/>
          <p:cNvSpPr txBox="1"/>
          <p:nvPr/>
        </p:nvSpPr>
        <p:spPr>
          <a:xfrm>
            <a:off x="2981858" y="3557016"/>
            <a:ext cx="893369" cy="274320"/>
          </a:xfrm>
          <a:prstGeom prst="rect">
            <a:avLst/>
          </a:prstGeom>
          <a:noFill/>
          <a:ln/>
        </p:spPr>
        <p:txBody>
          <a:bodyPr wrap="square" lIns="0" tIns="0" rIns="0" bIns="0" rtlCol="0" anchor="ctr"/>
          <a:lstStyle/>
          <a:p>
            <a:pPr algn="ctr" indent="0" marL="0">
              <a:buNone/>
            </a:pPr>
            <a:r>
              <a:rPr lang="en-US" sz="950" dirty="0">
                <a:solidFill>
                  <a:schemeClr val="bg2"/>
                </a:solidFill>
              </a:rPr>
              <a:t>Technique</a:t>
            </a:r>
            <a:endParaRPr lang="en-US" sz="950" dirty="0"/>
          </a:p>
        </p:txBody>
      </p:sp>
      <p:sp>
        <p:nvSpPr>
          <p:cNvPr id="50" name="chip Fitness"/>
          <p:cNvSpPr/>
          <p:nvPr/>
        </p:nvSpPr>
        <p:spPr>
          <a:xfrm>
            <a:off x="3948379" y="3557016"/>
            <a:ext cx="759866" cy="274320"/>
          </a:xfrm>
          <a:prstGeom prst="roundRect">
            <a:avLst>
              <a:gd name="adj" fmla="val 20000"/>
            </a:avLst>
          </a:prstGeom>
          <a:solidFill>
            <a:srgbClr val="04070A"/>
          </a:solidFill>
          <a:ln w="9525">
            <a:solidFill>
              <a:srgbClr val="2A343A"/>
            </a:solidFill>
            <a:prstDash val="solid"/>
          </a:ln>
        </p:spPr>
      </p:sp>
      <p:sp>
        <p:nvSpPr>
          <p:cNvPr id="51" name="Text 49"/>
          <p:cNvSpPr txBox="1"/>
          <p:nvPr/>
        </p:nvSpPr>
        <p:spPr>
          <a:xfrm>
            <a:off x="3948379" y="3557016"/>
            <a:ext cx="759866" cy="274320"/>
          </a:xfrm>
          <a:prstGeom prst="rect">
            <a:avLst/>
          </a:prstGeom>
          <a:noFill/>
          <a:ln/>
        </p:spPr>
        <p:txBody>
          <a:bodyPr wrap="square" lIns="0" tIns="0" rIns="0" bIns="0" rtlCol="0" anchor="ctr"/>
          <a:lstStyle/>
          <a:p>
            <a:pPr algn="ctr" indent="0" marL="0">
              <a:buNone/>
            </a:pPr>
            <a:r>
              <a:rPr lang="en-US" sz="950" dirty="0">
                <a:solidFill>
                  <a:schemeClr val="bg2"/>
                </a:solidFill>
              </a:rPr>
              <a:t>Fitness</a:t>
            </a:r>
            <a:endParaRPr lang="en-US" sz="950" dirty="0"/>
          </a:p>
        </p:txBody>
      </p:sp>
      <p:sp>
        <p:nvSpPr>
          <p:cNvPr id="52" name="chip Data"/>
          <p:cNvSpPr/>
          <p:nvPr/>
        </p:nvSpPr>
        <p:spPr>
          <a:xfrm>
            <a:off x="4781398" y="3557016"/>
            <a:ext cx="559613" cy="274320"/>
          </a:xfrm>
          <a:prstGeom prst="roundRect">
            <a:avLst>
              <a:gd name="adj" fmla="val 20000"/>
            </a:avLst>
          </a:prstGeom>
          <a:solidFill>
            <a:srgbClr val="04070A"/>
          </a:solidFill>
          <a:ln w="9525">
            <a:solidFill>
              <a:srgbClr val="2A343A"/>
            </a:solidFill>
            <a:prstDash val="solid"/>
          </a:ln>
        </p:spPr>
      </p:sp>
      <p:sp>
        <p:nvSpPr>
          <p:cNvPr id="53" name="Text 51"/>
          <p:cNvSpPr txBox="1"/>
          <p:nvPr/>
        </p:nvSpPr>
        <p:spPr>
          <a:xfrm>
            <a:off x="4781398" y="3557016"/>
            <a:ext cx="559613" cy="274320"/>
          </a:xfrm>
          <a:prstGeom prst="rect">
            <a:avLst/>
          </a:prstGeom>
          <a:noFill/>
          <a:ln/>
        </p:spPr>
        <p:txBody>
          <a:bodyPr wrap="square" lIns="0" tIns="0" rIns="0" bIns="0" rtlCol="0" anchor="ctr"/>
          <a:lstStyle/>
          <a:p>
            <a:pPr algn="ctr" indent="0" marL="0">
              <a:buNone/>
            </a:pPr>
            <a:r>
              <a:rPr lang="en-US" sz="950" dirty="0">
                <a:solidFill>
                  <a:schemeClr val="bg2"/>
                </a:solidFill>
              </a:rPr>
              <a:t>Data</a:t>
            </a:r>
            <a:endParaRPr lang="en-US" sz="950" dirty="0"/>
          </a:p>
        </p:txBody>
      </p:sp>
      <p:sp>
        <p:nvSpPr>
          <p:cNvPr id="54" name="chip Head coach · round table"/>
          <p:cNvSpPr/>
          <p:nvPr/>
        </p:nvSpPr>
        <p:spPr>
          <a:xfrm>
            <a:off x="2148840" y="3886200"/>
            <a:ext cx="1894637" cy="274320"/>
          </a:xfrm>
          <a:prstGeom prst="roundRect">
            <a:avLst>
              <a:gd name="adj" fmla="val 20000"/>
            </a:avLst>
          </a:prstGeom>
          <a:solidFill>
            <a:srgbClr val="04070A"/>
          </a:solidFill>
          <a:ln w="9525">
            <a:solidFill>
              <a:srgbClr val="2A343A"/>
            </a:solidFill>
            <a:prstDash val="solid"/>
          </a:ln>
        </p:spPr>
      </p:sp>
      <p:sp>
        <p:nvSpPr>
          <p:cNvPr id="55" name="Text 53"/>
          <p:cNvSpPr txBox="1"/>
          <p:nvPr/>
        </p:nvSpPr>
        <p:spPr>
          <a:xfrm>
            <a:off x="2148840" y="3886200"/>
            <a:ext cx="1894637" cy="274320"/>
          </a:xfrm>
          <a:prstGeom prst="rect">
            <a:avLst/>
          </a:prstGeom>
          <a:noFill/>
          <a:ln/>
        </p:spPr>
        <p:txBody>
          <a:bodyPr wrap="square" lIns="0" tIns="0" rIns="0" bIns="0" rtlCol="0" anchor="ctr"/>
          <a:lstStyle/>
          <a:p>
            <a:pPr algn="ctr" indent="0" marL="0">
              <a:buNone/>
            </a:pPr>
            <a:r>
              <a:rPr lang="en-US" sz="950" dirty="0">
                <a:solidFill>
                  <a:schemeClr val="bg2"/>
                </a:solidFill>
              </a:rPr>
              <a:t>Head coach · round table</a:t>
            </a:r>
            <a:endParaRPr lang="en-US" sz="950" dirty="0"/>
          </a:p>
        </p:txBody>
      </p:sp>
      <p:sp>
        <p:nvSpPr>
          <p:cNvPr id="56" name="chip LLM 4–14B INT4"/>
          <p:cNvSpPr/>
          <p:nvPr/>
        </p:nvSpPr>
        <p:spPr>
          <a:xfrm>
            <a:off x="4116629" y="3886200"/>
            <a:ext cx="1227125" cy="274320"/>
          </a:xfrm>
          <a:prstGeom prst="roundRect">
            <a:avLst>
              <a:gd name="adj" fmla="val 20000"/>
            </a:avLst>
          </a:prstGeom>
          <a:solidFill>
            <a:srgbClr val="04070A"/>
          </a:solidFill>
          <a:ln w="9525">
            <a:solidFill>
              <a:srgbClr val="2A343A"/>
            </a:solidFill>
            <a:prstDash val="solid"/>
          </a:ln>
        </p:spPr>
      </p:sp>
      <p:sp>
        <p:nvSpPr>
          <p:cNvPr id="57" name="Text 55"/>
          <p:cNvSpPr txBox="1"/>
          <p:nvPr/>
        </p:nvSpPr>
        <p:spPr>
          <a:xfrm>
            <a:off x="4116629" y="3886200"/>
            <a:ext cx="1227125" cy="274320"/>
          </a:xfrm>
          <a:prstGeom prst="rect">
            <a:avLst/>
          </a:prstGeom>
          <a:noFill/>
          <a:ln/>
        </p:spPr>
        <p:txBody>
          <a:bodyPr wrap="square" lIns="0" tIns="0" rIns="0" bIns="0" rtlCol="0" anchor="ctr"/>
          <a:lstStyle/>
          <a:p>
            <a:pPr algn="ctr" indent="0" marL="0">
              <a:buNone/>
            </a:pPr>
            <a:r>
              <a:rPr lang="en-US" sz="950" dirty="0">
                <a:solidFill>
                  <a:schemeClr val="bg2"/>
                </a:solidFill>
              </a:rPr>
              <a:t>LLM 4–14B INT4</a:t>
            </a:r>
            <a:endParaRPr lang="en-US" sz="950" dirty="0"/>
          </a:p>
        </p:txBody>
      </p:sp>
      <p:sp>
        <p:nvSpPr>
          <p:cNvPr id="58" name="chip OpenVINO"/>
          <p:cNvSpPr/>
          <p:nvPr/>
        </p:nvSpPr>
        <p:spPr>
          <a:xfrm>
            <a:off x="2148840" y="4215384"/>
            <a:ext cx="826618" cy="274320"/>
          </a:xfrm>
          <a:prstGeom prst="roundRect">
            <a:avLst>
              <a:gd name="adj" fmla="val 20000"/>
            </a:avLst>
          </a:prstGeom>
          <a:solidFill>
            <a:srgbClr val="04070A"/>
          </a:solidFill>
          <a:ln w="9525">
            <a:solidFill>
              <a:srgbClr val="2A343A"/>
            </a:solidFill>
            <a:prstDash val="solid"/>
          </a:ln>
        </p:spPr>
      </p:sp>
      <p:sp>
        <p:nvSpPr>
          <p:cNvPr id="59" name="Text 57"/>
          <p:cNvSpPr txBox="1"/>
          <p:nvPr/>
        </p:nvSpPr>
        <p:spPr>
          <a:xfrm>
            <a:off x="2148840" y="4215384"/>
            <a:ext cx="826618" cy="274320"/>
          </a:xfrm>
          <a:prstGeom prst="rect">
            <a:avLst/>
          </a:prstGeom>
          <a:noFill/>
          <a:ln/>
        </p:spPr>
        <p:txBody>
          <a:bodyPr wrap="square" lIns="0" tIns="0" rIns="0" bIns="0" rtlCol="0" anchor="ctr"/>
          <a:lstStyle/>
          <a:p>
            <a:pPr algn="ctr" indent="0" marL="0">
              <a:buNone/>
            </a:pPr>
            <a:r>
              <a:rPr lang="en-US" sz="950" dirty="0">
                <a:solidFill>
                  <a:schemeClr val="bg2"/>
                </a:solidFill>
              </a:rPr>
              <a:t>OpenVINO</a:t>
            </a:r>
            <a:endParaRPr lang="en-US" sz="950" dirty="0"/>
          </a:p>
        </p:txBody>
      </p:sp>
      <p:sp>
        <p:nvSpPr>
          <p:cNvPr id="60" name="chip verifier"/>
          <p:cNvSpPr/>
          <p:nvPr/>
        </p:nvSpPr>
        <p:spPr>
          <a:xfrm>
            <a:off x="3048610" y="4215384"/>
            <a:ext cx="826618" cy="274320"/>
          </a:xfrm>
          <a:prstGeom prst="roundRect">
            <a:avLst>
              <a:gd name="adj" fmla="val 20000"/>
            </a:avLst>
          </a:prstGeom>
          <a:solidFill>
            <a:srgbClr val="04070A"/>
          </a:solidFill>
          <a:ln w="9525">
            <a:solidFill>
              <a:srgbClr val="2A343A"/>
            </a:solidFill>
            <a:prstDash val="solid"/>
          </a:ln>
        </p:spPr>
      </p:sp>
      <p:sp>
        <p:nvSpPr>
          <p:cNvPr id="61" name="Text 59"/>
          <p:cNvSpPr txBox="1"/>
          <p:nvPr/>
        </p:nvSpPr>
        <p:spPr>
          <a:xfrm>
            <a:off x="3048610" y="4215384"/>
            <a:ext cx="826618" cy="274320"/>
          </a:xfrm>
          <a:prstGeom prst="rect">
            <a:avLst/>
          </a:prstGeom>
          <a:noFill/>
          <a:ln/>
        </p:spPr>
        <p:txBody>
          <a:bodyPr wrap="square" lIns="0" tIns="0" rIns="0" bIns="0" rtlCol="0" anchor="ctr"/>
          <a:lstStyle/>
          <a:p>
            <a:pPr algn="ctr" indent="0" marL="0">
              <a:buNone/>
            </a:pPr>
            <a:r>
              <a:rPr lang="en-US" sz="950" dirty="0">
                <a:solidFill>
                  <a:schemeClr val="bg2"/>
                </a:solidFill>
              </a:rPr>
              <a:t>verifier</a:t>
            </a:r>
            <a:endParaRPr lang="en-US" sz="950" dirty="0"/>
          </a:p>
        </p:txBody>
      </p:sp>
      <p:sp>
        <p:nvSpPr>
          <p:cNvPr id="62" name="chip research agent"/>
          <p:cNvSpPr/>
          <p:nvPr/>
        </p:nvSpPr>
        <p:spPr>
          <a:xfrm>
            <a:off x="3948379" y="4215384"/>
            <a:ext cx="1227125" cy="274320"/>
          </a:xfrm>
          <a:prstGeom prst="roundRect">
            <a:avLst>
              <a:gd name="adj" fmla="val 20000"/>
            </a:avLst>
          </a:prstGeom>
          <a:solidFill>
            <a:srgbClr val="04070A"/>
          </a:solidFill>
          <a:ln w="9525">
            <a:solidFill>
              <a:srgbClr val="2A343A"/>
            </a:solidFill>
            <a:prstDash val="solid"/>
          </a:ln>
        </p:spPr>
      </p:sp>
      <p:sp>
        <p:nvSpPr>
          <p:cNvPr id="63" name="Text 61"/>
          <p:cNvSpPr txBox="1"/>
          <p:nvPr/>
        </p:nvSpPr>
        <p:spPr>
          <a:xfrm>
            <a:off x="3948379" y="4215384"/>
            <a:ext cx="1227125" cy="274320"/>
          </a:xfrm>
          <a:prstGeom prst="rect">
            <a:avLst/>
          </a:prstGeom>
          <a:noFill/>
          <a:ln/>
        </p:spPr>
        <p:txBody>
          <a:bodyPr wrap="square" lIns="0" tIns="0" rIns="0" bIns="0" rtlCol="0" anchor="ctr"/>
          <a:lstStyle/>
          <a:p>
            <a:pPr algn="ctr" indent="0" marL="0">
              <a:buNone/>
            </a:pPr>
            <a:r>
              <a:rPr lang="en-US" sz="950" dirty="0">
                <a:solidFill>
                  <a:schemeClr val="bg2"/>
                </a:solidFill>
              </a:rPr>
              <a:t>research agent</a:t>
            </a:r>
            <a:endParaRPr lang="en-US" sz="950" dirty="0"/>
          </a:p>
        </p:txBody>
      </p:sp>
      <p:sp>
        <p:nvSpPr>
          <p:cNvPr id="64" name="layer Memory"/>
          <p:cNvSpPr/>
          <p:nvPr/>
        </p:nvSpPr>
        <p:spPr>
          <a:xfrm>
            <a:off x="5623560" y="3429000"/>
            <a:ext cx="2194560" cy="530352"/>
          </a:xfrm>
          <a:prstGeom prst="roundRect">
            <a:avLst>
              <a:gd name="adj" fmla="val 17241"/>
            </a:avLst>
          </a:prstGeom>
          <a:solidFill>
            <a:schemeClr val="accent6"/>
          </a:solidFill>
          <a:ln w="9525">
            <a:solidFill>
              <a:srgbClr val="5FD39A"/>
            </a:solidFill>
            <a:prstDash val="solid"/>
          </a:ln>
        </p:spPr>
      </p:sp>
      <p:sp>
        <p:nvSpPr>
          <p:cNvPr id="65" name="layer bar Memory"/>
          <p:cNvSpPr/>
          <p:nvPr/>
        </p:nvSpPr>
        <p:spPr>
          <a:xfrm>
            <a:off x="5641848" y="3520440"/>
            <a:ext cx="64008" cy="347472"/>
          </a:xfrm>
          <a:prstGeom prst="rect">
            <a:avLst/>
          </a:prstGeom>
          <a:solidFill>
            <a:srgbClr val="5FD39A"/>
          </a:solidFill>
          <a:ln w="12700">
            <a:solidFill>
              <a:srgbClr val="5FD39A"/>
            </a:solidFill>
            <a:prstDash val="solid"/>
          </a:ln>
        </p:spPr>
      </p:sp>
      <p:sp>
        <p:nvSpPr>
          <p:cNvPr id="66" name="Text 64"/>
          <p:cNvSpPr txBox="1"/>
          <p:nvPr/>
        </p:nvSpPr>
        <p:spPr>
          <a:xfrm>
            <a:off x="5806440" y="3483864"/>
            <a:ext cx="1920240" cy="237744"/>
          </a:xfrm>
          <a:prstGeom prst="rect">
            <a:avLst/>
          </a:prstGeom>
          <a:noFill/>
          <a:ln/>
        </p:spPr>
        <p:txBody>
          <a:bodyPr wrap="square" lIns="0" tIns="0" rIns="0" bIns="0" rtlCol="0" anchor="t"/>
          <a:lstStyle/>
          <a:p>
            <a:pPr indent="0" marL="0">
              <a:buNone/>
            </a:pPr>
            <a:r>
              <a:rPr lang="en-US" sz="1200" b="1" dirty="0">
                <a:solidFill>
                  <a:schemeClr val="bg1"/>
                </a:solidFill>
              </a:rPr>
              <a:t>Memory</a:t>
            </a:r>
            <a:endParaRPr lang="en-US" sz="1200" dirty="0"/>
          </a:p>
        </p:txBody>
      </p:sp>
      <p:sp>
        <p:nvSpPr>
          <p:cNvPr id="67" name="Text 65"/>
          <p:cNvSpPr txBox="1"/>
          <p:nvPr/>
        </p:nvSpPr>
        <p:spPr>
          <a:xfrm>
            <a:off x="5806440" y="3712464"/>
            <a:ext cx="1920240" cy="201168"/>
          </a:xfrm>
          <a:prstGeom prst="rect">
            <a:avLst/>
          </a:prstGeom>
          <a:noFill/>
          <a:ln/>
        </p:spPr>
        <p:txBody>
          <a:bodyPr wrap="square" lIns="0" tIns="0" rIns="0" bIns="0" rtlCol="0" anchor="t"/>
          <a:lstStyle/>
          <a:p>
            <a:pPr indent="0" marL="0">
              <a:buNone/>
            </a:pPr>
            <a:r>
              <a:rPr lang="en-US" sz="900" dirty="0">
                <a:solidFill>
                  <a:schemeClr val="accent5"/>
                </a:solidFill>
              </a:rPr>
              <a:t>RAG: player memory · papers</a:t>
            </a:r>
            <a:endParaRPr lang="en-US" sz="900" dirty="0"/>
          </a:p>
        </p:txBody>
      </p:sp>
      <p:sp>
        <p:nvSpPr>
          <p:cNvPr id="68" name="layer Simulator"/>
          <p:cNvSpPr/>
          <p:nvPr/>
        </p:nvSpPr>
        <p:spPr>
          <a:xfrm>
            <a:off x="5623560" y="4041648"/>
            <a:ext cx="2194560" cy="530352"/>
          </a:xfrm>
          <a:prstGeom prst="roundRect">
            <a:avLst>
              <a:gd name="adj" fmla="val 17241"/>
            </a:avLst>
          </a:prstGeom>
          <a:solidFill>
            <a:schemeClr val="accent6"/>
          </a:solidFill>
          <a:ln w="9525">
            <a:solidFill>
              <a:srgbClr val="FF8A6B"/>
            </a:solidFill>
            <a:prstDash val="solid"/>
          </a:ln>
        </p:spPr>
      </p:sp>
      <p:sp>
        <p:nvSpPr>
          <p:cNvPr id="69" name="layer bar Simulator"/>
          <p:cNvSpPr/>
          <p:nvPr/>
        </p:nvSpPr>
        <p:spPr>
          <a:xfrm>
            <a:off x="5641848" y="4133088"/>
            <a:ext cx="64008" cy="347472"/>
          </a:xfrm>
          <a:prstGeom prst="rect">
            <a:avLst/>
          </a:prstGeom>
          <a:solidFill>
            <a:srgbClr val="FF8A6B"/>
          </a:solidFill>
          <a:ln w="12700">
            <a:solidFill>
              <a:srgbClr val="FF8A6B"/>
            </a:solidFill>
            <a:prstDash val="solid"/>
          </a:ln>
        </p:spPr>
      </p:sp>
      <p:sp>
        <p:nvSpPr>
          <p:cNvPr id="70" name="Text 68"/>
          <p:cNvSpPr txBox="1"/>
          <p:nvPr/>
        </p:nvSpPr>
        <p:spPr>
          <a:xfrm>
            <a:off x="5806440" y="4096512"/>
            <a:ext cx="1920240" cy="237744"/>
          </a:xfrm>
          <a:prstGeom prst="rect">
            <a:avLst/>
          </a:prstGeom>
          <a:noFill/>
          <a:ln/>
        </p:spPr>
        <p:txBody>
          <a:bodyPr wrap="square" lIns="0" tIns="0" rIns="0" bIns="0" rtlCol="0" anchor="t"/>
          <a:lstStyle/>
          <a:p>
            <a:pPr indent="0" marL="0">
              <a:buNone/>
            </a:pPr>
            <a:r>
              <a:rPr lang="en-US" sz="1200" b="1" dirty="0">
                <a:solidFill>
                  <a:schemeClr val="bg1"/>
                </a:solidFill>
              </a:rPr>
              <a:t>Simulator</a:t>
            </a:r>
            <a:endParaRPr lang="en-US" sz="1200" dirty="0"/>
          </a:p>
        </p:txBody>
      </p:sp>
      <p:sp>
        <p:nvSpPr>
          <p:cNvPr id="71" name="Text 69"/>
          <p:cNvSpPr txBox="1"/>
          <p:nvPr/>
        </p:nvSpPr>
        <p:spPr>
          <a:xfrm>
            <a:off x="5806440" y="4325112"/>
            <a:ext cx="1920240" cy="201168"/>
          </a:xfrm>
          <a:prstGeom prst="rect">
            <a:avLst/>
          </a:prstGeom>
          <a:noFill/>
          <a:ln/>
        </p:spPr>
        <p:txBody>
          <a:bodyPr wrap="square" lIns="0" tIns="0" rIns="0" bIns="0" rtlCol="0" anchor="t"/>
          <a:lstStyle/>
          <a:p>
            <a:pPr indent="0" marL="0">
              <a:buNone/>
            </a:pPr>
            <a:r>
              <a:rPr lang="en-US" sz="900" dirty="0">
                <a:solidFill>
                  <a:schemeClr val="accent5"/>
                </a:solidFill>
              </a:rPr>
              <a:t>what-if before advice</a:t>
            </a:r>
            <a:endParaRPr lang="en-US" sz="900" dirty="0"/>
          </a:p>
        </p:txBody>
      </p:sp>
      <p:sp>
        <p:nvSpPr>
          <p:cNvPr id="72" name="flow arrow"/>
          <p:cNvSpPr/>
          <p:nvPr/>
        </p:nvSpPr>
        <p:spPr>
          <a:xfrm>
            <a:off x="4183380" y="4590288"/>
            <a:ext cx="0" cy="182880"/>
          </a:xfrm>
          <a:prstGeom prst="line">
            <a:avLst/>
          </a:prstGeom>
          <a:noFill/>
          <a:ln w="19050">
            <a:solidFill>
              <a:srgbClr val="8E989D"/>
            </a:solidFill>
            <a:prstDash val="solid"/>
            <a:tailEnd type="triangle"/>
          </a:ln>
        </p:spPr>
      </p:sp>
      <p:sp>
        <p:nvSpPr>
          <p:cNvPr id="73" name="layer Interface"/>
          <p:cNvSpPr/>
          <p:nvPr/>
        </p:nvSpPr>
        <p:spPr>
          <a:xfrm>
            <a:off x="548640" y="4800600"/>
            <a:ext cx="7269480" cy="868680"/>
          </a:xfrm>
          <a:prstGeom prst="roundRect">
            <a:avLst>
              <a:gd name="adj" fmla="val 10526"/>
            </a:avLst>
          </a:prstGeom>
          <a:solidFill>
            <a:schemeClr val="accent6"/>
          </a:solidFill>
          <a:ln w="9525">
            <a:solidFill>
              <a:srgbClr val="C3CACD"/>
            </a:solidFill>
            <a:prstDash val="solid"/>
          </a:ln>
        </p:spPr>
      </p:sp>
      <p:sp>
        <p:nvSpPr>
          <p:cNvPr id="74" name="layer bar Interface"/>
          <p:cNvSpPr/>
          <p:nvPr/>
        </p:nvSpPr>
        <p:spPr>
          <a:xfrm>
            <a:off x="566928" y="4910328"/>
            <a:ext cx="64008" cy="649224"/>
          </a:xfrm>
          <a:prstGeom prst="rect">
            <a:avLst/>
          </a:prstGeom>
          <a:solidFill>
            <a:srgbClr val="C3CACD"/>
          </a:solidFill>
          <a:ln w="12700">
            <a:solidFill>
              <a:srgbClr val="C3CACD"/>
            </a:solidFill>
            <a:prstDash val="solid"/>
          </a:ln>
        </p:spPr>
      </p:sp>
      <p:sp>
        <p:nvSpPr>
          <p:cNvPr id="75" name="Text 73"/>
          <p:cNvSpPr txBox="1"/>
          <p:nvPr/>
        </p:nvSpPr>
        <p:spPr>
          <a:xfrm>
            <a:off x="731520" y="4892040"/>
            <a:ext cx="1371600" cy="292608"/>
          </a:xfrm>
          <a:prstGeom prst="rect">
            <a:avLst/>
          </a:prstGeom>
          <a:noFill/>
          <a:ln/>
        </p:spPr>
        <p:txBody>
          <a:bodyPr wrap="square" lIns="0" tIns="0" rIns="0" bIns="0" rtlCol="0" anchor="t"/>
          <a:lstStyle/>
          <a:p>
            <a:pPr indent="0" marL="0">
              <a:buNone/>
            </a:pPr>
            <a:r>
              <a:rPr lang="en-US" sz="1300" b="1" dirty="0">
                <a:solidFill>
                  <a:schemeClr val="bg1"/>
                </a:solidFill>
              </a:rPr>
              <a:t>Interface</a:t>
            </a:r>
            <a:endParaRPr lang="en-US" sz="1300" dirty="0"/>
          </a:p>
        </p:txBody>
      </p:sp>
      <p:sp>
        <p:nvSpPr>
          <p:cNvPr id="76" name="Text 74"/>
          <p:cNvSpPr txBox="1"/>
          <p:nvPr/>
        </p:nvSpPr>
        <p:spPr>
          <a:xfrm>
            <a:off x="731520" y="5166360"/>
            <a:ext cx="1371600" cy="457200"/>
          </a:xfrm>
          <a:prstGeom prst="rect">
            <a:avLst/>
          </a:prstGeom>
          <a:noFill/>
          <a:ln/>
        </p:spPr>
        <p:txBody>
          <a:bodyPr wrap="square" lIns="0" tIns="0" rIns="0" bIns="0" rtlCol="0" anchor="t"/>
          <a:lstStyle/>
          <a:p>
            <a:pPr indent="0" marL="0">
              <a:buNone/>
            </a:pPr>
            <a:r>
              <a:rPr lang="en-US" sz="900" dirty="0">
                <a:solidFill>
                  <a:schemeClr val="accent5"/>
                </a:solidFill>
              </a:rPr>
              <a:t>advice → player</a:t>
            </a:r>
            <a:endParaRPr lang="en-US" sz="900" dirty="0"/>
          </a:p>
        </p:txBody>
      </p:sp>
      <p:sp>
        <p:nvSpPr>
          <p:cNvPr id="77" name="chip React + Three.js"/>
          <p:cNvSpPr/>
          <p:nvPr/>
        </p:nvSpPr>
        <p:spPr>
          <a:xfrm>
            <a:off x="2148840" y="4928616"/>
            <a:ext cx="1360627" cy="274320"/>
          </a:xfrm>
          <a:prstGeom prst="roundRect">
            <a:avLst>
              <a:gd name="adj" fmla="val 20000"/>
            </a:avLst>
          </a:prstGeom>
          <a:solidFill>
            <a:srgbClr val="04070A"/>
          </a:solidFill>
          <a:ln w="9525">
            <a:solidFill>
              <a:srgbClr val="2A343A"/>
            </a:solidFill>
            <a:prstDash val="solid"/>
          </a:ln>
        </p:spPr>
      </p:sp>
      <p:sp>
        <p:nvSpPr>
          <p:cNvPr id="78" name="Text 76"/>
          <p:cNvSpPr txBox="1"/>
          <p:nvPr/>
        </p:nvSpPr>
        <p:spPr>
          <a:xfrm>
            <a:off x="2148840" y="4928616"/>
            <a:ext cx="1360627" cy="274320"/>
          </a:xfrm>
          <a:prstGeom prst="rect">
            <a:avLst/>
          </a:prstGeom>
          <a:noFill/>
          <a:ln/>
        </p:spPr>
        <p:txBody>
          <a:bodyPr wrap="square" lIns="0" tIns="0" rIns="0" bIns="0" rtlCol="0" anchor="ctr"/>
          <a:lstStyle/>
          <a:p>
            <a:pPr algn="ctr" indent="0" marL="0">
              <a:buNone/>
            </a:pPr>
            <a:r>
              <a:rPr lang="en-US" sz="950" dirty="0">
                <a:solidFill>
                  <a:schemeClr val="bg2"/>
                </a:solidFill>
              </a:rPr>
              <a:t>React + Three.js</a:t>
            </a:r>
            <a:endParaRPr lang="en-US" sz="950" dirty="0"/>
          </a:p>
        </p:txBody>
      </p:sp>
      <p:sp>
        <p:nvSpPr>
          <p:cNvPr id="79" name="chip Telegram bot"/>
          <p:cNvSpPr/>
          <p:nvPr/>
        </p:nvSpPr>
        <p:spPr>
          <a:xfrm>
            <a:off x="3582619" y="4928616"/>
            <a:ext cx="1093622" cy="274320"/>
          </a:xfrm>
          <a:prstGeom prst="roundRect">
            <a:avLst>
              <a:gd name="adj" fmla="val 20000"/>
            </a:avLst>
          </a:prstGeom>
          <a:solidFill>
            <a:srgbClr val="04070A"/>
          </a:solidFill>
          <a:ln w="9525">
            <a:solidFill>
              <a:srgbClr val="2A343A"/>
            </a:solidFill>
            <a:prstDash val="solid"/>
          </a:ln>
        </p:spPr>
      </p:sp>
      <p:sp>
        <p:nvSpPr>
          <p:cNvPr id="80" name="Text 78"/>
          <p:cNvSpPr txBox="1"/>
          <p:nvPr/>
        </p:nvSpPr>
        <p:spPr>
          <a:xfrm>
            <a:off x="3582619" y="4928616"/>
            <a:ext cx="1093622" cy="274320"/>
          </a:xfrm>
          <a:prstGeom prst="rect">
            <a:avLst/>
          </a:prstGeom>
          <a:noFill/>
          <a:ln/>
        </p:spPr>
        <p:txBody>
          <a:bodyPr wrap="square" lIns="0" tIns="0" rIns="0" bIns="0" rtlCol="0" anchor="ctr"/>
          <a:lstStyle/>
          <a:p>
            <a:pPr algn="ctr" indent="0" marL="0">
              <a:buNone/>
            </a:pPr>
            <a:r>
              <a:rPr lang="en-US" sz="950" dirty="0">
                <a:solidFill>
                  <a:schemeClr val="bg2"/>
                </a:solidFill>
              </a:rPr>
              <a:t>Telegram bot</a:t>
            </a:r>
            <a:endParaRPr lang="en-US" sz="950" dirty="0"/>
          </a:p>
        </p:txBody>
      </p:sp>
      <p:sp>
        <p:nvSpPr>
          <p:cNvPr id="81" name="chip Whisper voice (offline)"/>
          <p:cNvSpPr/>
          <p:nvPr/>
        </p:nvSpPr>
        <p:spPr>
          <a:xfrm>
            <a:off x="4749394" y="4928616"/>
            <a:ext cx="1827886" cy="274320"/>
          </a:xfrm>
          <a:prstGeom prst="roundRect">
            <a:avLst>
              <a:gd name="adj" fmla="val 20000"/>
            </a:avLst>
          </a:prstGeom>
          <a:solidFill>
            <a:srgbClr val="04070A"/>
          </a:solidFill>
          <a:ln w="9525">
            <a:solidFill>
              <a:srgbClr val="2A343A"/>
            </a:solidFill>
            <a:prstDash val="solid"/>
          </a:ln>
        </p:spPr>
      </p:sp>
      <p:sp>
        <p:nvSpPr>
          <p:cNvPr id="82" name="Text 80"/>
          <p:cNvSpPr txBox="1"/>
          <p:nvPr/>
        </p:nvSpPr>
        <p:spPr>
          <a:xfrm>
            <a:off x="4749394" y="4928616"/>
            <a:ext cx="1827886" cy="274320"/>
          </a:xfrm>
          <a:prstGeom prst="rect">
            <a:avLst/>
          </a:prstGeom>
          <a:noFill/>
          <a:ln/>
        </p:spPr>
        <p:txBody>
          <a:bodyPr wrap="square" lIns="0" tIns="0" rIns="0" bIns="0" rtlCol="0" anchor="ctr"/>
          <a:lstStyle/>
          <a:p>
            <a:pPr algn="ctr" indent="0" marL="0">
              <a:buNone/>
            </a:pPr>
            <a:r>
              <a:rPr lang="en-US" sz="950" dirty="0">
                <a:solidFill>
                  <a:schemeClr val="bg2"/>
                </a:solidFill>
              </a:rPr>
              <a:t>Whisper voice (offline)</a:t>
            </a:r>
            <a:endParaRPr lang="en-US" sz="950" dirty="0"/>
          </a:p>
        </p:txBody>
      </p:sp>
      <p:sp>
        <p:nvSpPr>
          <p:cNvPr id="83" name="chip court calibration"/>
          <p:cNvSpPr/>
          <p:nvPr/>
        </p:nvSpPr>
        <p:spPr>
          <a:xfrm>
            <a:off x="2148840" y="5257800"/>
            <a:ext cx="1427378" cy="274320"/>
          </a:xfrm>
          <a:prstGeom prst="roundRect">
            <a:avLst>
              <a:gd name="adj" fmla="val 20000"/>
            </a:avLst>
          </a:prstGeom>
          <a:solidFill>
            <a:srgbClr val="04070A"/>
          </a:solidFill>
          <a:ln w="9525">
            <a:solidFill>
              <a:srgbClr val="2A343A"/>
            </a:solidFill>
            <a:prstDash val="solid"/>
          </a:ln>
        </p:spPr>
      </p:sp>
      <p:sp>
        <p:nvSpPr>
          <p:cNvPr id="84" name="Text 82"/>
          <p:cNvSpPr txBox="1"/>
          <p:nvPr/>
        </p:nvSpPr>
        <p:spPr>
          <a:xfrm>
            <a:off x="2148840" y="5257800"/>
            <a:ext cx="1427378" cy="274320"/>
          </a:xfrm>
          <a:prstGeom prst="rect">
            <a:avLst/>
          </a:prstGeom>
          <a:noFill/>
          <a:ln/>
        </p:spPr>
        <p:txBody>
          <a:bodyPr wrap="square" lIns="0" tIns="0" rIns="0" bIns="0" rtlCol="0" anchor="ctr"/>
          <a:lstStyle/>
          <a:p>
            <a:pPr algn="ctr" indent="0" marL="0">
              <a:buNone/>
            </a:pPr>
            <a:r>
              <a:rPr lang="en-US" sz="950" dirty="0">
                <a:solidFill>
                  <a:schemeClr val="bg2"/>
                </a:solidFill>
              </a:rPr>
              <a:t>court calibration</a:t>
            </a:r>
            <a:endParaRPr lang="en-US" sz="950" dirty="0"/>
          </a:p>
        </p:txBody>
      </p:sp>
      <p:sp>
        <p:nvSpPr>
          <p:cNvPr id="85" name="chip highlight MP4"/>
          <p:cNvSpPr/>
          <p:nvPr/>
        </p:nvSpPr>
        <p:spPr>
          <a:xfrm>
            <a:off x="3649370" y="5257800"/>
            <a:ext cx="1160374" cy="274320"/>
          </a:xfrm>
          <a:prstGeom prst="roundRect">
            <a:avLst>
              <a:gd name="adj" fmla="val 20000"/>
            </a:avLst>
          </a:prstGeom>
          <a:solidFill>
            <a:srgbClr val="04070A"/>
          </a:solidFill>
          <a:ln w="9525">
            <a:solidFill>
              <a:srgbClr val="2A343A"/>
            </a:solidFill>
            <a:prstDash val="solid"/>
          </a:ln>
        </p:spPr>
      </p:sp>
      <p:sp>
        <p:nvSpPr>
          <p:cNvPr id="86" name="Text 84"/>
          <p:cNvSpPr txBox="1"/>
          <p:nvPr/>
        </p:nvSpPr>
        <p:spPr>
          <a:xfrm>
            <a:off x="3649370" y="5257800"/>
            <a:ext cx="1160374" cy="274320"/>
          </a:xfrm>
          <a:prstGeom prst="rect">
            <a:avLst/>
          </a:prstGeom>
          <a:noFill/>
          <a:ln/>
        </p:spPr>
        <p:txBody>
          <a:bodyPr wrap="square" lIns="0" tIns="0" rIns="0" bIns="0" rtlCol="0" anchor="ctr"/>
          <a:lstStyle/>
          <a:p>
            <a:pPr algn="ctr" indent="0" marL="0">
              <a:buNone/>
            </a:pPr>
            <a:r>
              <a:rPr lang="en-US" sz="950" dirty="0">
                <a:solidFill>
                  <a:schemeClr val="bg2"/>
                </a:solidFill>
              </a:rPr>
              <a:t>highlight MP4</a:t>
            </a:r>
            <a:endParaRPr lang="en-US" sz="950" dirty="0"/>
          </a:p>
        </p:txBody>
      </p:sp>
      <p:sp>
        <p:nvSpPr>
          <p:cNvPr id="87" name="chip live brief"/>
          <p:cNvSpPr/>
          <p:nvPr/>
        </p:nvSpPr>
        <p:spPr>
          <a:xfrm>
            <a:off x="4882896" y="5257800"/>
            <a:ext cx="960120" cy="274320"/>
          </a:xfrm>
          <a:prstGeom prst="roundRect">
            <a:avLst>
              <a:gd name="adj" fmla="val 20000"/>
            </a:avLst>
          </a:prstGeom>
          <a:solidFill>
            <a:srgbClr val="04070A"/>
          </a:solidFill>
          <a:ln w="9525">
            <a:solidFill>
              <a:srgbClr val="2A343A"/>
            </a:solidFill>
            <a:prstDash val="solid"/>
          </a:ln>
        </p:spPr>
      </p:sp>
      <p:sp>
        <p:nvSpPr>
          <p:cNvPr id="88" name="Text 86"/>
          <p:cNvSpPr txBox="1"/>
          <p:nvPr/>
        </p:nvSpPr>
        <p:spPr>
          <a:xfrm>
            <a:off x="4882896" y="5257800"/>
            <a:ext cx="960120" cy="274320"/>
          </a:xfrm>
          <a:prstGeom prst="rect">
            <a:avLst/>
          </a:prstGeom>
          <a:noFill/>
          <a:ln/>
        </p:spPr>
        <p:txBody>
          <a:bodyPr wrap="square" lIns="0" tIns="0" rIns="0" bIns="0" rtlCol="0" anchor="ctr"/>
          <a:lstStyle/>
          <a:p>
            <a:pPr algn="ctr" indent="0" marL="0">
              <a:buNone/>
            </a:pPr>
            <a:r>
              <a:rPr lang="en-US" sz="950" dirty="0">
                <a:solidFill>
                  <a:schemeClr val="bg2"/>
                </a:solidFill>
              </a:rPr>
              <a:t>live brief</a:t>
            </a:r>
            <a:endParaRPr lang="en-US" sz="950" dirty="0"/>
          </a:p>
        </p:txBody>
      </p:sp>
      <p:sp>
        <p:nvSpPr>
          <p:cNvPr id="89" name="chip CSV / JSON"/>
          <p:cNvSpPr/>
          <p:nvPr/>
        </p:nvSpPr>
        <p:spPr>
          <a:xfrm>
            <a:off x="5916168" y="5257800"/>
            <a:ext cx="960120" cy="274320"/>
          </a:xfrm>
          <a:prstGeom prst="roundRect">
            <a:avLst>
              <a:gd name="adj" fmla="val 20000"/>
            </a:avLst>
          </a:prstGeom>
          <a:solidFill>
            <a:srgbClr val="04070A"/>
          </a:solidFill>
          <a:ln w="9525">
            <a:solidFill>
              <a:srgbClr val="2A343A"/>
            </a:solidFill>
            <a:prstDash val="solid"/>
          </a:ln>
        </p:spPr>
      </p:sp>
      <p:sp>
        <p:nvSpPr>
          <p:cNvPr id="90" name="Text 88"/>
          <p:cNvSpPr txBox="1"/>
          <p:nvPr/>
        </p:nvSpPr>
        <p:spPr>
          <a:xfrm>
            <a:off x="5916168" y="5257800"/>
            <a:ext cx="960120" cy="274320"/>
          </a:xfrm>
          <a:prstGeom prst="rect">
            <a:avLst/>
          </a:prstGeom>
          <a:noFill/>
          <a:ln/>
        </p:spPr>
        <p:txBody>
          <a:bodyPr wrap="square" lIns="0" tIns="0" rIns="0" bIns="0" rtlCol="0" anchor="ctr"/>
          <a:lstStyle/>
          <a:p>
            <a:pPr algn="ctr" indent="0" marL="0">
              <a:buNone/>
            </a:pPr>
            <a:r>
              <a:rPr lang="en-US" sz="950" dirty="0">
                <a:solidFill>
                  <a:schemeClr val="bg2"/>
                </a:solidFill>
              </a:rPr>
              <a:t>CSV / JSON</a:t>
            </a:r>
            <a:endParaRPr lang="en-US" sz="950" dirty="0"/>
          </a:p>
        </p:txBody>
      </p:sp>
      <p:sp>
        <p:nvSpPr>
          <p:cNvPr id="91" name="Text 89"/>
          <p:cNvSpPr txBox="1"/>
          <p:nvPr/>
        </p:nvSpPr>
        <p:spPr>
          <a:xfrm>
            <a:off x="548640" y="5806440"/>
            <a:ext cx="7269480" cy="274320"/>
          </a:xfrm>
          <a:prstGeom prst="rect">
            <a:avLst/>
          </a:prstGeom>
          <a:noFill/>
          <a:ln/>
        </p:spPr>
        <p:txBody>
          <a:bodyPr wrap="square" lIns="0" tIns="0" rIns="0" bIns="0" rtlCol="0" anchor="t"/>
          <a:lstStyle/>
          <a:p>
            <a:pPr indent="0" marL="0">
              <a:buNone/>
            </a:pPr>
            <a:r>
              <a:rPr lang="en-US" sz="950" i="1" dirty="0">
                <a:solidFill>
                  <a:schemeClr val="accent5"/>
                </a:solidFill>
              </a:rPr>
              <a:t>Dashed chips: closed blocks. Everything runs on one local GPU.</a:t>
            </a:r>
            <a:endParaRPr lang="en-US" sz="950" dirty="0"/>
          </a:p>
        </p:txBody>
      </p:sp>
      <p:sp>
        <p:nvSpPr>
          <p:cNvPr id="92" name="Text 90"/>
          <p:cNvSpPr txBox="1"/>
          <p:nvPr/>
        </p:nvSpPr>
        <p:spPr>
          <a:xfrm>
            <a:off x="8183880" y="1417320"/>
            <a:ext cx="27432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METHODOLOGY</a:t>
            </a:r>
            <a:endParaRPr lang="en-US" sz="1100" dirty="0"/>
          </a:p>
        </p:txBody>
      </p:sp>
      <p:sp>
        <p:nvSpPr>
          <p:cNvPr id="93" name="method spine"/>
          <p:cNvSpPr/>
          <p:nvPr/>
        </p:nvSpPr>
        <p:spPr>
          <a:xfrm>
            <a:off x="8412480" y="2057400"/>
            <a:ext cx="0" cy="3429000"/>
          </a:xfrm>
          <a:prstGeom prst="line">
            <a:avLst/>
          </a:prstGeom>
          <a:noFill/>
          <a:ln w="25400">
            <a:solidFill>
              <a:srgbClr val="111A20"/>
            </a:solidFill>
            <a:prstDash val="solid"/>
          </a:ln>
        </p:spPr>
      </p:sp>
      <p:sp>
        <p:nvSpPr>
          <p:cNvPr id="94" name="method 1"/>
          <p:cNvSpPr/>
          <p:nvPr/>
        </p:nvSpPr>
        <p:spPr>
          <a:xfrm>
            <a:off x="8183880" y="1828800"/>
            <a:ext cx="457200" cy="457200"/>
          </a:xfrm>
          <a:prstGeom prst="ellipse">
            <a:avLst/>
          </a:prstGeom>
          <a:solidFill>
            <a:srgbClr val="F2E6C9"/>
          </a:solidFill>
          <a:ln w="25400">
            <a:solidFill>
              <a:srgbClr val="04070A"/>
            </a:solidFill>
            <a:prstDash val="solid"/>
          </a:ln>
        </p:spPr>
      </p:sp>
      <p:sp>
        <p:nvSpPr>
          <p:cNvPr id="95" name="Text 93"/>
          <p:cNvSpPr txBox="1"/>
          <p:nvPr/>
        </p:nvSpPr>
        <p:spPr>
          <a:xfrm>
            <a:off x="8183880" y="18288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96" name="Text 94"/>
          <p:cNvSpPr txBox="1"/>
          <p:nvPr/>
        </p:nvSpPr>
        <p:spPr>
          <a:xfrm>
            <a:off x="8778240" y="1810512"/>
            <a:ext cx="2834640" cy="292608"/>
          </a:xfrm>
          <a:prstGeom prst="rect">
            <a:avLst/>
          </a:prstGeom>
          <a:noFill/>
          <a:ln/>
        </p:spPr>
        <p:txBody>
          <a:bodyPr wrap="square" lIns="0" tIns="0" rIns="0" bIns="0" rtlCol="0" anchor="t"/>
          <a:lstStyle/>
          <a:p>
            <a:pPr indent="0" marL="0">
              <a:buNone/>
            </a:pPr>
            <a:r>
              <a:rPr lang="en-US" sz="1350" b="1" dirty="0">
                <a:solidFill>
                  <a:schemeClr val="bg1"/>
                </a:solidFill>
              </a:rPr>
              <a:t>Facts before language</a:t>
            </a:r>
            <a:endParaRPr lang="en-US" sz="1350" dirty="0"/>
          </a:p>
        </p:txBody>
      </p:sp>
      <p:sp>
        <p:nvSpPr>
          <p:cNvPr id="97" name="Text 95"/>
          <p:cNvSpPr txBox="1"/>
          <p:nvPr/>
        </p:nvSpPr>
        <p:spPr>
          <a:xfrm>
            <a:off x="8778240" y="2103120"/>
            <a:ext cx="2834640" cy="685800"/>
          </a:xfrm>
          <a:prstGeom prst="rect">
            <a:avLst/>
          </a:prstGeom>
          <a:noFill/>
          <a:ln/>
        </p:spPr>
        <p:txBody>
          <a:bodyPr wrap="square" lIns="0" tIns="0" rIns="0" bIns="0" rtlCol="0" anchor="t"/>
          <a:lstStyle/>
          <a:p>
            <a:pPr indent="0" marL="0">
              <a:buNone/>
            </a:pPr>
            <a:r>
              <a:rPr lang="en-US" sz="1050" dirty="0">
                <a:solidFill>
                  <a:schemeClr val="bg2"/>
                </a:solidFill>
              </a:rPr>
              <a:t>Deterministic code computes every number; the LLM only explains it.</a:t>
            </a:r>
            <a:endParaRPr lang="en-US" sz="1050" dirty="0"/>
          </a:p>
        </p:txBody>
      </p:sp>
      <p:sp>
        <p:nvSpPr>
          <p:cNvPr id="98" name="method 2"/>
          <p:cNvSpPr/>
          <p:nvPr/>
        </p:nvSpPr>
        <p:spPr>
          <a:xfrm>
            <a:off x="8183880" y="2880360"/>
            <a:ext cx="457200" cy="457200"/>
          </a:xfrm>
          <a:prstGeom prst="ellipse">
            <a:avLst/>
          </a:prstGeom>
          <a:solidFill>
            <a:srgbClr val="5FD39A"/>
          </a:solidFill>
          <a:ln w="25400">
            <a:solidFill>
              <a:srgbClr val="04070A"/>
            </a:solidFill>
            <a:prstDash val="solid"/>
          </a:ln>
        </p:spPr>
      </p:sp>
      <p:sp>
        <p:nvSpPr>
          <p:cNvPr id="99" name="Text 97"/>
          <p:cNvSpPr txBox="1"/>
          <p:nvPr/>
        </p:nvSpPr>
        <p:spPr>
          <a:xfrm>
            <a:off x="8183880" y="28803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00" name="Text 98"/>
          <p:cNvSpPr txBox="1"/>
          <p:nvPr/>
        </p:nvSpPr>
        <p:spPr>
          <a:xfrm>
            <a:off x="8778240" y="2862072"/>
            <a:ext cx="2834640" cy="292608"/>
          </a:xfrm>
          <a:prstGeom prst="rect">
            <a:avLst/>
          </a:prstGeom>
          <a:noFill/>
          <a:ln/>
        </p:spPr>
        <p:txBody>
          <a:bodyPr wrap="square" lIns="0" tIns="0" rIns="0" bIns="0" rtlCol="0" anchor="t"/>
          <a:lstStyle/>
          <a:p>
            <a:pPr indent="0" marL="0">
              <a:buNone/>
            </a:pPr>
            <a:r>
              <a:rPr lang="en-US" sz="1350" b="1" dirty="0">
                <a:solidFill>
                  <a:schemeClr val="bg1"/>
                </a:solidFill>
              </a:rPr>
              <a:t>100% traceable</a:t>
            </a:r>
            <a:endParaRPr lang="en-US" sz="1350" dirty="0"/>
          </a:p>
        </p:txBody>
      </p:sp>
      <p:sp>
        <p:nvSpPr>
          <p:cNvPr id="101" name="Text 99"/>
          <p:cNvSpPr txBox="1"/>
          <p:nvPr/>
        </p:nvSpPr>
        <p:spPr>
          <a:xfrm>
            <a:off x="8778240" y="3154680"/>
            <a:ext cx="2834640" cy="685800"/>
          </a:xfrm>
          <a:prstGeom prst="rect">
            <a:avLst/>
          </a:prstGeom>
          <a:noFill/>
          <a:ln/>
        </p:spPr>
        <p:txBody>
          <a:bodyPr wrap="square" lIns="0" tIns="0" rIns="0" bIns="0" rtlCol="0" anchor="t"/>
          <a:lstStyle/>
          <a:p>
            <a:pPr indent="0" marL="0">
              <a:buNone/>
            </a:pPr>
            <a:r>
              <a:rPr lang="en-US" sz="1050" dirty="0">
                <a:solidFill>
                  <a:schemeClr val="bg2"/>
                </a:solidFill>
              </a:rPr>
              <a:t>A verifier recomputes every figure an agent says and links it to a rally, shot and video time.</a:t>
            </a:r>
            <a:endParaRPr lang="en-US" sz="1050" dirty="0"/>
          </a:p>
        </p:txBody>
      </p:sp>
      <p:sp>
        <p:nvSpPr>
          <p:cNvPr id="102" name="method 3"/>
          <p:cNvSpPr/>
          <p:nvPr/>
        </p:nvSpPr>
        <p:spPr>
          <a:xfrm>
            <a:off x="8183880" y="3931920"/>
            <a:ext cx="457200" cy="457200"/>
          </a:xfrm>
          <a:prstGeom prst="ellipse">
            <a:avLst/>
          </a:prstGeom>
          <a:solidFill>
            <a:srgbClr val="F2E6C9"/>
          </a:solidFill>
          <a:ln w="25400">
            <a:solidFill>
              <a:srgbClr val="04070A"/>
            </a:solidFill>
            <a:prstDash val="solid"/>
          </a:ln>
        </p:spPr>
      </p:sp>
      <p:sp>
        <p:nvSpPr>
          <p:cNvPr id="103" name="Text 101"/>
          <p:cNvSpPr txBox="1"/>
          <p:nvPr/>
        </p:nvSpPr>
        <p:spPr>
          <a:xfrm>
            <a:off x="8183880" y="39319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04" name="Text 102"/>
          <p:cNvSpPr txBox="1"/>
          <p:nvPr/>
        </p:nvSpPr>
        <p:spPr>
          <a:xfrm>
            <a:off x="8778240" y="3913632"/>
            <a:ext cx="2834640" cy="292608"/>
          </a:xfrm>
          <a:prstGeom prst="rect">
            <a:avLst/>
          </a:prstGeom>
          <a:noFill/>
          <a:ln/>
        </p:spPr>
        <p:txBody>
          <a:bodyPr wrap="square" lIns="0" tIns="0" rIns="0" bIns="0" rtlCol="0" anchor="t"/>
          <a:lstStyle/>
          <a:p>
            <a:pPr indent="0" marL="0">
              <a:buNone/>
            </a:pPr>
            <a:r>
              <a:rPr lang="en-US" sz="1350" b="1" dirty="0">
                <a:solidFill>
                  <a:schemeClr val="bg1"/>
                </a:solidFill>
              </a:rPr>
              <a:t>Simulate before advising</a:t>
            </a:r>
            <a:endParaRPr lang="en-US" sz="1350" dirty="0"/>
          </a:p>
        </p:txBody>
      </p:sp>
      <p:sp>
        <p:nvSpPr>
          <p:cNvPr id="105" name="Text 103"/>
          <p:cNvSpPr txBox="1"/>
          <p:nvPr/>
        </p:nvSpPr>
        <p:spPr>
          <a:xfrm>
            <a:off x="8778240" y="4206240"/>
            <a:ext cx="2834640" cy="685800"/>
          </a:xfrm>
          <a:prstGeom prst="rect">
            <a:avLst/>
          </a:prstGeom>
          <a:noFill/>
          <a:ln/>
        </p:spPr>
        <p:txBody>
          <a:bodyPr wrap="square" lIns="0" tIns="0" rIns="0" bIns="0" rtlCol="0" anchor="t"/>
          <a:lstStyle/>
          <a:p>
            <a:pPr indent="0" marL="0">
              <a:buNone/>
            </a:pPr>
            <a:r>
              <a:rPr lang="en-US" sz="1050" dirty="0">
                <a:solidFill>
                  <a:schemeClr val="bg2"/>
                </a:solidFill>
              </a:rPr>
              <a:t>Positioning changes must cut simulated losses first.</a:t>
            </a:r>
            <a:endParaRPr lang="en-US" sz="1050" dirty="0"/>
          </a:p>
        </p:txBody>
      </p:sp>
      <p:sp>
        <p:nvSpPr>
          <p:cNvPr id="106" name="method 4"/>
          <p:cNvSpPr/>
          <p:nvPr/>
        </p:nvSpPr>
        <p:spPr>
          <a:xfrm>
            <a:off x="8183880" y="4983480"/>
            <a:ext cx="457200" cy="457200"/>
          </a:xfrm>
          <a:prstGeom prst="ellipse">
            <a:avLst/>
          </a:prstGeom>
          <a:solidFill>
            <a:srgbClr val="F2E6C9"/>
          </a:solidFill>
          <a:ln w="25400">
            <a:solidFill>
              <a:srgbClr val="04070A"/>
            </a:solidFill>
            <a:prstDash val="solid"/>
          </a:ln>
        </p:spPr>
      </p:sp>
      <p:sp>
        <p:nvSpPr>
          <p:cNvPr id="107" name="Text 105"/>
          <p:cNvSpPr txBox="1"/>
          <p:nvPr/>
        </p:nvSpPr>
        <p:spPr>
          <a:xfrm>
            <a:off x="8183880" y="49834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08" name="Text 106"/>
          <p:cNvSpPr txBox="1"/>
          <p:nvPr/>
        </p:nvSpPr>
        <p:spPr>
          <a:xfrm>
            <a:off x="8778240" y="4965192"/>
            <a:ext cx="2834640" cy="292608"/>
          </a:xfrm>
          <a:prstGeom prst="rect">
            <a:avLst/>
          </a:prstGeom>
          <a:noFill/>
          <a:ln/>
        </p:spPr>
        <p:txBody>
          <a:bodyPr wrap="square" lIns="0" tIns="0" rIns="0" bIns="0" rtlCol="0" anchor="t"/>
          <a:lstStyle/>
          <a:p>
            <a:pPr indent="0" marL="0">
              <a:buNone/>
            </a:pPr>
            <a:r>
              <a:rPr lang="en-US" sz="1350" b="1" dirty="0">
                <a:solidFill>
                  <a:schemeClr val="bg1"/>
                </a:solidFill>
              </a:rPr>
              <a:t>Measure against ground truth</a:t>
            </a:r>
            <a:endParaRPr lang="en-US" sz="1350" dirty="0"/>
          </a:p>
        </p:txBody>
      </p:sp>
      <p:sp>
        <p:nvSpPr>
          <p:cNvPr id="109" name="Text 107"/>
          <p:cNvSpPr txBox="1"/>
          <p:nvPr/>
        </p:nvSpPr>
        <p:spPr>
          <a:xfrm>
            <a:off x="8778240" y="5257800"/>
            <a:ext cx="2834640" cy="685800"/>
          </a:xfrm>
          <a:prstGeom prst="rect">
            <a:avLst/>
          </a:prstGeom>
          <a:noFill/>
          <a:ln/>
        </p:spPr>
        <p:txBody>
          <a:bodyPr wrap="square" lIns="0" tIns="0" rIns="0" bIns="0" rtlCol="0" anchor="t"/>
          <a:lstStyle/>
          <a:p>
            <a:pPr indent="0" marL="0">
              <a:buNone/>
            </a:pPr>
            <a:r>
              <a:rPr lang="en-US" sz="1050" dirty="0">
                <a:solidFill>
                  <a:schemeClr val="bg2"/>
                </a:solidFill>
              </a:rPr>
              <a:t>3D checked against a multi-camera capture; outcomes against labelled rallies.</a:t>
            </a:r>
            <a:endParaRPr lang="en-US" sz="105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2 · SOLUTION: TOOLS, TECHNOLOGIES AND METHODOLOGY</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F2E6C9"/>
          </a:solidFill>
          <a:ln w="12700">
            <a:solidFill>
              <a:srgbClr val="F2E6C9"/>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How the system works, end to end</a:t>
            </a:r>
            <a:endParaRPr lang="en-US" sz="3000" dirty="0"/>
          </a:p>
        </p:txBody>
      </p:sp>
      <p:pic>
        <p:nvPicPr>
          <p:cNvPr id="14" name="architecture animation" descr="shots/architecture_frame.png">    </p:cNvPr>
          <p:cNvPicPr>
            <a:picLocks noChangeAspect="1"/>
          </p:cNvPicPr>
          <p:nvPr/>
        </p:nvPicPr>
        <p:blipFill>
          <a:blip r:embed="rId1"/>
          <a:stretch>
            <a:fillRect/>
          </a:stretch>
        </p:blipFill>
        <p:spPr>
          <a:xfrm>
            <a:off x="1732280" y="1417320"/>
            <a:ext cx="8696960" cy="4892040"/>
          </a:xfrm>
          <a:prstGeom prst="rect">
            <a:avLst/>
          </a:prstGeom>
        </p:spPr>
      </p:pic>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2 · SOLUTION: TOOLS, TECHNOLOGIES AND METHODOLOGY</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F2E6C9"/>
          </a:solidFill>
          <a:ln w="12700">
            <a:solidFill>
              <a:srgbClr val="F2E6C9"/>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Every shot measured: 3D flight, speed, apex, contact height</a:t>
            </a:r>
            <a:endParaRPr lang="en-US" sz="3000" dirty="0"/>
          </a:p>
        </p:txBody>
      </p:sp>
      <p:pic>
        <p:nvPicPr>
          <p:cNvPr id="14" name="rally replay clip" descr="shots/replay.png">    </p:cNvPr>
          <p:cNvPicPr>
            <a:picLocks noChangeAspect="1"/>
          </p:cNvPicPr>
          <p:nvPr/>
        </p:nvPicPr>
        <p:blipFill>
          <a:blip r:embed="rId1"/>
          <a:stretch>
            <a:fillRect/>
          </a:stretch>
        </p:blipFill>
        <p:spPr>
          <a:xfrm>
            <a:off x="548640" y="1463040"/>
            <a:ext cx="6100011" cy="4800600"/>
          </a:xfrm>
          <a:prstGeom prst="rect">
            <a:avLst/>
          </a:prstGeom>
        </p:spPr>
      </p:pic>
      <p:sp>
        <p:nvSpPr>
          <p:cNvPr id="15" name="callout 1"/>
          <p:cNvSpPr/>
          <p:nvPr/>
        </p:nvSpPr>
        <p:spPr>
          <a:xfrm>
            <a:off x="731714" y="1703070"/>
            <a:ext cx="384048" cy="384048"/>
          </a:xfrm>
          <a:prstGeom prst="ellipse">
            <a:avLst/>
          </a:prstGeom>
          <a:solidFill>
            <a:srgbClr val="F2E6C9"/>
          </a:solidFill>
          <a:ln w="19050">
            <a:solidFill>
              <a:srgbClr val="04070A"/>
            </a:solidFill>
            <a:prstDash val="solid"/>
          </a:ln>
        </p:spPr>
      </p:sp>
      <p:sp>
        <p:nvSpPr>
          <p:cNvPr id="16" name="Text 13"/>
          <p:cNvSpPr txBox="1"/>
          <p:nvPr/>
        </p:nvSpPr>
        <p:spPr>
          <a:xfrm>
            <a:off x="731714" y="170307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1</a:t>
            </a:r>
            <a:endParaRPr lang="en-US" sz="1500" dirty="0"/>
          </a:p>
        </p:txBody>
      </p:sp>
      <p:sp>
        <p:nvSpPr>
          <p:cNvPr id="17" name="callout 2"/>
          <p:cNvSpPr/>
          <p:nvPr/>
        </p:nvSpPr>
        <p:spPr>
          <a:xfrm>
            <a:off x="3782943" y="1703070"/>
            <a:ext cx="384048" cy="384048"/>
          </a:xfrm>
          <a:prstGeom prst="ellipse">
            <a:avLst/>
          </a:prstGeom>
          <a:solidFill>
            <a:srgbClr val="F2E6C9"/>
          </a:solidFill>
          <a:ln w="19050">
            <a:solidFill>
              <a:srgbClr val="04070A"/>
            </a:solidFill>
            <a:prstDash val="solid"/>
          </a:ln>
        </p:spPr>
      </p:sp>
      <p:sp>
        <p:nvSpPr>
          <p:cNvPr id="18" name="Text 15"/>
          <p:cNvSpPr txBox="1"/>
          <p:nvPr/>
        </p:nvSpPr>
        <p:spPr>
          <a:xfrm>
            <a:off x="3782943" y="170307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19" name="callout 3"/>
          <p:cNvSpPr/>
          <p:nvPr/>
        </p:nvSpPr>
        <p:spPr>
          <a:xfrm>
            <a:off x="731714" y="4103370"/>
            <a:ext cx="384048" cy="384048"/>
          </a:xfrm>
          <a:prstGeom prst="ellipse">
            <a:avLst/>
          </a:prstGeom>
          <a:solidFill>
            <a:srgbClr val="F2E6C9"/>
          </a:solidFill>
          <a:ln w="19050">
            <a:solidFill>
              <a:srgbClr val="04070A"/>
            </a:solidFill>
            <a:prstDash val="solid"/>
          </a:ln>
        </p:spPr>
      </p:sp>
      <p:sp>
        <p:nvSpPr>
          <p:cNvPr id="20" name="Text 17"/>
          <p:cNvSpPr txBox="1"/>
          <p:nvPr/>
        </p:nvSpPr>
        <p:spPr>
          <a:xfrm>
            <a:off x="731714" y="4103370"/>
            <a:ext cx="384048" cy="384048"/>
          </a:xfrm>
          <a:prstGeom prst="rect">
            <a:avLst/>
          </a:prstGeom>
          <a:no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21" name="replay notes"/>
          <p:cNvSpPr/>
          <p:nvPr/>
        </p:nvSpPr>
        <p:spPr>
          <a:xfrm>
            <a:off x="8412480" y="1463040"/>
            <a:ext cx="3200400" cy="4800600"/>
          </a:xfrm>
          <a:prstGeom prst="roundRect">
            <a:avLst>
              <a:gd name="adj" fmla="val 2857"/>
            </a:avLst>
          </a:prstGeom>
          <a:solidFill>
            <a:schemeClr val="accent6"/>
          </a:solidFill>
          <a:ln w="9525">
            <a:solidFill>
              <a:schemeClr val="accent6"/>
            </a:solidFill>
            <a:prstDash val="solid"/>
          </a:ln>
        </p:spPr>
      </p:sp>
      <p:sp>
        <p:nvSpPr>
          <p:cNvPr id="22" name="Text 19"/>
          <p:cNvSpPr txBox="1"/>
          <p:nvPr/>
        </p:nvSpPr>
        <p:spPr>
          <a:xfrm>
            <a:off x="8686800" y="1737360"/>
            <a:ext cx="27432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2D TO 3D IN 3 STEPS</a:t>
            </a:r>
            <a:endParaRPr lang="en-US" sz="1100" dirty="0"/>
          </a:p>
        </p:txBody>
      </p:sp>
      <p:sp>
        <p:nvSpPr>
          <p:cNvPr id="23" name="Text 20"/>
          <p:cNvSpPr txBox="1"/>
          <p:nvPr/>
        </p:nvSpPr>
        <p:spPr>
          <a:xfrm>
            <a:off x="8686800" y="2103120"/>
            <a:ext cx="2697480" cy="2651760"/>
          </a:xfrm>
          <a:prstGeom prst="rect">
            <a:avLst/>
          </a:prstGeom>
          <a:noFill/>
          <a:ln/>
        </p:spPr>
        <p:txBody>
          <a:bodyPr wrap="square" lIns="0" tIns="0" rIns="0" bIns="0" rtlCol="0" anchor="t"/>
          <a:lstStyle/>
          <a:p>
            <a:pPr indent="0" marL="0">
              <a:buNone/>
            </a:pPr>
            <a:r>
              <a:rPr lang="en-US" sz="1250" b="1" dirty="0">
                <a:solidFill>
                  <a:srgbClr val="EEF1F2"/>
                </a:solidFill>
              </a:rPr>
              <a:t>1  2D track. </a:t>
            </a:r>
            <a:pPr indent="0" marL="0">
              <a:buNone/>
            </a:pPr>
            <a:r>
              <a:rPr lang="en-US" sz="1250" dirty="0">
                <a:solidFill>
                  <a:schemeClr val="bg2"/>
                </a:solidFill>
              </a:rPr>
              <a:t>TrackNetV5 finds the shuttle in every broadcast frame.</a:t>
            </a:r>
            <a:endParaRPr lang="en-US" sz="1250" dirty="0"/>
          </a:p>
          <a:p>
            <a:pPr indent="0" marL="0">
              <a:buNone/>
            </a:pPr>
            <a:r>
              <a:rPr lang="en-US" sz="600" dirty="0">
                <a:solidFill>
                  <a:schemeClr val="bg2"/>
                </a:solidFill>
              </a:rPr>
              <a:t> </a:t>
            </a:r>
            <a:endParaRPr lang="en-US" sz="1250" dirty="0"/>
          </a:p>
          <a:p>
            <a:pPr indent="0" marL="0">
              <a:buNone/>
            </a:pPr>
            <a:r>
              <a:rPr lang="en-US" sz="1250" b="1" dirty="0">
                <a:solidFill>
                  <a:srgbClr val="EEF1F2"/>
                </a:solidFill>
              </a:rPr>
              <a:t>2  Camera, 3D and pose. </a:t>
            </a:r>
            <a:pPr indent="0" marL="0">
              <a:buNone/>
            </a:pPr>
            <a:r>
              <a:rPr lang="en-US" sz="1250" dirty="0">
                <a:solidFill>
                  <a:schemeClr val="bg2"/>
                </a:solidFill>
              </a:rPr>
              <a:t>Monocular scene reconstruction turns the 2D track into the flight in metres; pose gives both skeletons, speed and distance.</a:t>
            </a:r>
            <a:endParaRPr lang="en-US" sz="1250" dirty="0"/>
          </a:p>
          <a:p>
            <a:pPr indent="0" marL="0">
              <a:buNone/>
            </a:pPr>
            <a:r>
              <a:rPr lang="en-US" sz="600" dirty="0">
                <a:solidFill>
                  <a:schemeClr val="bg2"/>
                </a:solidFill>
              </a:rPr>
              <a:t> </a:t>
            </a:r>
            <a:endParaRPr lang="en-US" sz="1250" dirty="0"/>
          </a:p>
          <a:p>
            <a:pPr indent="0" marL="0">
              <a:buNone/>
            </a:pPr>
            <a:r>
              <a:rPr lang="en-US" sz="1250" b="1" dirty="0">
                <a:solidFill>
                  <a:srgbClr val="EEF1F2"/>
                </a:solidFill>
              </a:rPr>
              <a:t>3  Speed curve. </a:t>
            </a:r>
            <a:pPr indent="0" marL="0">
              <a:buNone/>
            </a:pPr>
            <a:r>
              <a:rPr lang="en-US" sz="1250" dirty="0">
                <a:solidFill>
                  <a:schemeClr val="bg2"/>
                </a:solidFill>
              </a:rPr>
              <a:t>Each hit's launch speed, apex and contact height, clickable back to the frame.</a:t>
            </a:r>
            <a:endParaRPr lang="en-US" sz="1250" dirty="0"/>
          </a:p>
        </p:txBody>
      </p:sp>
      <p:sp>
        <p:nvSpPr>
          <p:cNvPr id="24" name="Text 21"/>
          <p:cNvSpPr txBox="1"/>
          <p:nvPr/>
        </p:nvSpPr>
        <p:spPr>
          <a:xfrm>
            <a:off x="8686800" y="4846320"/>
            <a:ext cx="2697480" cy="1280160"/>
          </a:xfrm>
          <a:prstGeom prst="rect">
            <a:avLst/>
          </a:prstGeom>
          <a:noFill/>
          <a:ln/>
        </p:spPr>
        <p:txBody>
          <a:bodyPr wrap="square" lIns="0" tIns="0" rIns="0" bIns="0" rtlCol="0" anchor="t"/>
          <a:lstStyle/>
          <a:p>
            <a:pPr indent="0" marL="0">
              <a:buNone/>
            </a:pPr>
            <a:r>
              <a:rPr lang="en-US" sz="3400" b="1" dirty="0">
                <a:solidFill>
                  <a:srgbClr val="FF8A6B"/>
                </a:solidFill>
                <a:latin typeface="Bahnschrift" pitchFamily="34" charset="0"/>
                <a:ea typeface="Bahnschrift" pitchFamily="34" charset="-122"/>
                <a:cs typeface="Bahnschrift" pitchFamily="34" charset="-120"/>
              </a:rPr>
              <a:t>200 km/h</a:t>
            </a:r>
            <a:endParaRPr lang="en-US" sz="1500" dirty="0"/>
          </a:p>
          <a:p>
            <a:pPr indent="0" marL="0">
              <a:buNone/>
            </a:pPr>
            <a:r>
              <a:rPr lang="en-US" sz="1200" dirty="0">
                <a:solidFill>
                  <a:schemeClr val="bg2"/>
                </a:solidFill>
              </a:rPr>
              <a:t>far player's smash, measured from the 3D track</a:t>
            </a:r>
            <a:endParaRPr lang="en-US" sz="15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2 · SOLUTION: TOOLS, TECHNOLOGIES AND METHODOLOGY</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F2E6C9"/>
          </a:solidFill>
          <a:ln w="12700">
            <a:solidFill>
              <a:srgbClr val="F2E6C9"/>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Round table: coaches who argue, then agree the week</a:t>
            </a:r>
            <a:endParaRPr lang="en-US" sz="3000" dirty="0"/>
          </a:p>
        </p:txBody>
      </p:sp>
      <p:pic>
        <p:nvPicPr>
          <p:cNvPr id="14" name="round table clip" descr="shots/rt_conflict.png">    </p:cNvPr>
          <p:cNvPicPr>
            <a:picLocks noChangeAspect="1"/>
          </p:cNvPicPr>
          <p:nvPr/>
        </p:nvPicPr>
        <p:blipFill>
          <a:blip r:embed="rId1"/>
          <a:stretch>
            <a:fillRect/>
          </a:stretch>
        </p:blipFill>
        <p:spPr>
          <a:xfrm>
            <a:off x="548640" y="1463040"/>
            <a:ext cx="7589520" cy="2741879"/>
          </a:xfrm>
          <a:prstGeom prst="rect">
            <a:avLst/>
          </a:prstGeom>
        </p:spPr>
      </p:pic>
      <p:pic>
        <p:nvPicPr>
          <p:cNvPr id="15" name="head coach ruling" descr="shots/rt_ruling.png">    </p:cNvPr>
          <p:cNvPicPr>
            <a:picLocks noChangeAspect="1"/>
          </p:cNvPicPr>
          <p:nvPr/>
        </p:nvPicPr>
        <p:blipFill>
          <a:blip r:embed="rId2"/>
          <a:stretch>
            <a:fillRect/>
          </a:stretch>
        </p:blipFill>
        <p:spPr>
          <a:xfrm>
            <a:off x="548640" y="4389120"/>
            <a:ext cx="7030778" cy="1874520"/>
          </a:xfrm>
          <a:prstGeom prst="rect">
            <a:avLst/>
          </a:prstGeom>
        </p:spPr>
      </p:pic>
      <p:sp>
        <p:nvSpPr>
          <p:cNvPr id="16" name="round table notes"/>
          <p:cNvSpPr/>
          <p:nvPr/>
        </p:nvSpPr>
        <p:spPr>
          <a:xfrm>
            <a:off x="8412480" y="1463040"/>
            <a:ext cx="3200400" cy="4800600"/>
          </a:xfrm>
          <a:prstGeom prst="roundRect">
            <a:avLst>
              <a:gd name="adj" fmla="val 2857"/>
            </a:avLst>
          </a:prstGeom>
          <a:solidFill>
            <a:schemeClr val="accent6"/>
          </a:solidFill>
          <a:ln w="9525">
            <a:solidFill>
              <a:schemeClr val="accent6"/>
            </a:solidFill>
            <a:prstDash val="solid"/>
          </a:ln>
        </p:spPr>
      </p:sp>
      <p:sp>
        <p:nvSpPr>
          <p:cNvPr id="17" name="Text 13"/>
          <p:cNvSpPr txBox="1"/>
          <p:nvPr/>
        </p:nvSpPr>
        <p:spPr>
          <a:xfrm>
            <a:off x="8641080" y="1691640"/>
            <a:ext cx="2788920" cy="4434840"/>
          </a:xfrm>
          <a:prstGeom prst="rect">
            <a:avLst/>
          </a:prstGeom>
          <a:noFill/>
          <a:ln/>
        </p:spPr>
        <p:txBody>
          <a:bodyPr wrap="square" lIns="0" tIns="0" rIns="0" bIns="0" rtlCol="0" anchor="t"/>
          <a:lstStyle/>
          <a:p>
            <a:pPr indent="0" marL="0">
              <a:buNone/>
            </a:pPr>
            <a:r>
              <a:rPr lang="en-US" sz="1250" b="1" dirty="0">
                <a:solidFill>
                  <a:srgbClr val="FF6B5E"/>
                </a:solidFill>
              </a:rPr>
              <a:t>Conflict, then resolution</a:t>
            </a:r>
            <a:endParaRPr lang="en-US" sz="1250" dirty="0"/>
          </a:p>
          <a:p>
            <a:pPr indent="0" marL="0">
              <a:buNone/>
            </a:pPr>
            <a:r>
              <a:rPr lang="en-US" sz="1250" dirty="0">
                <a:solidFill>
                  <a:schemeClr val="bg2"/>
                </a:solidFill>
              </a:rPr>
              <a:t>Ren challenges Lin: smash-defence blocks mean jumps, and memory says “right knee sore”. The table shows the clash, then the head coach rules: health first, then points at stake.</a:t>
            </a:r>
            <a:endParaRPr lang="en-US" sz="1250" dirty="0"/>
          </a:p>
          <a:p>
            <a:pPr indent="0" marL="0">
              <a:buNone/>
            </a:pPr>
            <a:r>
              <a:rPr lang="en-US" sz="600" dirty="0">
                <a:solidFill>
                  <a:schemeClr val="bg2"/>
                </a:solidFill>
              </a:rPr>
              <a:t> </a:t>
            </a:r>
            <a:endParaRPr lang="en-US" sz="1250" dirty="0"/>
          </a:p>
          <a:p>
            <a:pPr indent="0" marL="0">
              <a:buNone/>
            </a:pPr>
            <a:r>
              <a:rPr lang="en-US" sz="1250" b="1" dirty="0">
                <a:solidFill>
                  <a:srgbClr val="5FD39A"/>
                </a:solidFill>
              </a:rPr>
              <a:t>No invented numbers</a:t>
            </a:r>
            <a:endParaRPr lang="en-US" sz="1250" dirty="0"/>
          </a:p>
          <a:p>
            <a:pPr indent="0" marL="0">
              <a:buNone/>
            </a:pPr>
            <a:r>
              <a:rPr lang="en-US" sz="1250" dirty="0">
                <a:solidFill>
                  <a:schemeClr val="bg2"/>
                </a:solidFill>
              </a:rPr>
              <a:t>8 of 8 figures in the meeting re-computed from the raw labels; 23 evidence chips open the exact rally and shot.</a:t>
            </a:r>
            <a:endParaRPr lang="en-US" sz="1250" dirty="0"/>
          </a:p>
          <a:p>
            <a:pPr indent="0" marL="0">
              <a:buNone/>
            </a:pPr>
            <a:r>
              <a:rPr lang="en-US" sz="600" dirty="0">
                <a:solidFill>
                  <a:schemeClr val="bg2"/>
                </a:solidFill>
              </a:rPr>
              <a:t> </a:t>
            </a:r>
            <a:endParaRPr lang="en-US" sz="1250" dirty="0"/>
          </a:p>
          <a:p>
            <a:pPr indent="0" marL="0">
              <a:buNone/>
            </a:pPr>
            <a:r>
              <a:rPr lang="en-US" sz="1250" b="1" dirty="0">
                <a:solidFill>
                  <a:srgbClr val="EEF1F2"/>
                </a:solidFill>
              </a:rPr>
              <a:t>Output</a:t>
            </a:r>
            <a:endParaRPr lang="en-US" sz="1250" dirty="0"/>
          </a:p>
          <a:p>
            <a:pPr indent="0" marL="0">
              <a:buNone/>
            </a:pPr>
            <a:r>
              <a:rPr lang="en-US" sz="1250" dirty="0">
                <a:solidFill>
                  <a:schemeClr val="bg2"/>
                </a:solidFill>
              </a:rPr>
              <a:t>Four measurable goals and a 7-day schedule, written back to memory and sent to each player on Telegram.</a:t>
            </a:r>
            <a:endParaRPr lang="en-US" sz="125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2 · SOLUTION: TOOLS, TECHNOLOGIES AND METHODOLOGY</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F2E6C9"/>
          </a:solidFill>
          <a:ln w="12700">
            <a:solidFill>
              <a:srgbClr val="F2E6C9"/>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Tactics and technique coaches: the zones and the flights</a:t>
            </a:r>
            <a:endParaRPr lang="en-US" sz="3000" dirty="0"/>
          </a:p>
        </p:txBody>
      </p:sp>
      <p:pic>
        <p:nvPicPr>
          <p:cNvPr id="14" name="Coach Lin · tactics clip" descr="clips/_coach_tactics.jpg">    </p:cNvPr>
          <p:cNvPicPr>
            <a:picLocks noChangeAspect="1"/>
          </p:cNvPicPr>
          <p:nvPr/>
        </p:nvPicPr>
        <p:blipFill>
          <a:blip r:embed="rId1"/>
          <a:stretch>
            <a:fillRect/>
          </a:stretch>
        </p:blipFill>
        <p:spPr>
          <a:xfrm>
            <a:off x="548640" y="1371600"/>
            <a:ext cx="5440680" cy="2808872"/>
          </a:xfrm>
          <a:prstGeom prst="rect">
            <a:avLst/>
          </a:prstGeom>
        </p:spPr>
      </p:pic>
      <p:sp>
        <p:nvSpPr>
          <p:cNvPr id="15" name="Coach Lin · tactics callout"/>
          <p:cNvSpPr/>
          <p:nvPr/>
        </p:nvSpPr>
        <p:spPr>
          <a:xfrm>
            <a:off x="2235251" y="3503379"/>
            <a:ext cx="2971800" cy="365760"/>
          </a:xfrm>
          <a:prstGeom prst="roundRect">
            <a:avLst>
              <a:gd name="adj" fmla="val 20000"/>
            </a:avLst>
          </a:prstGeom>
          <a:solidFill>
            <a:srgbClr val="04070A"/>
          </a:solidFill>
          <a:ln w="25400">
            <a:solidFill>
              <a:srgbClr val="FF6B5E"/>
            </a:solidFill>
            <a:prstDash val="solid"/>
          </a:ln>
          <a:effectLst>
            <a:outerShdw sx="100000" sy="100000" kx="0" ky="0" algn="bl" rotWithShape="0" blurRad="76200" dist="25400" dir="5400000">
              <a:srgbClr val="000000">
                <a:alpha val="60000"/>
              </a:srgbClr>
            </a:outerShdw>
          </a:effectLst>
        </p:spPr>
      </p:sp>
      <p:sp>
        <p:nvSpPr>
          <p:cNvPr id="16" name="Coach Lin · tactics callout dot"/>
          <p:cNvSpPr/>
          <p:nvPr/>
        </p:nvSpPr>
        <p:spPr>
          <a:xfrm>
            <a:off x="2363267" y="3622251"/>
            <a:ext cx="128016" cy="128016"/>
          </a:xfrm>
          <a:prstGeom prst="ellipse">
            <a:avLst/>
          </a:prstGeom>
          <a:solidFill>
            <a:srgbClr val="FF6B5E"/>
          </a:solidFill>
          <a:ln w="12700">
            <a:solidFill>
              <a:srgbClr val="FF6B5E"/>
            </a:solidFill>
            <a:prstDash val="solid"/>
          </a:ln>
        </p:spPr>
      </p:sp>
      <p:sp>
        <p:nvSpPr>
          <p:cNvPr id="17" name="Text 14"/>
          <p:cNvSpPr txBox="1"/>
          <p:nvPr/>
        </p:nvSpPr>
        <p:spPr>
          <a:xfrm>
            <a:off x="2564435" y="3503379"/>
            <a:ext cx="2606040" cy="365760"/>
          </a:xfrm>
          <a:prstGeom prst="rect">
            <a:avLst/>
          </a:prstGeom>
          <a:noFill/>
          <a:ln/>
        </p:spPr>
        <p:txBody>
          <a:bodyPr wrap="square" lIns="0" tIns="0" rIns="0" bIns="0" rtlCol="0" anchor="ctr"/>
          <a:lstStyle/>
          <a:p>
            <a:pPr indent="0" marL="0">
              <a:buNone/>
            </a:pPr>
            <a:r>
              <a:rPr lang="en-US" sz="1050" b="1" dirty="0">
                <a:solidFill>
                  <a:schemeClr val="bg1"/>
                </a:solidFill>
              </a:rPr>
              <a:t>Rear forehand: 29% of points lost (7/24)</a:t>
            </a:r>
            <a:endParaRPr lang="en-US" sz="1050" dirty="0"/>
          </a:p>
        </p:txBody>
      </p:sp>
      <p:sp>
        <p:nvSpPr>
          <p:cNvPr id="18" name="Text 15"/>
          <p:cNvSpPr txBox="1"/>
          <p:nvPr/>
        </p:nvSpPr>
        <p:spPr>
          <a:xfrm>
            <a:off x="548640" y="4572000"/>
            <a:ext cx="5394960" cy="274320"/>
          </a:xfrm>
          <a:prstGeom prst="rect">
            <a:avLst/>
          </a:prstGeom>
          <a:noFill/>
          <a:ln/>
        </p:spPr>
        <p:txBody>
          <a:bodyPr wrap="square" lIns="0" tIns="0" rIns="0" bIns="0" rtlCol="0" anchor="t"/>
          <a:lstStyle/>
          <a:p>
            <a:pPr indent="0" marL="0">
              <a:buNone/>
            </a:pPr>
            <a:r>
              <a:rPr lang="en-US" sz="1100" spc="300" kern="0" dirty="0">
                <a:solidFill>
                  <a:srgbClr val="F2E6C9"/>
                </a:solidFill>
                <a:latin typeface="Consolas" pitchFamily="34" charset="0"/>
                <a:ea typeface="Consolas" pitchFamily="34" charset="-122"/>
                <a:cs typeface="Consolas" pitchFamily="34" charset="-120"/>
              </a:rPr>
              <a:t>COACH LIN · TACTICS</a:t>
            </a:r>
            <a:endParaRPr lang="en-US" sz="1100" dirty="0"/>
          </a:p>
        </p:txBody>
      </p:sp>
      <p:sp>
        <p:nvSpPr>
          <p:cNvPr id="19" name="Text 16"/>
          <p:cNvSpPr txBox="1"/>
          <p:nvPr/>
        </p:nvSpPr>
        <p:spPr>
          <a:xfrm>
            <a:off x="548640" y="4892040"/>
            <a:ext cx="5394960" cy="1417320"/>
          </a:xfrm>
          <a:prstGeom prst="rect">
            <a:avLst/>
          </a:prstGeom>
          <a:noFill/>
          <a:ln/>
        </p:spPr>
        <p:txBody>
          <a:bodyPr wrap="square" lIns="0" tIns="0" rIns="0" bIns="0" rtlCol="0" anchor="t"/>
          <a:lstStyle/>
          <a:p>
            <a:pPr indent="0" marL="0">
              <a:spcAft>
                <a:spcPts val="300"/>
              </a:spcAft>
              <a:buNone/>
            </a:pPr>
            <a:r>
              <a:rPr lang="en-US" sz="1150" b="1" dirty="0">
                <a:solidFill>
                  <a:srgbClr val="EEF1F2"/>
                </a:solidFill>
              </a:rPr>
              <a:t>Reads every point. </a:t>
            </a:r>
            <a:pPr indent="0" marL="0">
              <a:spcAft>
                <a:spcPts val="300"/>
              </a:spcAft>
              <a:buNone/>
            </a:pPr>
            <a:r>
              <a:rPr lang="en-US" sz="1150" dirty="0">
                <a:solidFill>
                  <a:schemeClr val="bg2"/>
                </a:solidFill>
              </a:rPr>
              <a:t>101 points: 9 winners hit vs 24 conceded; the match was won on 41 opponent errors.</a:t>
            </a:r>
            <a:endParaRPr lang="en-US" sz="1150" dirty="0"/>
          </a:p>
          <a:p>
            <a:pPr indent="0" marL="0">
              <a:spcAft>
                <a:spcPts val="300"/>
              </a:spcAft>
              <a:buNone/>
            </a:pPr>
            <a:r>
              <a:rPr lang="en-US" sz="1150" b="1" dirty="0">
                <a:solidFill>
                  <a:srgbClr val="EEF1F2"/>
                </a:solidFill>
              </a:rPr>
              <a:t>Flashes the leak. </a:t>
            </a:r>
            <a:pPr indent="0" marL="0">
              <a:spcAft>
                <a:spcPts val="300"/>
              </a:spcAft>
              <a:buNone/>
            </a:pPr>
            <a:r>
              <a:rPr lang="en-US" sz="1150" dirty="0">
                <a:solidFill>
                  <a:schemeClr val="bg2"/>
                </a:solidFill>
              </a:rPr>
              <a:t>Rear forehand: 7 of 24 points lost, blinking on the defence map.</a:t>
            </a:r>
            <a:endParaRPr lang="en-US" sz="1150" dirty="0"/>
          </a:p>
          <a:p>
            <a:pPr indent="0" marL="0">
              <a:spcAft>
                <a:spcPts val="300"/>
              </a:spcAft>
              <a:buNone/>
            </a:pPr>
            <a:r>
              <a:rPr lang="en-US" sz="1150" b="1" dirty="0">
                <a:solidFill>
                  <a:srgbClr val="EEF1F2"/>
                </a:solidFill>
              </a:rPr>
              <a:t>Game plan. </a:t>
            </a:r>
            <a:pPr indent="0" marL="0">
              <a:spcAft>
                <a:spcPts val="300"/>
              </a:spcAft>
              <a:buNone/>
            </a:pPr>
            <a:r>
              <a:rPr lang="en-US" sz="1150" dirty="0">
                <a:solidFill>
                  <a:schemeClr val="bg2"/>
                </a:solidFill>
              </a:rPr>
              <a:t>Recover toward the forehand after clears; lift deep to the backhand corner.</a:t>
            </a:r>
            <a:endParaRPr lang="en-US" sz="1150" dirty="0"/>
          </a:p>
        </p:txBody>
      </p:sp>
      <p:pic>
        <p:nvPicPr>
          <p:cNvPr id="20" name="Coach Kai · technique clip" descr="clips/_coach_technique.jpg">    </p:cNvPr>
          <p:cNvPicPr>
            <a:picLocks noChangeAspect="1"/>
          </p:cNvPicPr>
          <p:nvPr/>
        </p:nvPicPr>
        <p:blipFill>
          <a:blip r:embed="rId2"/>
          <a:stretch>
            <a:fillRect/>
          </a:stretch>
        </p:blipFill>
        <p:spPr>
          <a:xfrm>
            <a:off x="6172200" y="1371600"/>
            <a:ext cx="5435040" cy="3063240"/>
          </a:xfrm>
          <a:prstGeom prst="rect">
            <a:avLst/>
          </a:prstGeom>
        </p:spPr>
      </p:pic>
      <p:sp>
        <p:nvSpPr>
          <p:cNvPr id="21" name="Coach Kai · technique callout"/>
          <p:cNvSpPr/>
          <p:nvPr/>
        </p:nvSpPr>
        <p:spPr>
          <a:xfrm>
            <a:off x="8560080" y="1463497"/>
            <a:ext cx="2971800" cy="365760"/>
          </a:xfrm>
          <a:prstGeom prst="roundRect">
            <a:avLst>
              <a:gd name="adj" fmla="val 20000"/>
            </a:avLst>
          </a:prstGeom>
          <a:solidFill>
            <a:srgbClr val="04070A"/>
          </a:solidFill>
          <a:ln w="25400">
            <a:solidFill>
              <a:srgbClr val="6FB6FF"/>
            </a:solidFill>
            <a:prstDash val="solid"/>
          </a:ln>
          <a:effectLst>
            <a:outerShdw sx="100000" sy="100000" kx="0" ky="0" algn="bl" rotWithShape="0" blurRad="76200" dist="25400" dir="5400000">
              <a:srgbClr val="000000">
                <a:alpha val="60000"/>
              </a:srgbClr>
            </a:outerShdw>
          </a:effectLst>
        </p:spPr>
      </p:sp>
      <p:sp>
        <p:nvSpPr>
          <p:cNvPr id="22" name="Coach Kai · technique callout dot"/>
          <p:cNvSpPr/>
          <p:nvPr/>
        </p:nvSpPr>
        <p:spPr>
          <a:xfrm>
            <a:off x="8688096" y="1582369"/>
            <a:ext cx="128016" cy="128016"/>
          </a:xfrm>
          <a:prstGeom prst="ellipse">
            <a:avLst/>
          </a:prstGeom>
          <a:solidFill>
            <a:srgbClr val="6FB6FF"/>
          </a:solidFill>
          <a:ln w="12700">
            <a:solidFill>
              <a:srgbClr val="6FB6FF"/>
            </a:solidFill>
            <a:prstDash val="solid"/>
          </a:ln>
        </p:spPr>
      </p:sp>
      <p:sp>
        <p:nvSpPr>
          <p:cNvPr id="23" name="Text 19"/>
          <p:cNvSpPr txBox="1"/>
          <p:nvPr/>
        </p:nvSpPr>
        <p:spPr>
          <a:xfrm>
            <a:off x="8889264" y="1463497"/>
            <a:ext cx="2606040" cy="365760"/>
          </a:xfrm>
          <a:prstGeom prst="rect">
            <a:avLst/>
          </a:prstGeom>
          <a:noFill/>
          <a:ln/>
        </p:spPr>
        <p:txBody>
          <a:bodyPr wrap="square" lIns="0" tIns="0" rIns="0" bIns="0" rtlCol="0" anchor="ctr"/>
          <a:lstStyle/>
          <a:p>
            <a:pPr indent="0" marL="0">
              <a:buNone/>
            </a:pPr>
            <a:r>
              <a:rPr lang="en-US" sz="1050" b="1" dirty="0">
                <a:solidFill>
                  <a:schemeClr val="bg1"/>
                </a:solidFill>
              </a:rPr>
              <a:t>Every shot graded A / B / C from its 3D flight</a:t>
            </a:r>
            <a:endParaRPr lang="en-US" sz="1050" dirty="0"/>
          </a:p>
        </p:txBody>
      </p:sp>
      <p:sp>
        <p:nvSpPr>
          <p:cNvPr id="24" name="Text 20"/>
          <p:cNvSpPr txBox="1"/>
          <p:nvPr/>
        </p:nvSpPr>
        <p:spPr>
          <a:xfrm>
            <a:off x="6172200" y="4572000"/>
            <a:ext cx="5394960" cy="274320"/>
          </a:xfrm>
          <a:prstGeom prst="rect">
            <a:avLst/>
          </a:prstGeom>
          <a:noFill/>
          <a:ln/>
        </p:spPr>
        <p:txBody>
          <a:bodyPr wrap="square" lIns="0" tIns="0" rIns="0" bIns="0" rtlCol="0" anchor="t"/>
          <a:lstStyle/>
          <a:p>
            <a:pPr indent="0" marL="0">
              <a:buNone/>
            </a:pPr>
            <a:r>
              <a:rPr lang="en-US" sz="1100" spc="300" kern="0" dirty="0">
                <a:solidFill>
                  <a:srgbClr val="6FB6FF"/>
                </a:solidFill>
                <a:latin typeface="Consolas" pitchFamily="34" charset="0"/>
                <a:ea typeface="Consolas" pitchFamily="34" charset="-122"/>
                <a:cs typeface="Consolas" pitchFamily="34" charset="-120"/>
              </a:rPr>
              <a:t>COACH KAI · TECHNIQUE</a:t>
            </a:r>
            <a:endParaRPr lang="en-US" sz="1100" dirty="0"/>
          </a:p>
        </p:txBody>
      </p:sp>
      <p:sp>
        <p:nvSpPr>
          <p:cNvPr id="25" name="Text 21"/>
          <p:cNvSpPr txBox="1"/>
          <p:nvPr/>
        </p:nvSpPr>
        <p:spPr>
          <a:xfrm>
            <a:off x="6172200" y="4892040"/>
            <a:ext cx="5394960" cy="1417320"/>
          </a:xfrm>
          <a:prstGeom prst="rect">
            <a:avLst/>
          </a:prstGeom>
          <a:noFill/>
          <a:ln/>
        </p:spPr>
        <p:txBody>
          <a:bodyPr wrap="square" lIns="0" tIns="0" rIns="0" bIns="0" rtlCol="0" anchor="t"/>
          <a:lstStyle/>
          <a:p>
            <a:pPr indent="0" marL="0">
              <a:spcAft>
                <a:spcPts val="300"/>
              </a:spcAft>
              <a:buNone/>
            </a:pPr>
            <a:r>
              <a:rPr lang="en-US" sz="1150" b="1" dirty="0">
                <a:solidFill>
                  <a:srgbClr val="EEF1F2"/>
                </a:solidFill>
              </a:rPr>
              <a:t>Every flight in 3D. </a:t>
            </a:r>
            <a:pPr indent="0" marL="0">
              <a:spcAft>
                <a:spcPts val="300"/>
              </a:spcAft>
              <a:buNone/>
            </a:pPr>
            <a:r>
              <a:rPr lang="en-US" sz="1150" dirty="0">
                <a:solidFill>
                  <a:schemeClr val="bg2"/>
                </a:solidFill>
              </a:rPr>
              <a:t>Launch speed, apex, contact height, net clearance and depth per shot.</a:t>
            </a:r>
            <a:endParaRPr lang="en-US" sz="1150" dirty="0"/>
          </a:p>
          <a:p>
            <a:pPr indent="0" marL="0">
              <a:spcAft>
                <a:spcPts val="300"/>
              </a:spcAft>
              <a:buNone/>
            </a:pPr>
            <a:r>
              <a:rPr lang="en-US" sz="1150" b="1" dirty="0">
                <a:solidFill>
                  <a:srgbClr val="EEF1F2"/>
                </a:solidFill>
              </a:rPr>
              <a:t>Shot quality grades. </a:t>
            </a:r>
            <a:pPr indent="0" marL="0">
              <a:spcAft>
                <a:spcPts val="300"/>
              </a:spcAft>
              <a:buNone/>
            </a:pPr>
            <a:r>
              <a:rPr lang="en-US" sz="1150" dirty="0">
                <a:solidFill>
                  <a:schemeClr val="bg2"/>
                </a:solidFill>
              </a:rPr>
              <a:t>A deep 141 km/h clear earns an A; a net shot 40 cm over the tape a B.</a:t>
            </a:r>
            <a:endParaRPr lang="en-US" sz="1150" dirty="0"/>
          </a:p>
          <a:p>
            <a:pPr indent="0" marL="0">
              <a:spcAft>
                <a:spcPts val="300"/>
              </a:spcAft>
              <a:buNone/>
            </a:pPr>
            <a:r>
              <a:rPr lang="en-US" sz="1150" b="1" dirty="0">
                <a:solidFill>
                  <a:srgbClr val="EEF1F2"/>
                </a:solidFill>
              </a:rPr>
              <a:t>What to fix. </a:t>
            </a:r>
            <a:pPr indent="0" marL="0">
              <a:spcAft>
                <a:spcPts val="300"/>
              </a:spcAft>
              <a:buNone/>
            </a:pPr>
            <a:r>
              <a:rPr lang="en-US" sz="1150" dirty="0">
                <a:solidFill>
                  <a:schemeClr val="bg2"/>
                </a:solidFill>
              </a:rPr>
              <a:t>The weakest stroke goes first on next session's list.</a:t>
            </a:r>
            <a:endParaRPr lang="en-US" sz="115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2 · SOLUTION: TOOLS, TECHNOLOGIES AND METHODOLOGY</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F2E6C9"/>
          </a:solidFill>
          <a:ln w="12700">
            <a:solidFill>
              <a:srgbClr val="F2E6C9"/>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Fitness and data coaches: the body and the habits</a:t>
            </a:r>
            <a:endParaRPr lang="en-US" sz="3000" dirty="0"/>
          </a:p>
        </p:txBody>
      </p:sp>
      <p:pic>
        <p:nvPicPr>
          <p:cNvPr id="14" name="Coach Ren · fitness clip" descr="clips/_coach_fitness.jpg">    </p:cNvPr>
          <p:cNvPicPr>
            <a:picLocks noChangeAspect="1"/>
          </p:cNvPicPr>
          <p:nvPr/>
        </p:nvPicPr>
        <p:blipFill>
          <a:blip r:embed="rId1"/>
          <a:stretch>
            <a:fillRect/>
          </a:stretch>
        </p:blipFill>
        <p:spPr>
          <a:xfrm>
            <a:off x="548640" y="1371600"/>
            <a:ext cx="5392579" cy="3063240"/>
          </a:xfrm>
          <a:prstGeom prst="rect">
            <a:avLst/>
          </a:prstGeom>
        </p:spPr>
      </p:pic>
      <p:sp>
        <p:nvSpPr>
          <p:cNvPr id="15" name="Coach Ren · fitness callout"/>
          <p:cNvSpPr/>
          <p:nvPr/>
        </p:nvSpPr>
        <p:spPr>
          <a:xfrm>
            <a:off x="2325559" y="1494130"/>
            <a:ext cx="2971800" cy="365760"/>
          </a:xfrm>
          <a:prstGeom prst="roundRect">
            <a:avLst>
              <a:gd name="adj" fmla="val 20000"/>
            </a:avLst>
          </a:prstGeom>
          <a:solidFill>
            <a:srgbClr val="04070A"/>
          </a:solidFill>
          <a:ln w="25400">
            <a:solidFill>
              <a:srgbClr val="F2D46B"/>
            </a:solidFill>
            <a:prstDash val="solid"/>
          </a:ln>
          <a:effectLst>
            <a:outerShdw sx="100000" sy="100000" kx="0" ky="0" algn="bl" rotWithShape="0" blurRad="76200" dist="25400" dir="5400000">
              <a:srgbClr val="000000">
                <a:alpha val="60000"/>
              </a:srgbClr>
            </a:outerShdw>
          </a:effectLst>
        </p:spPr>
      </p:sp>
      <p:sp>
        <p:nvSpPr>
          <p:cNvPr id="16" name="Coach Ren · fitness callout dot"/>
          <p:cNvSpPr/>
          <p:nvPr/>
        </p:nvSpPr>
        <p:spPr>
          <a:xfrm>
            <a:off x="2453575" y="1613002"/>
            <a:ext cx="128016" cy="128016"/>
          </a:xfrm>
          <a:prstGeom prst="ellipse">
            <a:avLst/>
          </a:prstGeom>
          <a:solidFill>
            <a:srgbClr val="F2D46B"/>
          </a:solidFill>
          <a:ln w="12700">
            <a:solidFill>
              <a:srgbClr val="F2D46B"/>
            </a:solidFill>
            <a:prstDash val="solid"/>
          </a:ln>
        </p:spPr>
      </p:sp>
      <p:sp>
        <p:nvSpPr>
          <p:cNvPr id="17" name="Text 14"/>
          <p:cNvSpPr txBox="1"/>
          <p:nvPr/>
        </p:nvSpPr>
        <p:spPr>
          <a:xfrm>
            <a:off x="2654743" y="1494130"/>
            <a:ext cx="2606040" cy="365760"/>
          </a:xfrm>
          <a:prstGeom prst="rect">
            <a:avLst/>
          </a:prstGeom>
          <a:noFill/>
          <a:ln/>
        </p:spPr>
        <p:txBody>
          <a:bodyPr wrap="square" lIns="0" tIns="0" rIns="0" bIns="0" rtlCol="0" anchor="ctr"/>
          <a:lstStyle/>
          <a:p>
            <a:pPr indent="0" marL="0">
              <a:buNone/>
            </a:pPr>
            <a:r>
              <a:rPr lang="en-US" sz="1050" b="1" dirty="0">
                <a:solidFill>
                  <a:schemeClr val="bg1"/>
                </a:solidFill>
              </a:rPr>
              <a:t>Right knee sore: no jump drills this week</a:t>
            </a:r>
            <a:endParaRPr lang="en-US" sz="1050" dirty="0"/>
          </a:p>
        </p:txBody>
      </p:sp>
      <p:sp>
        <p:nvSpPr>
          <p:cNvPr id="18" name="Text 15"/>
          <p:cNvSpPr txBox="1"/>
          <p:nvPr/>
        </p:nvSpPr>
        <p:spPr>
          <a:xfrm>
            <a:off x="548640" y="4572000"/>
            <a:ext cx="5394960" cy="274320"/>
          </a:xfrm>
          <a:prstGeom prst="rect">
            <a:avLst/>
          </a:prstGeom>
          <a:noFill/>
          <a:ln/>
        </p:spPr>
        <p:txBody>
          <a:bodyPr wrap="square" lIns="0" tIns="0" rIns="0" bIns="0" rtlCol="0" anchor="t"/>
          <a:lstStyle/>
          <a:p>
            <a:pPr indent="0" marL="0">
              <a:buNone/>
            </a:pPr>
            <a:r>
              <a:rPr lang="en-US" sz="1100" spc="300" kern="0" dirty="0">
                <a:solidFill>
                  <a:srgbClr val="FF8A6B"/>
                </a:solidFill>
                <a:latin typeface="Consolas" pitchFamily="34" charset="0"/>
                <a:ea typeface="Consolas" pitchFamily="34" charset="-122"/>
                <a:cs typeface="Consolas" pitchFamily="34" charset="-120"/>
              </a:rPr>
              <a:t>COACH REN · FITNESS</a:t>
            </a:r>
            <a:endParaRPr lang="en-US" sz="1100" dirty="0"/>
          </a:p>
        </p:txBody>
      </p:sp>
      <p:sp>
        <p:nvSpPr>
          <p:cNvPr id="19" name="Text 16"/>
          <p:cNvSpPr txBox="1"/>
          <p:nvPr/>
        </p:nvSpPr>
        <p:spPr>
          <a:xfrm>
            <a:off x="548640" y="4892040"/>
            <a:ext cx="5394960" cy="1417320"/>
          </a:xfrm>
          <a:prstGeom prst="rect">
            <a:avLst/>
          </a:prstGeom>
          <a:noFill/>
          <a:ln/>
        </p:spPr>
        <p:txBody>
          <a:bodyPr wrap="square" lIns="0" tIns="0" rIns="0" bIns="0" rtlCol="0" anchor="t"/>
          <a:lstStyle/>
          <a:p>
            <a:pPr indent="0" marL="0">
              <a:spcAft>
                <a:spcPts val="300"/>
              </a:spcAft>
              <a:buNone/>
            </a:pPr>
            <a:r>
              <a:rPr lang="en-US" sz="1150" b="1" dirty="0">
                <a:solidFill>
                  <a:srgbClr val="EEF1F2"/>
                </a:solidFill>
              </a:rPr>
              <a:t>Muscles that flash. </a:t>
            </a:r>
            <a:pPr indent="0" marL="0">
              <a:spcAft>
                <a:spcPts val="300"/>
              </a:spcAft>
              <a:buNone/>
            </a:pPr>
            <a:r>
              <a:rPr lang="en-US" sz="1150" dirty="0">
                <a:solidFill>
                  <a:schemeClr val="bg2"/>
                </a:solidFill>
              </a:rPr>
              <a:t>Quadriceps, calves, forearm and glutes pulse on a 402-muscle 3D model.</a:t>
            </a:r>
            <a:endParaRPr lang="en-US" sz="1150" dirty="0"/>
          </a:p>
          <a:p>
            <a:pPr indent="0" marL="0">
              <a:spcAft>
                <a:spcPts val="300"/>
              </a:spcAft>
              <a:buNone/>
            </a:pPr>
            <a:r>
              <a:rPr lang="en-US" sz="1150" b="1" dirty="0">
                <a:solidFill>
                  <a:srgbClr val="EEF1F2"/>
                </a:solidFill>
              </a:rPr>
              <a:t>Why each one. </a:t>
            </a:r>
            <a:pPr indent="0" marL="0">
              <a:spcAft>
                <a:spcPts val="300"/>
              </a:spcAft>
              <a:buNone/>
            </a:pPr>
            <a:r>
              <a:rPr lang="en-US" sz="1150" dirty="0">
                <a:solidFill>
                  <a:schemeClr val="bg2"/>
                </a:solidFill>
              </a:rPr>
              <a:t>Tied to findings: 60% of smashes into your half go to the mid forehand.</a:t>
            </a:r>
            <a:endParaRPr lang="en-US" sz="1150" dirty="0"/>
          </a:p>
          <a:p>
            <a:pPr indent="0" marL="0">
              <a:spcAft>
                <a:spcPts val="300"/>
              </a:spcAft>
              <a:buNone/>
            </a:pPr>
            <a:r>
              <a:rPr lang="en-US" sz="1150" b="1" dirty="0">
                <a:solidFill>
                  <a:srgbClr val="EEF1F2"/>
                </a:solidFill>
              </a:rPr>
              <a:t>Adapts to memory. </a:t>
            </a:r>
            <a:pPr indent="0" marL="0">
              <a:spcAft>
                <a:spcPts val="300"/>
              </a:spcAft>
              <a:buNone/>
            </a:pPr>
            <a:r>
              <a:rPr lang="en-US" sz="1150" dirty="0">
                <a:solidFill>
                  <a:schemeClr val="bg2"/>
                </a:solidFill>
              </a:rPr>
              <a:t>“Right knee sore”: jump drills become tempo split squats and isometric holds.</a:t>
            </a:r>
            <a:endParaRPr lang="en-US" sz="1150" dirty="0"/>
          </a:p>
        </p:txBody>
      </p:sp>
      <p:pic>
        <p:nvPicPr>
          <p:cNvPr id="20" name="Coach Ada · data clip" descr="clips/_coach_analyst.jpg">    </p:cNvPr>
          <p:cNvPicPr>
            <a:picLocks noChangeAspect="1"/>
          </p:cNvPicPr>
          <p:nvPr/>
        </p:nvPicPr>
        <p:blipFill>
          <a:blip r:embed="rId2"/>
          <a:stretch>
            <a:fillRect/>
          </a:stretch>
        </p:blipFill>
        <p:spPr>
          <a:xfrm>
            <a:off x="6172200" y="1371600"/>
            <a:ext cx="5242406" cy="3063240"/>
          </a:xfrm>
          <a:prstGeom prst="rect">
            <a:avLst/>
          </a:prstGeom>
        </p:spPr>
      </p:pic>
      <p:sp>
        <p:nvSpPr>
          <p:cNvPr id="21" name="Coach Ada · data callout"/>
          <p:cNvSpPr/>
          <p:nvPr/>
        </p:nvSpPr>
        <p:spPr>
          <a:xfrm>
            <a:off x="8478365" y="1494130"/>
            <a:ext cx="2971800" cy="365760"/>
          </a:xfrm>
          <a:prstGeom prst="roundRect">
            <a:avLst>
              <a:gd name="adj" fmla="val 20000"/>
            </a:avLst>
          </a:prstGeom>
          <a:solidFill>
            <a:srgbClr val="04070A"/>
          </a:solidFill>
          <a:ln w="25400">
            <a:solidFill>
              <a:srgbClr val="5FD39A"/>
            </a:solidFill>
            <a:prstDash val="solid"/>
          </a:ln>
          <a:effectLst>
            <a:outerShdw sx="100000" sy="100000" kx="0" ky="0" algn="bl" rotWithShape="0" blurRad="76200" dist="25400" dir="5400000">
              <a:srgbClr val="000000">
                <a:alpha val="60000"/>
              </a:srgbClr>
            </a:outerShdw>
          </a:effectLst>
        </p:spPr>
      </p:sp>
      <p:sp>
        <p:nvSpPr>
          <p:cNvPr id="22" name="Coach Ada · data callout dot"/>
          <p:cNvSpPr/>
          <p:nvPr/>
        </p:nvSpPr>
        <p:spPr>
          <a:xfrm>
            <a:off x="8606381" y="1613002"/>
            <a:ext cx="128016" cy="128016"/>
          </a:xfrm>
          <a:prstGeom prst="ellipse">
            <a:avLst/>
          </a:prstGeom>
          <a:solidFill>
            <a:srgbClr val="5FD39A"/>
          </a:solidFill>
          <a:ln w="12700">
            <a:solidFill>
              <a:srgbClr val="5FD39A"/>
            </a:solidFill>
            <a:prstDash val="solid"/>
          </a:ln>
        </p:spPr>
      </p:sp>
      <p:sp>
        <p:nvSpPr>
          <p:cNvPr id="23" name="Text 19"/>
          <p:cNvSpPr txBox="1"/>
          <p:nvPr/>
        </p:nvSpPr>
        <p:spPr>
          <a:xfrm>
            <a:off x="8807549" y="1494130"/>
            <a:ext cx="2606040" cy="365760"/>
          </a:xfrm>
          <a:prstGeom prst="rect">
            <a:avLst/>
          </a:prstGeom>
          <a:noFill/>
          <a:ln/>
        </p:spPr>
        <p:txBody>
          <a:bodyPr wrap="square" lIns="0" tIns="0" rIns="0" bIns="0" rtlCol="0" anchor="ctr"/>
          <a:lstStyle/>
          <a:p>
            <a:pPr indent="0" marL="0">
              <a:buNone/>
            </a:pPr>
            <a:r>
              <a:rPr lang="en-US" sz="1050" b="1" dirty="0">
                <a:solidFill>
                  <a:schemeClr val="bg1"/>
                </a:solidFill>
              </a:rPr>
              <a:t>After a lift, WANG smashes 38% of the time</a:t>
            </a:r>
            <a:endParaRPr lang="en-US" sz="1050" dirty="0"/>
          </a:p>
        </p:txBody>
      </p:sp>
      <p:sp>
        <p:nvSpPr>
          <p:cNvPr id="24" name="Text 20"/>
          <p:cNvSpPr txBox="1"/>
          <p:nvPr/>
        </p:nvSpPr>
        <p:spPr>
          <a:xfrm>
            <a:off x="6172200" y="4572000"/>
            <a:ext cx="5394960" cy="274320"/>
          </a:xfrm>
          <a:prstGeom prst="rect">
            <a:avLst/>
          </a:prstGeom>
          <a:noFill/>
          <a:ln/>
        </p:spPr>
        <p:txBody>
          <a:bodyPr wrap="square" lIns="0" tIns="0" rIns="0" bIns="0" rtlCol="0" anchor="t"/>
          <a:lstStyle/>
          <a:p>
            <a:pPr indent="0" marL="0">
              <a:buNone/>
            </a:pPr>
            <a:r>
              <a:rPr lang="en-US" sz="1100" spc="300" kern="0" dirty="0">
                <a:solidFill>
                  <a:srgbClr val="5FD39A"/>
                </a:solidFill>
                <a:latin typeface="Consolas" pitchFamily="34" charset="0"/>
                <a:ea typeface="Consolas" pitchFamily="34" charset="-122"/>
                <a:cs typeface="Consolas" pitchFamily="34" charset="-120"/>
              </a:rPr>
              <a:t>COACH ADA · DATA</a:t>
            </a:r>
            <a:endParaRPr lang="en-US" sz="1100" dirty="0"/>
          </a:p>
        </p:txBody>
      </p:sp>
      <p:sp>
        <p:nvSpPr>
          <p:cNvPr id="25" name="Text 21"/>
          <p:cNvSpPr txBox="1"/>
          <p:nvPr/>
        </p:nvSpPr>
        <p:spPr>
          <a:xfrm>
            <a:off x="6172200" y="4892040"/>
            <a:ext cx="5394960" cy="1417320"/>
          </a:xfrm>
          <a:prstGeom prst="rect">
            <a:avLst/>
          </a:prstGeom>
          <a:noFill/>
          <a:ln/>
        </p:spPr>
        <p:txBody>
          <a:bodyPr wrap="square" lIns="0" tIns="0" rIns="0" bIns="0" rtlCol="0" anchor="t"/>
          <a:lstStyle/>
          <a:p>
            <a:pPr indent="0" marL="0">
              <a:spcAft>
                <a:spcPts val="300"/>
              </a:spcAft>
              <a:buNone/>
            </a:pPr>
            <a:r>
              <a:rPr lang="en-US" sz="1150" b="1" dirty="0">
                <a:solidFill>
                  <a:srgbClr val="EEF1F2"/>
                </a:solidFill>
              </a:rPr>
              <a:t>Player profile. </a:t>
            </a:r>
            <a:pPr indent="0" marL="0">
              <a:spcAft>
                <a:spcPts val="300"/>
              </a:spcAft>
              <a:buNone/>
            </a:pPr>
            <a:r>
              <a:rPr lang="en-US" sz="1150" dirty="0">
                <a:solidFill>
                  <a:schemeClr val="bg2"/>
                </a:solidFill>
              </a:rPr>
              <a:t>Shot mix, attack types and winners for either player, from every labelled shot.</a:t>
            </a:r>
            <a:endParaRPr lang="en-US" sz="1150" dirty="0"/>
          </a:p>
          <a:p>
            <a:pPr indent="0" marL="0">
              <a:spcAft>
                <a:spcPts val="300"/>
              </a:spcAft>
              <a:buNone/>
            </a:pPr>
            <a:r>
              <a:rPr lang="en-US" sz="1150" b="1" dirty="0">
                <a:solidFill>
                  <a:srgbClr val="EEF1F2"/>
                </a:solidFill>
              </a:rPr>
              <a:t>Heat zones that blink. </a:t>
            </a:r>
            <a:pPr indent="0" marL="0">
              <a:spcAft>
                <a:spcPts val="300"/>
              </a:spcAft>
              <a:buNone/>
            </a:pPr>
            <a:r>
              <a:rPr lang="en-US" sz="1150" dirty="0">
                <a:solidFill>
                  <a:schemeClr val="bg2"/>
                </a:solidFill>
              </a:rPr>
              <a:t>Favourite landing targets and hitting positions.</a:t>
            </a:r>
            <a:endParaRPr lang="en-US" sz="1150" dirty="0"/>
          </a:p>
          <a:p>
            <a:pPr indent="0" marL="0">
              <a:spcAft>
                <a:spcPts val="300"/>
              </a:spcAft>
              <a:buNone/>
            </a:pPr>
            <a:r>
              <a:rPr lang="en-US" sz="1150" b="1" dirty="0">
                <a:solidFill>
                  <a:srgbClr val="EEF1F2"/>
                </a:solidFill>
              </a:rPr>
              <a:t>Habits under pressure. </a:t>
            </a:r>
            <a:pPr indent="0" marL="0">
              <a:spcAft>
                <a:spcPts val="300"/>
              </a:spcAft>
              <a:buNone/>
            </a:pPr>
            <a:r>
              <a:rPr lang="en-US" sz="1150" dirty="0">
                <a:solidFill>
                  <a:schemeClr val="bg2"/>
                </a:solidFill>
              </a:rPr>
              <a:t>Facing a lift, the opponent smashes 38% of the time.</a:t>
            </a:r>
            <a:endParaRPr lang="en-US" sz="115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2 · SOLUTION: TOOLS, TECHNOLOGIES AND METHODOLOGY</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F2E6C9"/>
          </a:solidFill>
          <a:ln w="12700">
            <a:solidFill>
              <a:srgbClr val="F2E6C9"/>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Self-evolving coaches: they read, reflect and improve</a:t>
            </a:r>
            <a:endParaRPr lang="en-US" sz="3000" dirty="0"/>
          </a:p>
        </p:txBody>
      </p:sp>
      <p:sp>
        <p:nvSpPr>
          <p:cNvPr id="14" name="Text 12"/>
          <p:cNvSpPr txBox="1"/>
          <p:nvPr/>
        </p:nvSpPr>
        <p:spPr>
          <a:xfrm>
            <a:off x="548640" y="1371600"/>
            <a:ext cx="64008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EVERY NIGHT, ON THE STATION</a:t>
            </a:r>
            <a:endParaRPr lang="en-US" sz="1100" dirty="0"/>
          </a:p>
        </p:txBody>
      </p:sp>
      <p:sp>
        <p:nvSpPr>
          <p:cNvPr id="15" name="loop Research agent"/>
          <p:cNvSpPr/>
          <p:nvPr/>
        </p:nvSpPr>
        <p:spPr>
          <a:xfrm>
            <a:off x="548640" y="1719072"/>
            <a:ext cx="1261872" cy="1847088"/>
          </a:xfrm>
          <a:prstGeom prst="roundRect">
            <a:avLst>
              <a:gd name="adj" fmla="val 7246"/>
            </a:avLst>
          </a:prstGeom>
          <a:solidFill>
            <a:schemeClr val="accent6"/>
          </a:solidFill>
          <a:ln w="9525">
            <a:solidFill>
              <a:srgbClr val="6FB6FF"/>
            </a:solidFill>
            <a:prstDash val="solid"/>
          </a:ln>
        </p:spPr>
      </p:sp>
      <p:sp>
        <p:nvSpPr>
          <p:cNvPr id="16" name="loop step 1"/>
          <p:cNvSpPr/>
          <p:nvPr/>
        </p:nvSpPr>
        <p:spPr>
          <a:xfrm>
            <a:off x="658368" y="1828800"/>
            <a:ext cx="274320" cy="274320"/>
          </a:xfrm>
          <a:prstGeom prst="ellipse">
            <a:avLst/>
          </a:prstGeom>
          <a:solidFill>
            <a:srgbClr val="6FB6FF"/>
          </a:solidFill>
          <a:ln w="12700">
            <a:solidFill>
              <a:srgbClr val="6FB6FF"/>
            </a:solidFill>
            <a:prstDash val="solid"/>
          </a:ln>
        </p:spPr>
      </p:sp>
      <p:sp>
        <p:nvSpPr>
          <p:cNvPr id="17" name="Text 15"/>
          <p:cNvSpPr txBox="1"/>
          <p:nvPr/>
        </p:nvSpPr>
        <p:spPr>
          <a:xfrm>
            <a:off x="658368" y="182880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18" name="Text 16"/>
          <p:cNvSpPr txBox="1"/>
          <p:nvPr/>
        </p:nvSpPr>
        <p:spPr>
          <a:xfrm>
            <a:off x="658368" y="2157984"/>
            <a:ext cx="1078992" cy="256032"/>
          </a:xfrm>
          <a:prstGeom prst="rect">
            <a:avLst/>
          </a:prstGeom>
          <a:noFill/>
          <a:ln/>
        </p:spPr>
        <p:txBody>
          <a:bodyPr wrap="square" lIns="0" tIns="0" rIns="0" bIns="0" rtlCol="0" anchor="t"/>
          <a:lstStyle/>
          <a:p>
            <a:pPr indent="0" marL="0">
              <a:buNone/>
            </a:pPr>
            <a:r>
              <a:rPr lang="en-US" sz="1100" b="1" dirty="0">
                <a:solidFill>
                  <a:schemeClr val="bg1"/>
                </a:solidFill>
              </a:rPr>
              <a:t>Research agent</a:t>
            </a:r>
            <a:endParaRPr lang="en-US" sz="1100" dirty="0"/>
          </a:p>
        </p:txBody>
      </p:sp>
      <p:sp>
        <p:nvSpPr>
          <p:cNvPr id="19" name="Text 17"/>
          <p:cNvSpPr txBox="1"/>
          <p:nvPr/>
        </p:nvSpPr>
        <p:spPr>
          <a:xfrm>
            <a:off x="658368" y="2450592"/>
            <a:ext cx="1060704" cy="1051560"/>
          </a:xfrm>
          <a:prstGeom prst="rect">
            <a:avLst/>
          </a:prstGeom>
          <a:noFill/>
          <a:ln/>
        </p:spPr>
        <p:txBody>
          <a:bodyPr wrap="square" lIns="0" tIns="0" rIns="0" bIns="0" rtlCol="0" anchor="t"/>
          <a:lstStyle/>
          <a:p>
            <a:pPr indent="0" marL="0">
              <a:buNone/>
            </a:pPr>
            <a:r>
              <a:rPr lang="en-US" sz="850" dirty="0">
                <a:solidFill>
                  <a:schemeClr val="bg2"/>
                </a:solidFill>
              </a:rPr>
              <a:t>Turns the player's weak points into paper searches; keeps a finding only if its numbers are in the abstract.</a:t>
            </a:r>
            <a:endParaRPr lang="en-US" sz="850" dirty="0"/>
          </a:p>
        </p:txBody>
      </p:sp>
      <p:sp>
        <p:nvSpPr>
          <p:cNvPr id="20" name="loop arrow 0"/>
          <p:cNvSpPr/>
          <p:nvPr/>
        </p:nvSpPr>
        <p:spPr>
          <a:xfrm>
            <a:off x="1828800" y="2651760"/>
            <a:ext cx="146304" cy="0"/>
          </a:xfrm>
          <a:prstGeom prst="line">
            <a:avLst/>
          </a:prstGeom>
          <a:noFill/>
          <a:ln w="19050">
            <a:solidFill>
              <a:srgbClr val="8E989D"/>
            </a:solidFill>
            <a:prstDash val="solid"/>
            <a:tailEnd type="triangle"/>
          </a:ln>
        </p:spPr>
      </p:sp>
      <p:sp>
        <p:nvSpPr>
          <p:cNvPr id="21" name="loop Knowledge base"/>
          <p:cNvSpPr/>
          <p:nvPr/>
        </p:nvSpPr>
        <p:spPr>
          <a:xfrm>
            <a:off x="1993392" y="1719072"/>
            <a:ext cx="1261872" cy="1847088"/>
          </a:xfrm>
          <a:prstGeom prst="roundRect">
            <a:avLst>
              <a:gd name="adj" fmla="val 7246"/>
            </a:avLst>
          </a:prstGeom>
          <a:solidFill>
            <a:schemeClr val="accent6"/>
          </a:solidFill>
          <a:ln w="9525">
            <a:solidFill>
              <a:srgbClr val="5FD39A"/>
            </a:solidFill>
            <a:prstDash val="solid"/>
          </a:ln>
        </p:spPr>
      </p:sp>
      <p:sp>
        <p:nvSpPr>
          <p:cNvPr id="22" name="loop step 2"/>
          <p:cNvSpPr/>
          <p:nvPr/>
        </p:nvSpPr>
        <p:spPr>
          <a:xfrm>
            <a:off x="2103120" y="1828800"/>
            <a:ext cx="274320" cy="274320"/>
          </a:xfrm>
          <a:prstGeom prst="ellipse">
            <a:avLst/>
          </a:prstGeom>
          <a:solidFill>
            <a:srgbClr val="5FD39A"/>
          </a:solidFill>
          <a:ln w="12700">
            <a:solidFill>
              <a:srgbClr val="5FD39A"/>
            </a:solidFill>
            <a:prstDash val="solid"/>
          </a:ln>
        </p:spPr>
      </p:sp>
      <p:sp>
        <p:nvSpPr>
          <p:cNvPr id="23" name="Text 21"/>
          <p:cNvSpPr txBox="1"/>
          <p:nvPr/>
        </p:nvSpPr>
        <p:spPr>
          <a:xfrm>
            <a:off x="2103120" y="182880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24" name="Text 22"/>
          <p:cNvSpPr txBox="1"/>
          <p:nvPr/>
        </p:nvSpPr>
        <p:spPr>
          <a:xfrm>
            <a:off x="2103120" y="2157984"/>
            <a:ext cx="1078992" cy="256032"/>
          </a:xfrm>
          <a:prstGeom prst="rect">
            <a:avLst/>
          </a:prstGeom>
          <a:noFill/>
          <a:ln/>
        </p:spPr>
        <p:txBody>
          <a:bodyPr wrap="square" lIns="0" tIns="0" rIns="0" bIns="0" rtlCol="0" anchor="t"/>
          <a:lstStyle/>
          <a:p>
            <a:pPr indent="0" marL="0">
              <a:buNone/>
            </a:pPr>
            <a:r>
              <a:rPr lang="en-US" sz="1100" b="1" dirty="0">
                <a:solidFill>
                  <a:schemeClr val="bg1"/>
                </a:solidFill>
              </a:rPr>
              <a:t>Knowledge base</a:t>
            </a:r>
            <a:endParaRPr lang="en-US" sz="1100" dirty="0"/>
          </a:p>
        </p:txBody>
      </p:sp>
      <p:sp>
        <p:nvSpPr>
          <p:cNvPr id="25" name="Text 23"/>
          <p:cNvSpPr txBox="1"/>
          <p:nvPr/>
        </p:nvSpPr>
        <p:spPr>
          <a:xfrm>
            <a:off x="2103120" y="2450592"/>
            <a:ext cx="1060704" cy="1051560"/>
          </a:xfrm>
          <a:prstGeom prst="rect">
            <a:avLst/>
          </a:prstGeom>
          <a:noFill/>
          <a:ln/>
        </p:spPr>
        <p:txBody>
          <a:bodyPr wrap="square" lIns="0" tIns="0" rIns="0" bIns="0" rtlCol="0" anchor="t"/>
          <a:lstStyle/>
          <a:p>
            <a:pPr indent="0" marL="0">
              <a:buNone/>
            </a:pPr>
            <a:r>
              <a:rPr lang="en-US" sz="850" dirty="0">
                <a:solidFill>
                  <a:schemeClr val="bg2"/>
                </a:solidFill>
              </a:rPr>
              <a:t>Findings embedded on the station (RAG); each coach cites the closest studies as [E#].</a:t>
            </a:r>
            <a:endParaRPr lang="en-US" sz="850" dirty="0"/>
          </a:p>
        </p:txBody>
      </p:sp>
      <p:sp>
        <p:nvSpPr>
          <p:cNvPr id="26" name="loop arrow 1"/>
          <p:cNvSpPr/>
          <p:nvPr/>
        </p:nvSpPr>
        <p:spPr>
          <a:xfrm>
            <a:off x="3273552" y="2651760"/>
            <a:ext cx="146304" cy="0"/>
          </a:xfrm>
          <a:prstGeom prst="line">
            <a:avLst/>
          </a:prstGeom>
          <a:noFill/>
          <a:ln w="19050">
            <a:solidFill>
              <a:srgbClr val="8E989D"/>
            </a:solidFill>
            <a:prstDash val="solid"/>
            <a:tailEnd type="triangle"/>
          </a:ln>
        </p:spPr>
      </p:sp>
      <p:sp>
        <p:nvSpPr>
          <p:cNvPr id="27" name="loop Grounded reply"/>
          <p:cNvSpPr/>
          <p:nvPr/>
        </p:nvSpPr>
        <p:spPr>
          <a:xfrm>
            <a:off x="3438144" y="1719072"/>
            <a:ext cx="1261872" cy="1847088"/>
          </a:xfrm>
          <a:prstGeom prst="roundRect">
            <a:avLst>
              <a:gd name="adj" fmla="val 7246"/>
            </a:avLst>
          </a:prstGeom>
          <a:solidFill>
            <a:schemeClr val="accent6"/>
          </a:solidFill>
          <a:ln w="9525">
            <a:solidFill>
              <a:srgbClr val="F2E6C9"/>
            </a:solidFill>
            <a:prstDash val="solid"/>
          </a:ln>
        </p:spPr>
      </p:sp>
      <p:sp>
        <p:nvSpPr>
          <p:cNvPr id="28" name="loop step 3"/>
          <p:cNvSpPr/>
          <p:nvPr/>
        </p:nvSpPr>
        <p:spPr>
          <a:xfrm>
            <a:off x="3547872" y="1828800"/>
            <a:ext cx="274320" cy="274320"/>
          </a:xfrm>
          <a:prstGeom prst="ellipse">
            <a:avLst/>
          </a:prstGeom>
          <a:solidFill>
            <a:srgbClr val="F2E6C9"/>
          </a:solidFill>
          <a:ln w="12700">
            <a:solidFill>
              <a:srgbClr val="F2E6C9"/>
            </a:solidFill>
            <a:prstDash val="solid"/>
          </a:ln>
        </p:spPr>
      </p:sp>
      <p:sp>
        <p:nvSpPr>
          <p:cNvPr id="29" name="Text 27"/>
          <p:cNvSpPr txBox="1"/>
          <p:nvPr/>
        </p:nvSpPr>
        <p:spPr>
          <a:xfrm>
            <a:off x="3547872" y="182880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30" name="Text 28"/>
          <p:cNvSpPr txBox="1"/>
          <p:nvPr/>
        </p:nvSpPr>
        <p:spPr>
          <a:xfrm>
            <a:off x="3547872" y="2157984"/>
            <a:ext cx="1078992" cy="256032"/>
          </a:xfrm>
          <a:prstGeom prst="rect">
            <a:avLst/>
          </a:prstGeom>
          <a:noFill/>
          <a:ln/>
        </p:spPr>
        <p:txBody>
          <a:bodyPr wrap="square" lIns="0" tIns="0" rIns="0" bIns="0" rtlCol="0" anchor="t"/>
          <a:lstStyle/>
          <a:p>
            <a:pPr indent="0" marL="0">
              <a:buNone/>
            </a:pPr>
            <a:r>
              <a:rPr lang="en-US" sz="1100" b="1" dirty="0">
                <a:solidFill>
                  <a:schemeClr val="bg1"/>
                </a:solidFill>
              </a:rPr>
              <a:t>Grounded reply</a:t>
            </a:r>
            <a:endParaRPr lang="en-US" sz="1100" dirty="0"/>
          </a:p>
        </p:txBody>
      </p:sp>
      <p:sp>
        <p:nvSpPr>
          <p:cNvPr id="31" name="Text 29"/>
          <p:cNvSpPr txBox="1"/>
          <p:nvPr/>
        </p:nvSpPr>
        <p:spPr>
          <a:xfrm>
            <a:off x="3547872" y="2450592"/>
            <a:ext cx="1060704" cy="1051560"/>
          </a:xfrm>
          <a:prstGeom prst="rect">
            <a:avLst/>
          </a:prstGeom>
          <a:noFill/>
          <a:ln/>
        </p:spPr>
        <p:txBody>
          <a:bodyPr wrap="square" lIns="0" tIns="0" rIns="0" bIns="0" rtlCol="0" anchor="t"/>
          <a:lstStyle/>
          <a:p>
            <a:pPr indent="0" marL="0">
              <a:buNone/>
            </a:pPr>
            <a:r>
              <a:rPr lang="en-US" sz="850" dirty="0">
                <a:solidFill>
                  <a:schemeClr val="bg2"/>
                </a:solidFill>
              </a:rPr>
              <a:t>Match numbers only from facts [F#], study numbers only from [E#]; the verifier checks each one.</a:t>
            </a:r>
            <a:endParaRPr lang="en-US" sz="850" dirty="0"/>
          </a:p>
        </p:txBody>
      </p:sp>
      <p:sp>
        <p:nvSpPr>
          <p:cNvPr id="32" name="loop arrow 2"/>
          <p:cNvSpPr/>
          <p:nvPr/>
        </p:nvSpPr>
        <p:spPr>
          <a:xfrm>
            <a:off x="4718304" y="2651760"/>
            <a:ext cx="146304" cy="0"/>
          </a:xfrm>
          <a:prstGeom prst="line">
            <a:avLst/>
          </a:prstGeom>
          <a:noFill/>
          <a:ln w="19050">
            <a:solidFill>
              <a:srgbClr val="8E989D"/>
            </a:solidFill>
            <a:prstDash val="solid"/>
            <a:tailEnd type="triangle"/>
          </a:ln>
        </p:spPr>
      </p:sp>
      <p:sp>
        <p:nvSpPr>
          <p:cNvPr id="33" name="loop Feedback"/>
          <p:cNvSpPr/>
          <p:nvPr/>
        </p:nvSpPr>
        <p:spPr>
          <a:xfrm>
            <a:off x="4882896" y="1719072"/>
            <a:ext cx="1261872" cy="1847088"/>
          </a:xfrm>
          <a:prstGeom prst="roundRect">
            <a:avLst>
              <a:gd name="adj" fmla="val 7246"/>
            </a:avLst>
          </a:prstGeom>
          <a:solidFill>
            <a:schemeClr val="accent6"/>
          </a:solidFill>
          <a:ln w="9525">
            <a:solidFill>
              <a:srgbClr val="FF8A6B"/>
            </a:solidFill>
            <a:prstDash val="solid"/>
          </a:ln>
        </p:spPr>
      </p:sp>
      <p:sp>
        <p:nvSpPr>
          <p:cNvPr id="34" name="loop step 4"/>
          <p:cNvSpPr/>
          <p:nvPr/>
        </p:nvSpPr>
        <p:spPr>
          <a:xfrm>
            <a:off x="4992624" y="1828800"/>
            <a:ext cx="274320" cy="274320"/>
          </a:xfrm>
          <a:prstGeom prst="ellipse">
            <a:avLst/>
          </a:prstGeom>
          <a:solidFill>
            <a:srgbClr val="FF8A6B"/>
          </a:solidFill>
          <a:ln w="12700">
            <a:solidFill>
              <a:srgbClr val="FF8A6B"/>
            </a:solidFill>
            <a:prstDash val="solid"/>
          </a:ln>
        </p:spPr>
      </p:sp>
      <p:sp>
        <p:nvSpPr>
          <p:cNvPr id="35" name="Text 33"/>
          <p:cNvSpPr txBox="1"/>
          <p:nvPr/>
        </p:nvSpPr>
        <p:spPr>
          <a:xfrm>
            <a:off x="4992624" y="182880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36" name="Text 34"/>
          <p:cNvSpPr txBox="1"/>
          <p:nvPr/>
        </p:nvSpPr>
        <p:spPr>
          <a:xfrm>
            <a:off x="4992624" y="2157984"/>
            <a:ext cx="1078992" cy="256032"/>
          </a:xfrm>
          <a:prstGeom prst="rect">
            <a:avLst/>
          </a:prstGeom>
          <a:noFill/>
          <a:ln/>
        </p:spPr>
        <p:txBody>
          <a:bodyPr wrap="square" lIns="0" tIns="0" rIns="0" bIns="0" rtlCol="0" anchor="t"/>
          <a:lstStyle/>
          <a:p>
            <a:pPr indent="0" marL="0">
              <a:buNone/>
            </a:pPr>
            <a:r>
              <a:rPr lang="en-US" sz="1100" b="1" dirty="0">
                <a:solidFill>
                  <a:schemeClr val="bg1"/>
                </a:solidFill>
              </a:rPr>
              <a:t>Feedback</a:t>
            </a:r>
            <a:endParaRPr lang="en-US" sz="1100" dirty="0"/>
          </a:p>
        </p:txBody>
      </p:sp>
      <p:sp>
        <p:nvSpPr>
          <p:cNvPr id="37" name="Text 35"/>
          <p:cNvSpPr txBox="1"/>
          <p:nvPr/>
        </p:nvSpPr>
        <p:spPr>
          <a:xfrm>
            <a:off x="4992624" y="2450592"/>
            <a:ext cx="1060704" cy="1051560"/>
          </a:xfrm>
          <a:prstGeom prst="rect">
            <a:avLst/>
          </a:prstGeom>
          <a:noFill/>
          <a:ln/>
        </p:spPr>
        <p:txBody>
          <a:bodyPr wrap="square" lIns="0" tIns="0" rIns="0" bIns="0" rtlCol="0" anchor="t"/>
          <a:lstStyle/>
          <a:p>
            <a:pPr indent="0" marL="0">
              <a:buNone/>
            </a:pPr>
            <a:r>
              <a:rPr lang="en-US" sz="850" dirty="0">
                <a:solidFill>
                  <a:schemeClr val="bg2"/>
                </a:solidFill>
              </a:rPr>
              <a:t>Helpful / not helpful from players, plus every draft the verifier rejected.</a:t>
            </a:r>
            <a:endParaRPr lang="en-US" sz="850" dirty="0"/>
          </a:p>
        </p:txBody>
      </p:sp>
      <p:sp>
        <p:nvSpPr>
          <p:cNvPr id="38" name="loop arrow 3"/>
          <p:cNvSpPr/>
          <p:nvPr/>
        </p:nvSpPr>
        <p:spPr>
          <a:xfrm>
            <a:off x="6163056" y="2651760"/>
            <a:ext cx="146304" cy="0"/>
          </a:xfrm>
          <a:prstGeom prst="line">
            <a:avLst/>
          </a:prstGeom>
          <a:noFill/>
          <a:ln w="19050">
            <a:solidFill>
              <a:srgbClr val="8E989D"/>
            </a:solidFill>
            <a:prstDash val="solid"/>
            <a:tailEnd type="triangle"/>
          </a:ln>
        </p:spPr>
      </p:sp>
      <p:sp>
        <p:nvSpPr>
          <p:cNvPr id="39" name="loop Reflection"/>
          <p:cNvSpPr/>
          <p:nvPr/>
        </p:nvSpPr>
        <p:spPr>
          <a:xfrm>
            <a:off x="6327648" y="1719072"/>
            <a:ext cx="1261872" cy="1847088"/>
          </a:xfrm>
          <a:prstGeom prst="roundRect">
            <a:avLst>
              <a:gd name="adj" fmla="val 7246"/>
            </a:avLst>
          </a:prstGeom>
          <a:solidFill>
            <a:schemeClr val="accent6"/>
          </a:solidFill>
          <a:ln w="9525">
            <a:solidFill>
              <a:srgbClr val="F2D46B"/>
            </a:solidFill>
            <a:prstDash val="solid"/>
          </a:ln>
        </p:spPr>
      </p:sp>
      <p:sp>
        <p:nvSpPr>
          <p:cNvPr id="40" name="loop step 5"/>
          <p:cNvSpPr/>
          <p:nvPr/>
        </p:nvSpPr>
        <p:spPr>
          <a:xfrm>
            <a:off x="6437376" y="1828800"/>
            <a:ext cx="274320" cy="274320"/>
          </a:xfrm>
          <a:prstGeom prst="ellipse">
            <a:avLst/>
          </a:prstGeom>
          <a:solidFill>
            <a:srgbClr val="F2D46B"/>
          </a:solidFill>
          <a:ln w="12700">
            <a:solidFill>
              <a:srgbClr val="F2D46B"/>
            </a:solidFill>
            <a:prstDash val="solid"/>
          </a:ln>
        </p:spPr>
      </p:sp>
      <p:sp>
        <p:nvSpPr>
          <p:cNvPr id="41" name="Text 39"/>
          <p:cNvSpPr txBox="1"/>
          <p:nvPr/>
        </p:nvSpPr>
        <p:spPr>
          <a:xfrm>
            <a:off x="6437376" y="182880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5</a:t>
            </a:r>
            <a:endParaRPr lang="en-US" sz="1100" dirty="0"/>
          </a:p>
        </p:txBody>
      </p:sp>
      <p:sp>
        <p:nvSpPr>
          <p:cNvPr id="42" name="Text 40"/>
          <p:cNvSpPr txBox="1"/>
          <p:nvPr/>
        </p:nvSpPr>
        <p:spPr>
          <a:xfrm>
            <a:off x="6437376" y="2157984"/>
            <a:ext cx="1078992" cy="256032"/>
          </a:xfrm>
          <a:prstGeom prst="rect">
            <a:avLst/>
          </a:prstGeom>
          <a:noFill/>
          <a:ln/>
        </p:spPr>
        <p:txBody>
          <a:bodyPr wrap="square" lIns="0" tIns="0" rIns="0" bIns="0" rtlCol="0" anchor="t"/>
          <a:lstStyle/>
          <a:p>
            <a:pPr indent="0" marL="0">
              <a:buNone/>
            </a:pPr>
            <a:r>
              <a:rPr lang="en-US" sz="1100" b="1" dirty="0">
                <a:solidFill>
                  <a:schemeClr val="bg1"/>
                </a:solidFill>
              </a:rPr>
              <a:t>Reflection</a:t>
            </a:r>
            <a:endParaRPr lang="en-US" sz="1100" dirty="0"/>
          </a:p>
        </p:txBody>
      </p:sp>
      <p:sp>
        <p:nvSpPr>
          <p:cNvPr id="43" name="Text 41"/>
          <p:cNvSpPr txBox="1"/>
          <p:nvPr/>
        </p:nvSpPr>
        <p:spPr>
          <a:xfrm>
            <a:off x="6437376" y="2450592"/>
            <a:ext cx="1060704" cy="1051560"/>
          </a:xfrm>
          <a:prstGeom prst="rect">
            <a:avLst/>
          </a:prstGeom>
          <a:noFill/>
          <a:ln/>
        </p:spPr>
        <p:txBody>
          <a:bodyPr wrap="square" lIns="0" tIns="0" rIns="0" bIns="0" rtlCol="0" anchor="t"/>
          <a:lstStyle/>
          <a:p>
            <a:pPr indent="0" marL="0">
              <a:buNone/>
            </a:pPr>
            <a:r>
              <a:rPr lang="en-US" sz="850" dirty="0">
                <a:solidFill>
                  <a:schemeClr val="bg2"/>
                </a:solidFill>
              </a:rPr>
              <a:t>Each coach proposes at most two changes to its own playbook of rules.</a:t>
            </a:r>
            <a:endParaRPr lang="en-US" sz="850" dirty="0"/>
          </a:p>
        </p:txBody>
      </p:sp>
      <p:sp>
        <p:nvSpPr>
          <p:cNvPr id="44" name="return down"/>
          <p:cNvSpPr/>
          <p:nvPr/>
        </p:nvSpPr>
        <p:spPr>
          <a:xfrm>
            <a:off x="6958584" y="3566160"/>
            <a:ext cx="0" cy="256032"/>
          </a:xfrm>
          <a:prstGeom prst="line">
            <a:avLst/>
          </a:prstGeom>
          <a:noFill/>
          <a:ln w="19050">
            <a:solidFill>
              <a:srgbClr val="F2E6C9"/>
            </a:solidFill>
            <a:prstDash val="solid"/>
          </a:ln>
        </p:spPr>
      </p:sp>
      <p:sp>
        <p:nvSpPr>
          <p:cNvPr id="45" name="return across"/>
          <p:cNvSpPr/>
          <p:nvPr/>
        </p:nvSpPr>
        <p:spPr>
          <a:xfrm>
            <a:off x="4069080" y="3822192"/>
            <a:ext cx="2889504" cy="0"/>
          </a:xfrm>
          <a:prstGeom prst="line">
            <a:avLst/>
          </a:prstGeom>
          <a:noFill/>
          <a:ln w="19050">
            <a:solidFill>
              <a:srgbClr val="F2E6C9"/>
            </a:solidFill>
            <a:prstDash val="solid"/>
          </a:ln>
        </p:spPr>
      </p:sp>
      <p:sp>
        <p:nvSpPr>
          <p:cNvPr id="46" name="return up"/>
          <p:cNvSpPr/>
          <p:nvPr/>
        </p:nvSpPr>
        <p:spPr>
          <a:xfrm>
            <a:off x="4069080" y="3566160"/>
            <a:ext cx="0" cy="256032"/>
          </a:xfrm>
          <a:prstGeom prst="line">
            <a:avLst/>
          </a:prstGeom>
          <a:noFill/>
          <a:ln w="19050">
            <a:solidFill>
              <a:srgbClr val="F2E6C9"/>
            </a:solidFill>
            <a:prstDash val="solid"/>
            <a:headEnd type="triangle"/>
          </a:ln>
        </p:spPr>
      </p:sp>
      <p:sp>
        <p:nvSpPr>
          <p:cNvPr id="47" name="Text 45"/>
          <p:cNvSpPr txBox="1"/>
          <p:nvPr/>
        </p:nvSpPr>
        <p:spPr>
          <a:xfrm>
            <a:off x="4160520" y="3858768"/>
            <a:ext cx="2706624" cy="228600"/>
          </a:xfrm>
          <a:prstGeom prst="rect">
            <a:avLst/>
          </a:prstGeom>
          <a:noFill/>
          <a:ln/>
        </p:spPr>
        <p:txBody>
          <a:bodyPr wrap="square" lIns="0" tIns="0" rIns="0" bIns="0" rtlCol="0" anchor="t"/>
          <a:lstStyle/>
          <a:p>
            <a:pPr algn="ctr" indent="0" marL="0">
              <a:buNone/>
            </a:pPr>
            <a:r>
              <a:rPr lang="en-US" sz="900" dirty="0">
                <a:solidFill>
                  <a:schemeClr val="accent1"/>
                </a:solidFill>
              </a:rPr>
              <a:t>playbook v+1, used from the next reply</a:t>
            </a:r>
            <a:endParaRPr lang="en-US" sz="900" dirty="0"/>
          </a:p>
        </p:txBody>
      </p:sp>
      <p:sp>
        <p:nvSpPr>
          <p:cNvPr id="48" name="Text 46"/>
          <p:cNvSpPr txBox="1"/>
          <p:nvPr/>
        </p:nvSpPr>
        <p:spPr>
          <a:xfrm>
            <a:off x="548640" y="4251960"/>
            <a:ext cx="420624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GATES, LIKE A HEAD COACH SIGNING OFF</a:t>
            </a:r>
            <a:endParaRPr lang="en-US" sz="1100" dirty="0"/>
          </a:p>
        </p:txBody>
      </p:sp>
      <p:pic>
        <p:nvPicPr>
          <p:cNvPr id="49" name="gate 1" descr="preencoded.png">    </p:cNvPr>
          <p:cNvPicPr>
            <a:picLocks noChangeAspect="1"/>
          </p:cNvPicPr>
          <p:nvPr/>
        </p:nvPicPr>
        <p:blipFill>
          <a:blip r:embed="rId1"/>
          <a:stretch>
            <a:fillRect/>
          </a:stretch>
        </p:blipFill>
        <p:spPr>
          <a:xfrm>
            <a:off x="548640" y="4626864"/>
            <a:ext cx="182880" cy="182880"/>
          </a:xfrm>
          <a:prstGeom prst="rect">
            <a:avLst/>
          </a:prstGeom>
        </p:spPr>
      </p:pic>
      <p:sp>
        <p:nvSpPr>
          <p:cNvPr id="50" name="Text 47"/>
          <p:cNvSpPr txBox="1"/>
          <p:nvPr/>
        </p:nvSpPr>
        <p:spPr>
          <a:xfrm>
            <a:off x="841248" y="4572000"/>
            <a:ext cx="3749040" cy="329184"/>
          </a:xfrm>
          <a:prstGeom prst="rect">
            <a:avLst/>
          </a:prstGeom>
          <a:noFill/>
          <a:ln/>
        </p:spPr>
        <p:txBody>
          <a:bodyPr wrap="square" lIns="0" tIns="0" rIns="0" bIns="0" rtlCol="0" anchor="ctr"/>
          <a:lstStyle/>
          <a:p>
            <a:pPr indent="0" marL="0">
              <a:buNone/>
            </a:pPr>
            <a:r>
              <a:rPr lang="en-US" sz="1050" dirty="0">
                <a:solidFill>
                  <a:schemeClr val="bg2"/>
                </a:solidFill>
              </a:rPr>
              <a:t>Cites a study, in the coach's own area</a:t>
            </a:r>
            <a:endParaRPr lang="en-US" sz="1050" dirty="0"/>
          </a:p>
        </p:txBody>
      </p:sp>
      <p:pic>
        <p:nvPicPr>
          <p:cNvPr id="51" name="gate 2" descr="preencoded.png">    </p:cNvPr>
          <p:cNvPicPr>
            <a:picLocks noChangeAspect="1"/>
          </p:cNvPicPr>
          <p:nvPr/>
        </p:nvPicPr>
        <p:blipFill>
          <a:blip r:embed="rId2"/>
          <a:stretch>
            <a:fillRect/>
          </a:stretch>
        </p:blipFill>
        <p:spPr>
          <a:xfrm>
            <a:off x="548640" y="5010912"/>
            <a:ext cx="182880" cy="182880"/>
          </a:xfrm>
          <a:prstGeom prst="rect">
            <a:avLst/>
          </a:prstGeom>
        </p:spPr>
      </p:pic>
      <p:sp>
        <p:nvSpPr>
          <p:cNvPr id="52" name="Text 48"/>
          <p:cNvSpPr txBox="1"/>
          <p:nvPr/>
        </p:nvSpPr>
        <p:spPr>
          <a:xfrm>
            <a:off x="841248" y="4956048"/>
            <a:ext cx="3749040" cy="329184"/>
          </a:xfrm>
          <a:prstGeom prst="rect">
            <a:avLst/>
          </a:prstGeom>
          <a:noFill/>
          <a:ln/>
        </p:spPr>
        <p:txBody>
          <a:bodyPr wrap="square" lIns="0" tIns="0" rIns="0" bIns="0" rtlCol="0" anchor="ctr"/>
          <a:lstStyle/>
          <a:p>
            <a:pPr indent="0" marL="0">
              <a:buNone/>
            </a:pPr>
            <a:r>
              <a:rPr lang="en-US" sz="1050" dirty="0">
                <a:solidFill>
                  <a:schemeClr val="bg2"/>
                </a:solidFill>
              </a:rPr>
              <a:t>Passes the safety check; locked rules stay</a:t>
            </a:r>
            <a:endParaRPr lang="en-US" sz="1050" dirty="0"/>
          </a:p>
        </p:txBody>
      </p:sp>
      <p:pic>
        <p:nvPicPr>
          <p:cNvPr id="53" name="gate 3" descr="preencoded.png">    </p:cNvPr>
          <p:cNvPicPr>
            <a:picLocks noChangeAspect="1"/>
          </p:cNvPicPr>
          <p:nvPr/>
        </p:nvPicPr>
        <p:blipFill>
          <a:blip r:embed="rId3"/>
          <a:stretch>
            <a:fillRect/>
          </a:stretch>
        </p:blipFill>
        <p:spPr>
          <a:xfrm>
            <a:off x="548640" y="5394960"/>
            <a:ext cx="182880" cy="182880"/>
          </a:xfrm>
          <a:prstGeom prst="rect">
            <a:avLst/>
          </a:prstGeom>
        </p:spPr>
      </p:pic>
      <p:sp>
        <p:nvSpPr>
          <p:cNvPr id="54" name="Text 49"/>
          <p:cNvSpPr txBox="1"/>
          <p:nvPr/>
        </p:nvSpPr>
        <p:spPr>
          <a:xfrm>
            <a:off x="841248" y="5340096"/>
            <a:ext cx="3749040" cy="329184"/>
          </a:xfrm>
          <a:prstGeom prst="rect">
            <a:avLst/>
          </a:prstGeom>
          <a:noFill/>
          <a:ln/>
        </p:spPr>
        <p:txBody>
          <a:bodyPr wrap="square" lIns="0" tIns="0" rIns="0" bIns="0" rtlCol="0" anchor="ctr"/>
          <a:lstStyle/>
          <a:p>
            <a:pPr indent="0" marL="0">
              <a:buNone/>
            </a:pPr>
            <a:r>
              <a:rPr lang="en-US" sz="1050" dirty="0">
                <a:solidFill>
                  <a:schemeClr val="bg2"/>
                </a:solidFill>
              </a:rPr>
              <a:t>No regression on its test questions</a:t>
            </a:r>
            <a:endParaRPr lang="en-US" sz="1050" dirty="0"/>
          </a:p>
        </p:txBody>
      </p:sp>
      <p:pic>
        <p:nvPicPr>
          <p:cNvPr id="55" name="gate 4" descr="preencoded.png">    </p:cNvPr>
          <p:cNvPicPr>
            <a:picLocks noChangeAspect="1"/>
          </p:cNvPicPr>
          <p:nvPr/>
        </p:nvPicPr>
        <p:blipFill>
          <a:blip r:embed="rId4"/>
          <a:stretch>
            <a:fillRect/>
          </a:stretch>
        </p:blipFill>
        <p:spPr>
          <a:xfrm>
            <a:off x="548640" y="5779008"/>
            <a:ext cx="182880" cy="182880"/>
          </a:xfrm>
          <a:prstGeom prst="rect">
            <a:avLst/>
          </a:prstGeom>
        </p:spPr>
      </p:pic>
      <p:sp>
        <p:nvSpPr>
          <p:cNvPr id="56" name="Text 50"/>
          <p:cNvSpPr txBox="1"/>
          <p:nvPr/>
        </p:nvSpPr>
        <p:spPr>
          <a:xfrm>
            <a:off x="841248" y="5724144"/>
            <a:ext cx="3749040" cy="329184"/>
          </a:xfrm>
          <a:prstGeom prst="rect">
            <a:avLst/>
          </a:prstGeom>
          <a:noFill/>
          <a:ln/>
        </p:spPr>
        <p:txBody>
          <a:bodyPr wrap="square" lIns="0" tIns="0" rIns="0" bIns="0" rtlCol="0" anchor="ctr"/>
          <a:lstStyle/>
          <a:p>
            <a:pPr indent="0" marL="0">
              <a:buNone/>
            </a:pPr>
            <a:r>
              <a:rPr lang="en-US" sz="1050" dirty="0">
                <a:solidFill>
                  <a:schemeClr val="bg2"/>
                </a:solidFill>
              </a:rPr>
              <a:t>Health changes need a human coach; any version rolls back</a:t>
            </a:r>
            <a:endParaRPr lang="en-US" sz="1050" dirty="0"/>
          </a:p>
        </p:txBody>
      </p:sp>
      <p:sp>
        <p:nvSpPr>
          <p:cNvPr id="57" name="first run"/>
          <p:cNvSpPr/>
          <p:nvPr/>
        </p:nvSpPr>
        <p:spPr>
          <a:xfrm>
            <a:off x="4709160" y="4251960"/>
            <a:ext cx="2880360" cy="2057400"/>
          </a:xfrm>
          <a:prstGeom prst="roundRect">
            <a:avLst>
              <a:gd name="adj" fmla="val 4444"/>
            </a:avLst>
          </a:prstGeom>
          <a:solidFill>
            <a:schemeClr val="accent6"/>
          </a:solidFill>
          <a:ln w="9525">
            <a:solidFill>
              <a:srgbClr val="F2D46B"/>
            </a:solidFill>
            <a:prstDash val="solid"/>
          </a:ln>
        </p:spPr>
      </p:sp>
      <p:sp>
        <p:nvSpPr>
          <p:cNvPr id="58" name="Text 52"/>
          <p:cNvSpPr txBox="1"/>
          <p:nvPr/>
        </p:nvSpPr>
        <p:spPr>
          <a:xfrm>
            <a:off x="4892040" y="4389120"/>
            <a:ext cx="2560320" cy="1188720"/>
          </a:xfrm>
          <a:prstGeom prst="rect">
            <a:avLst/>
          </a:prstGeom>
          <a:noFill/>
          <a:ln/>
        </p:spPr>
        <p:txBody>
          <a:bodyPr wrap="square" lIns="0" tIns="0" rIns="0" bIns="0" rtlCol="0" anchor="t"/>
          <a:lstStyle/>
          <a:p>
            <a:pPr indent="0" marL="0">
              <a:buNone/>
            </a:pPr>
            <a:r>
              <a:rPr lang="en-US" sz="1050" b="1" dirty="0">
                <a:solidFill>
                  <a:srgbClr val="F2D46B"/>
                </a:solidFill>
              </a:rPr>
              <a:t>First reflection run</a:t>
            </a:r>
            <a:endParaRPr lang="en-US" sz="1050" dirty="0"/>
          </a:p>
          <a:p>
            <a:pPr indent="0" marL="0">
              <a:buNone/>
            </a:pPr>
            <a:r>
              <a:rPr lang="en-US" sz="1050" dirty="0">
                <a:solidFill>
                  <a:schemeClr val="bg2"/>
                </a:solidFill>
              </a:rPr>
              <a:t>A coach proposed lunges for knee pain, citing a real study. The gates held it for a human coach instead of adopting it.</a:t>
            </a:r>
            <a:endParaRPr lang="en-US" sz="1050" dirty="0"/>
          </a:p>
        </p:txBody>
      </p:sp>
      <p:sp>
        <p:nvSpPr>
          <p:cNvPr id="59" name="Text 53"/>
          <p:cNvSpPr txBox="1"/>
          <p:nvPr/>
        </p:nvSpPr>
        <p:spPr>
          <a:xfrm>
            <a:off x="4892040" y="5559552"/>
            <a:ext cx="1234440" cy="384048"/>
          </a:xfrm>
          <a:prstGeom prst="rect">
            <a:avLst/>
          </a:prstGeom>
          <a:noFill/>
          <a:ln/>
        </p:spPr>
        <p:txBody>
          <a:bodyPr wrap="square" lIns="0" tIns="0" rIns="0" bIns="0" rtlCol="0" anchor="t"/>
          <a:lstStyle/>
          <a:p>
            <a:pPr indent="0" marL="0">
              <a:buNone/>
            </a:pPr>
            <a:r>
              <a:rPr lang="en-US" sz="2000" b="1" dirty="0">
                <a:solidFill>
                  <a:schemeClr val="accent1"/>
                </a:solidFill>
                <a:latin typeface="Bahnschrift" pitchFamily="34" charset="0"/>
                <a:ea typeface="Bahnschrift" pitchFamily="34" charset="-122"/>
                <a:cs typeface="Bahnschrift" pitchFamily="34" charset="-120"/>
              </a:rPr>
              <a:t>67</a:t>
            </a:r>
            <a:endParaRPr lang="en-US" sz="2000" dirty="0"/>
          </a:p>
        </p:txBody>
      </p:sp>
      <p:sp>
        <p:nvSpPr>
          <p:cNvPr id="60" name="Text 54"/>
          <p:cNvSpPr txBox="1"/>
          <p:nvPr/>
        </p:nvSpPr>
        <p:spPr>
          <a:xfrm>
            <a:off x="4892040" y="5925312"/>
            <a:ext cx="1234440" cy="320040"/>
          </a:xfrm>
          <a:prstGeom prst="rect">
            <a:avLst/>
          </a:prstGeom>
          <a:noFill/>
          <a:ln/>
        </p:spPr>
        <p:txBody>
          <a:bodyPr wrap="square" lIns="0" tIns="0" rIns="0" bIns="0" rtlCol="0" anchor="t"/>
          <a:lstStyle/>
          <a:p>
            <a:pPr indent="0" marL="0">
              <a:buNone/>
            </a:pPr>
            <a:r>
              <a:rPr lang="en-US" sz="850" dirty="0">
                <a:solidFill>
                  <a:schemeClr val="bg2"/>
                </a:solidFill>
              </a:rPr>
              <a:t>findings from 24 papers, 3 nightly runs</a:t>
            </a:r>
            <a:endParaRPr lang="en-US" sz="850" dirty="0"/>
          </a:p>
        </p:txBody>
      </p:sp>
      <p:sp>
        <p:nvSpPr>
          <p:cNvPr id="61" name="Text 55"/>
          <p:cNvSpPr txBox="1"/>
          <p:nvPr/>
        </p:nvSpPr>
        <p:spPr>
          <a:xfrm>
            <a:off x="6217920" y="5559552"/>
            <a:ext cx="1234440" cy="384048"/>
          </a:xfrm>
          <a:prstGeom prst="rect">
            <a:avLst/>
          </a:prstGeom>
          <a:noFill/>
          <a:ln/>
        </p:spPr>
        <p:txBody>
          <a:bodyPr wrap="square" lIns="0" tIns="0" rIns="0" bIns="0" rtlCol="0" anchor="t"/>
          <a:lstStyle/>
          <a:p>
            <a:pPr indent="0" marL="0">
              <a:buNone/>
            </a:pPr>
            <a:r>
              <a:rPr lang="en-US" sz="2000" b="1" dirty="0">
                <a:solidFill>
                  <a:schemeClr val="accent4"/>
                </a:solidFill>
                <a:latin typeface="Bahnschrift" pitchFamily="34" charset="0"/>
                <a:ea typeface="Bahnschrift" pitchFamily="34" charset="-122"/>
                <a:cs typeface="Bahnschrift" pitchFamily="34" charset="-120"/>
              </a:rPr>
              <a:t>0.8 s</a:t>
            </a:r>
            <a:endParaRPr lang="en-US" sz="2000" dirty="0"/>
          </a:p>
        </p:txBody>
      </p:sp>
      <p:sp>
        <p:nvSpPr>
          <p:cNvPr id="62" name="Text 56"/>
          <p:cNvSpPr txBox="1"/>
          <p:nvPr/>
        </p:nvSpPr>
        <p:spPr>
          <a:xfrm>
            <a:off x="6217920" y="5925312"/>
            <a:ext cx="1234440" cy="320040"/>
          </a:xfrm>
          <a:prstGeom prst="rect">
            <a:avLst/>
          </a:prstGeom>
          <a:noFill/>
          <a:ln/>
        </p:spPr>
        <p:txBody>
          <a:bodyPr wrap="square" lIns="0" tIns="0" rIns="0" bIns="0" rtlCol="0" anchor="t"/>
          <a:lstStyle/>
          <a:p>
            <a:pPr indent="0" marL="0">
              <a:buNone/>
            </a:pPr>
            <a:r>
              <a:rPr lang="en-US" sz="850" dirty="0">
                <a:solidFill>
                  <a:schemeClr val="bg2"/>
                </a:solidFill>
              </a:rPr>
              <a:t>median reply, local 4B</a:t>
            </a:r>
            <a:endParaRPr lang="en-US" sz="850" dirty="0"/>
          </a:p>
        </p:txBody>
      </p:sp>
      <p:sp>
        <p:nvSpPr>
          <p:cNvPr id="63" name="extension divider"/>
          <p:cNvSpPr/>
          <p:nvPr/>
        </p:nvSpPr>
        <p:spPr>
          <a:xfrm>
            <a:off x="7818120" y="1417320"/>
            <a:ext cx="0" cy="4892040"/>
          </a:xfrm>
          <a:prstGeom prst="line">
            <a:avLst/>
          </a:prstGeom>
          <a:noFill/>
          <a:ln w="12700">
            <a:solidFill>
              <a:srgbClr val="111A20"/>
            </a:solidFill>
            <a:prstDash val="solid"/>
          </a:ln>
        </p:spPr>
      </p:sp>
      <p:sp>
        <p:nvSpPr>
          <p:cNvPr id="64" name="Text 58"/>
          <p:cNvSpPr txBox="1"/>
          <p:nvPr/>
        </p:nvSpPr>
        <p:spPr>
          <a:xfrm>
            <a:off x="8046720" y="1371600"/>
            <a:ext cx="3657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EXTENSION · 24-HOUR COACH</a:t>
            </a:r>
            <a:endParaRPr lang="en-US" sz="1100" dirty="0"/>
          </a:p>
        </p:txBody>
      </p:sp>
      <p:sp>
        <p:nvSpPr>
          <p:cNvPr id="65" name="phone body"/>
          <p:cNvSpPr/>
          <p:nvPr/>
        </p:nvSpPr>
        <p:spPr>
          <a:xfrm>
            <a:off x="8046720" y="1719072"/>
            <a:ext cx="2331720" cy="4224528"/>
          </a:xfrm>
          <a:prstGeom prst="roundRect">
            <a:avLst>
              <a:gd name="adj" fmla="val 8627"/>
            </a:avLst>
          </a:prstGeom>
          <a:solidFill>
            <a:srgbClr val="1A2228"/>
          </a:solidFill>
          <a:ln w="19050">
            <a:solidFill>
              <a:srgbClr val="4A555C"/>
            </a:solidFill>
            <a:prstDash val="solid"/>
          </a:ln>
        </p:spPr>
      </p:sp>
      <p:sp>
        <p:nvSpPr>
          <p:cNvPr id="66" name="chat screen"/>
          <p:cNvSpPr/>
          <p:nvPr/>
        </p:nvSpPr>
        <p:spPr>
          <a:xfrm>
            <a:off x="8138160" y="1828800"/>
            <a:ext cx="2148840" cy="4005072"/>
          </a:xfrm>
          <a:prstGeom prst="rect">
            <a:avLst/>
          </a:prstGeom>
          <a:solidFill>
            <a:srgbClr val="0E1621"/>
          </a:solidFill>
          <a:ln w="12700">
            <a:solidFill>
              <a:srgbClr val="0E1621"/>
            </a:solidFill>
            <a:prstDash val="solid"/>
          </a:ln>
        </p:spPr>
      </p:sp>
      <p:sp>
        <p:nvSpPr>
          <p:cNvPr id="67" name="chat header"/>
          <p:cNvSpPr/>
          <p:nvPr/>
        </p:nvSpPr>
        <p:spPr>
          <a:xfrm>
            <a:off x="8138160" y="1828800"/>
            <a:ext cx="2148840" cy="292608"/>
          </a:xfrm>
          <a:prstGeom prst="rect">
            <a:avLst/>
          </a:prstGeom>
          <a:solidFill>
            <a:srgbClr val="17212B"/>
          </a:solidFill>
          <a:ln w="12700">
            <a:solidFill>
              <a:srgbClr val="17212B"/>
            </a:solidFill>
            <a:prstDash val="solid"/>
          </a:ln>
        </p:spPr>
      </p:sp>
      <p:pic>
        <p:nvPicPr>
          <p:cNvPr id="68" name="telegram icon" descr="preencoded.png">    </p:cNvPr>
          <p:cNvPicPr>
            <a:picLocks noChangeAspect="1"/>
          </p:cNvPicPr>
          <p:nvPr/>
        </p:nvPicPr>
        <p:blipFill>
          <a:blip r:embed="rId5"/>
          <a:stretch>
            <a:fillRect/>
          </a:stretch>
        </p:blipFill>
        <p:spPr>
          <a:xfrm>
            <a:off x="8202168" y="1883664"/>
            <a:ext cx="182880" cy="182880"/>
          </a:xfrm>
          <a:prstGeom prst="rect">
            <a:avLst/>
          </a:prstGeom>
        </p:spPr>
      </p:pic>
      <p:sp>
        <p:nvSpPr>
          <p:cNvPr id="69" name="Text 62"/>
          <p:cNvSpPr txBox="1"/>
          <p:nvPr/>
        </p:nvSpPr>
        <p:spPr>
          <a:xfrm>
            <a:off x="8430768" y="1828800"/>
            <a:ext cx="1828800" cy="292608"/>
          </a:xfrm>
          <a:prstGeom prst="rect">
            <a:avLst/>
          </a:prstGeom>
          <a:noFill/>
          <a:ln/>
        </p:spPr>
        <p:txBody>
          <a:bodyPr wrap="square" lIns="0" tIns="0" rIns="0" bIns="0" rtlCol="0" anchor="ctr"/>
          <a:lstStyle/>
          <a:p>
            <a:pPr indent="0" marL="0">
              <a:buNone/>
            </a:pPr>
            <a:r>
              <a:rPr lang="en-US" sz="850" b="1" dirty="0">
                <a:solidFill>
                  <a:srgbClr val="EEF1F2"/>
                </a:solidFill>
              </a:rPr>
              <a:t>ShuttleCoach staff </a:t>
            </a:r>
            <a:pPr indent="0" marL="0">
              <a:buNone/>
            </a:pPr>
            <a:r>
              <a:rPr lang="en-US" sz="850" dirty="0">
                <a:solidFill>
                  <a:srgbClr val="8E989D"/>
                </a:solidFill>
              </a:rPr>
              <a:t>bot</a:t>
            </a:r>
            <a:endParaRPr lang="en-US" sz="850" dirty="0"/>
          </a:p>
        </p:txBody>
      </p:sp>
      <p:sp>
        <p:nvSpPr>
          <p:cNvPr id="70" name="chat bubble"/>
          <p:cNvSpPr/>
          <p:nvPr/>
        </p:nvSpPr>
        <p:spPr>
          <a:xfrm>
            <a:off x="8577072" y="2194560"/>
            <a:ext cx="1664208" cy="274320"/>
          </a:xfrm>
          <a:prstGeom prst="roundRect">
            <a:avLst>
              <a:gd name="adj" fmla="val 20000"/>
            </a:avLst>
          </a:prstGeom>
          <a:solidFill>
            <a:srgbClr val="2B5278"/>
          </a:solidFill>
          <a:ln w="12700">
            <a:solidFill>
              <a:srgbClr val="2B5278"/>
            </a:solidFill>
            <a:prstDash val="solid"/>
          </a:ln>
        </p:spPr>
      </p:sp>
      <p:sp>
        <p:nvSpPr>
          <p:cNvPr id="71" name="Text 64"/>
          <p:cNvSpPr txBox="1"/>
          <p:nvPr/>
        </p:nvSpPr>
        <p:spPr>
          <a:xfrm>
            <a:off x="8631936" y="2212848"/>
            <a:ext cx="1554480" cy="237744"/>
          </a:xfrm>
          <a:prstGeom prst="rect">
            <a:avLst/>
          </a:prstGeom>
          <a:noFill/>
          <a:ln/>
        </p:spPr>
        <p:txBody>
          <a:bodyPr wrap="square" lIns="0" tIns="0" rIns="0" bIns="0" rtlCol="0" anchor="ctr"/>
          <a:lstStyle/>
          <a:p>
            <a:pPr indent="0" marL="0">
              <a:buNone/>
            </a:pPr>
            <a:r>
              <a:rPr lang="en-US" sz="700" dirty="0">
                <a:solidFill>
                  <a:schemeClr val="bg1"/>
                </a:solidFill>
              </a:rPr>
              <a:t>I bought chicken breast and broccoli today</a:t>
            </a:r>
            <a:endParaRPr lang="en-US" sz="700" dirty="0"/>
          </a:p>
        </p:txBody>
      </p:sp>
      <p:sp>
        <p:nvSpPr>
          <p:cNvPr id="72" name="chat bubble"/>
          <p:cNvSpPr/>
          <p:nvPr/>
        </p:nvSpPr>
        <p:spPr>
          <a:xfrm>
            <a:off x="8193024" y="2514600"/>
            <a:ext cx="1938528" cy="274320"/>
          </a:xfrm>
          <a:prstGeom prst="roundRect">
            <a:avLst>
              <a:gd name="adj" fmla="val 20000"/>
            </a:avLst>
          </a:prstGeom>
          <a:solidFill>
            <a:srgbClr val="182533"/>
          </a:solidFill>
          <a:ln w="12700">
            <a:solidFill>
              <a:srgbClr val="182533"/>
            </a:solidFill>
            <a:prstDash val="solid"/>
          </a:ln>
        </p:spPr>
      </p:sp>
      <p:sp>
        <p:nvSpPr>
          <p:cNvPr id="73" name="Text 66"/>
          <p:cNvSpPr txBox="1"/>
          <p:nvPr/>
        </p:nvSpPr>
        <p:spPr>
          <a:xfrm>
            <a:off x="8247888" y="2532888"/>
            <a:ext cx="1828800" cy="237744"/>
          </a:xfrm>
          <a:prstGeom prst="rect">
            <a:avLst/>
          </a:prstGeom>
          <a:noFill/>
          <a:ln/>
        </p:spPr>
        <p:txBody>
          <a:bodyPr wrap="square" lIns="0" tIns="0" rIns="0" bIns="0" rtlCol="0" anchor="ctr"/>
          <a:lstStyle/>
          <a:p>
            <a:pPr indent="0" marL="0">
              <a:buNone/>
            </a:pPr>
            <a:r>
              <a:rPr lang="en-US" sz="700" dirty="0">
                <a:solidFill>
                  <a:schemeClr val="bg1"/>
                </a:solidFill>
              </a:rPr>
              <a:t>Added to your kitchen: chicken breast, broccoli. …</a:t>
            </a:r>
            <a:endParaRPr lang="en-US" sz="700" dirty="0"/>
          </a:p>
        </p:txBody>
      </p:sp>
      <p:sp>
        <p:nvSpPr>
          <p:cNvPr id="74" name="chat bubble"/>
          <p:cNvSpPr/>
          <p:nvPr/>
        </p:nvSpPr>
        <p:spPr>
          <a:xfrm>
            <a:off x="8577072" y="2834640"/>
            <a:ext cx="1664208" cy="274320"/>
          </a:xfrm>
          <a:prstGeom prst="roundRect">
            <a:avLst>
              <a:gd name="adj" fmla="val 20000"/>
            </a:avLst>
          </a:prstGeom>
          <a:solidFill>
            <a:srgbClr val="2B5278"/>
          </a:solidFill>
          <a:ln w="12700">
            <a:solidFill>
              <a:srgbClr val="2B5278"/>
            </a:solidFill>
            <a:prstDash val="solid"/>
          </a:ln>
        </p:spPr>
      </p:sp>
      <p:sp>
        <p:nvSpPr>
          <p:cNvPr id="75" name="Text 68"/>
          <p:cNvSpPr txBox="1"/>
          <p:nvPr/>
        </p:nvSpPr>
        <p:spPr>
          <a:xfrm>
            <a:off x="8631936" y="2852928"/>
            <a:ext cx="1554480" cy="237744"/>
          </a:xfrm>
          <a:prstGeom prst="rect">
            <a:avLst/>
          </a:prstGeom>
          <a:noFill/>
          <a:ln/>
        </p:spPr>
        <p:txBody>
          <a:bodyPr wrap="square" lIns="0" tIns="0" rIns="0" bIns="0" rtlCol="0" anchor="ctr"/>
          <a:lstStyle/>
          <a:p>
            <a:pPr indent="0" marL="0">
              <a:buNone/>
            </a:pPr>
            <a:r>
              <a:rPr lang="en-US" sz="700" dirty="0">
                <a:solidFill>
                  <a:schemeClr val="bg1"/>
                </a:solidFill>
              </a:rPr>
              <a:t>I have club training on Wednesday from 19:00 to 21:00</a:t>
            </a:r>
            <a:endParaRPr lang="en-US" sz="700" dirty="0"/>
          </a:p>
        </p:txBody>
      </p:sp>
      <p:sp>
        <p:nvSpPr>
          <p:cNvPr id="76" name="chat bubble"/>
          <p:cNvSpPr/>
          <p:nvPr/>
        </p:nvSpPr>
        <p:spPr>
          <a:xfrm>
            <a:off x="8193024" y="3154680"/>
            <a:ext cx="1938528" cy="393192"/>
          </a:xfrm>
          <a:prstGeom prst="roundRect">
            <a:avLst>
              <a:gd name="adj" fmla="val 13953"/>
            </a:avLst>
          </a:prstGeom>
          <a:solidFill>
            <a:srgbClr val="182533"/>
          </a:solidFill>
          <a:ln w="12700">
            <a:solidFill>
              <a:srgbClr val="182533"/>
            </a:solidFill>
            <a:prstDash val="solid"/>
          </a:ln>
        </p:spPr>
      </p:sp>
      <p:sp>
        <p:nvSpPr>
          <p:cNvPr id="77" name="Text 70"/>
          <p:cNvSpPr txBox="1"/>
          <p:nvPr/>
        </p:nvSpPr>
        <p:spPr>
          <a:xfrm>
            <a:off x="8247888" y="3172968"/>
            <a:ext cx="1828800" cy="356616"/>
          </a:xfrm>
          <a:prstGeom prst="rect">
            <a:avLst/>
          </a:prstGeom>
          <a:noFill/>
          <a:ln/>
        </p:spPr>
        <p:txBody>
          <a:bodyPr wrap="square" lIns="0" tIns="0" rIns="0" bIns="0" rtlCol="0" anchor="ctr"/>
          <a:lstStyle/>
          <a:p>
            <a:pPr indent="0" marL="0">
              <a:buNone/>
            </a:pPr>
            <a:r>
              <a:rPr lang="en-US" sz="700" dirty="0">
                <a:solidFill>
                  <a:schemeClr val="bg1"/>
                </a:solidFill>
              </a:rPr>
              <a:t>In your calendar: Wed 2026-10-28 19:00-21:00 club training (training). I'll message you an hour before, with what to eat.</a:t>
            </a:r>
            <a:endParaRPr lang="en-US" sz="700" dirty="0"/>
          </a:p>
        </p:txBody>
      </p:sp>
      <p:sp>
        <p:nvSpPr>
          <p:cNvPr id="78" name="chat bubble"/>
          <p:cNvSpPr/>
          <p:nvPr/>
        </p:nvSpPr>
        <p:spPr>
          <a:xfrm>
            <a:off x="8577072" y="3593592"/>
            <a:ext cx="1664208" cy="201168"/>
          </a:xfrm>
          <a:prstGeom prst="roundRect">
            <a:avLst>
              <a:gd name="adj" fmla="val 27273"/>
            </a:avLst>
          </a:prstGeom>
          <a:solidFill>
            <a:srgbClr val="2B5278"/>
          </a:solidFill>
          <a:ln w="12700">
            <a:solidFill>
              <a:srgbClr val="2B5278"/>
            </a:solidFill>
            <a:prstDash val="solid"/>
          </a:ln>
        </p:spPr>
      </p:sp>
      <p:sp>
        <p:nvSpPr>
          <p:cNvPr id="79" name="Text 72"/>
          <p:cNvSpPr txBox="1"/>
          <p:nvPr/>
        </p:nvSpPr>
        <p:spPr>
          <a:xfrm>
            <a:off x="8631936" y="3611880"/>
            <a:ext cx="1554480" cy="164592"/>
          </a:xfrm>
          <a:prstGeom prst="rect">
            <a:avLst/>
          </a:prstGeom>
          <a:noFill/>
          <a:ln/>
        </p:spPr>
        <p:txBody>
          <a:bodyPr wrap="square" lIns="0" tIns="0" rIns="0" bIns="0" rtlCol="0" anchor="ctr"/>
          <a:lstStyle/>
          <a:p>
            <a:pPr indent="0" marL="0">
              <a:buNone/>
            </a:pPr>
            <a:r>
              <a:rPr lang="en-US" sz="700" dirty="0">
                <a:solidFill>
                  <a:schemeClr val="bg1"/>
                </a:solidFill>
              </a:rPr>
              <a:t>/meal</a:t>
            </a:r>
            <a:endParaRPr lang="en-US" sz="700" dirty="0"/>
          </a:p>
        </p:txBody>
      </p:sp>
      <p:sp>
        <p:nvSpPr>
          <p:cNvPr id="80" name="chat bubble"/>
          <p:cNvSpPr/>
          <p:nvPr/>
        </p:nvSpPr>
        <p:spPr>
          <a:xfrm>
            <a:off x="8193024" y="3840480"/>
            <a:ext cx="1938528" cy="512064"/>
          </a:xfrm>
          <a:prstGeom prst="roundRect">
            <a:avLst>
              <a:gd name="adj" fmla="val 10714"/>
            </a:avLst>
          </a:prstGeom>
          <a:solidFill>
            <a:srgbClr val="182533"/>
          </a:solidFill>
          <a:ln w="12700">
            <a:solidFill>
              <a:srgbClr val="182533"/>
            </a:solidFill>
            <a:prstDash val="solid"/>
          </a:ln>
        </p:spPr>
      </p:sp>
      <p:sp>
        <p:nvSpPr>
          <p:cNvPr id="81" name="Text 74"/>
          <p:cNvSpPr txBox="1"/>
          <p:nvPr/>
        </p:nvSpPr>
        <p:spPr>
          <a:xfrm>
            <a:off x="8247888" y="3858768"/>
            <a:ext cx="1828800" cy="475488"/>
          </a:xfrm>
          <a:prstGeom prst="rect">
            <a:avLst/>
          </a:prstGeom>
          <a:noFill/>
          <a:ln/>
        </p:spPr>
        <p:txBody>
          <a:bodyPr wrap="square" lIns="0" tIns="0" rIns="0" bIns="0" rtlCol="0" anchor="ctr"/>
          <a:lstStyle/>
          <a:p>
            <a:pPr indent="0" marL="0">
              <a:buNone/>
            </a:pPr>
            <a:r>
              <a:rPr lang="en-US" sz="700" b="1" dirty="0">
                <a:solidFill>
                  <a:srgbClr val="F2D46B"/>
                </a:solidFill>
              </a:rPr>
              <a:t>Coach Mei: </a:t>
            </a:r>
            <a:pPr indent="0" marL="0">
              <a:buNone/>
            </a:pPr>
            <a:r>
              <a:rPr lang="en-US" sz="700" dirty="0">
                <a:solidFill>
                  <a:schemeClr val="bg1"/>
                </a:solidFill>
              </a:rPr>
              <a:t>Eat a meal of rice (1 cup) and stir-fried broccoli with tofu (1 fist) about 2 hours before your next session. …</a:t>
            </a:r>
            <a:endParaRPr lang="en-US" sz="700" dirty="0"/>
          </a:p>
        </p:txBody>
      </p:sp>
      <p:sp>
        <p:nvSpPr>
          <p:cNvPr id="82" name="chat bubble"/>
          <p:cNvSpPr/>
          <p:nvPr/>
        </p:nvSpPr>
        <p:spPr>
          <a:xfrm>
            <a:off x="8577072" y="4398264"/>
            <a:ext cx="1664208" cy="274320"/>
          </a:xfrm>
          <a:prstGeom prst="roundRect">
            <a:avLst>
              <a:gd name="adj" fmla="val 20000"/>
            </a:avLst>
          </a:prstGeom>
          <a:solidFill>
            <a:srgbClr val="2B5278"/>
          </a:solidFill>
          <a:ln w="12700">
            <a:solidFill>
              <a:srgbClr val="2B5278"/>
            </a:solidFill>
            <a:prstDash val="solid"/>
          </a:ln>
        </p:spPr>
      </p:sp>
      <p:sp>
        <p:nvSpPr>
          <p:cNvPr id="83" name="Text 76"/>
          <p:cNvSpPr txBox="1"/>
          <p:nvPr/>
        </p:nvSpPr>
        <p:spPr>
          <a:xfrm>
            <a:off x="8631936" y="4416552"/>
            <a:ext cx="1554480" cy="237744"/>
          </a:xfrm>
          <a:prstGeom prst="rect">
            <a:avLst/>
          </a:prstGeom>
          <a:noFill/>
          <a:ln/>
        </p:spPr>
        <p:txBody>
          <a:bodyPr wrap="square" lIns="0" tIns="0" rIns="0" bIns="0" rtlCol="0" anchor="ctr"/>
          <a:lstStyle/>
          <a:p>
            <a:pPr indent="0" marL="0">
              <a:buNone/>
            </a:pPr>
            <a:r>
              <a:rPr lang="en-US" sz="700" dirty="0">
                <a:solidFill>
                  <a:schemeClr val="bg1"/>
                </a:solidFill>
              </a:rPr>
              <a:t>I want to play doubles with Amy and Ben on Saturday evening</a:t>
            </a:r>
            <a:endParaRPr lang="en-US" sz="700" dirty="0"/>
          </a:p>
        </p:txBody>
      </p:sp>
      <p:sp>
        <p:nvSpPr>
          <p:cNvPr id="84" name="chat bubble"/>
          <p:cNvSpPr/>
          <p:nvPr/>
        </p:nvSpPr>
        <p:spPr>
          <a:xfrm>
            <a:off x="8193024" y="4718304"/>
            <a:ext cx="1938528" cy="393192"/>
          </a:xfrm>
          <a:prstGeom prst="roundRect">
            <a:avLst>
              <a:gd name="adj" fmla="val 13953"/>
            </a:avLst>
          </a:prstGeom>
          <a:solidFill>
            <a:srgbClr val="182533"/>
          </a:solidFill>
          <a:ln w="12700">
            <a:solidFill>
              <a:srgbClr val="182533"/>
            </a:solidFill>
            <a:prstDash val="solid"/>
          </a:ln>
        </p:spPr>
      </p:sp>
      <p:sp>
        <p:nvSpPr>
          <p:cNvPr id="85" name="Text 78"/>
          <p:cNvSpPr txBox="1"/>
          <p:nvPr/>
        </p:nvSpPr>
        <p:spPr>
          <a:xfrm>
            <a:off x="8247888" y="4736592"/>
            <a:ext cx="1828800" cy="356616"/>
          </a:xfrm>
          <a:prstGeom prst="rect">
            <a:avLst/>
          </a:prstGeom>
          <a:noFill/>
          <a:ln/>
        </p:spPr>
        <p:txBody>
          <a:bodyPr wrap="square" lIns="0" tIns="0" rIns="0" bIns="0" rtlCol="0" anchor="ctr"/>
          <a:lstStyle/>
          <a:p>
            <a:pPr indent="0" marL="0">
              <a:buNone/>
            </a:pPr>
            <a:r>
              <a:rPr lang="en-US" sz="700" dirty="0">
                <a:solidFill>
                  <a:schemeClr val="bg1"/>
                </a:solidFill>
              </a:rPr>
              <a:t>Booked: Zhongzheng Sports Center · Sat 10-31 18:00-20:00 · court 4, doubles with Amy and Ben. It's in your calendar.</a:t>
            </a:r>
            <a:endParaRPr lang="en-US" sz="700" dirty="0"/>
          </a:p>
        </p:txBody>
      </p:sp>
      <p:sp>
        <p:nvSpPr>
          <p:cNvPr id="86" name="message box"/>
          <p:cNvSpPr/>
          <p:nvPr/>
        </p:nvSpPr>
        <p:spPr>
          <a:xfrm>
            <a:off x="8193024" y="5559552"/>
            <a:ext cx="2029968" cy="219456"/>
          </a:xfrm>
          <a:prstGeom prst="roundRect">
            <a:avLst>
              <a:gd name="adj" fmla="val 41667"/>
            </a:avLst>
          </a:prstGeom>
          <a:solidFill>
            <a:srgbClr val="17212B"/>
          </a:solidFill>
          <a:ln w="12700">
            <a:solidFill>
              <a:srgbClr val="17212B"/>
            </a:solidFill>
            <a:prstDash val="solid"/>
          </a:ln>
        </p:spPr>
      </p:sp>
      <p:sp>
        <p:nvSpPr>
          <p:cNvPr id="87" name="Text 80"/>
          <p:cNvSpPr txBox="1"/>
          <p:nvPr/>
        </p:nvSpPr>
        <p:spPr>
          <a:xfrm>
            <a:off x="8302752" y="5559552"/>
            <a:ext cx="1828800" cy="219456"/>
          </a:xfrm>
          <a:prstGeom prst="rect">
            <a:avLst/>
          </a:prstGeom>
          <a:noFill/>
          <a:ln/>
        </p:spPr>
        <p:txBody>
          <a:bodyPr wrap="square" lIns="0" tIns="0" rIns="0" bIns="0" rtlCol="0" anchor="ctr"/>
          <a:lstStyle/>
          <a:p>
            <a:pPr indent="0" marL="0">
              <a:buNone/>
            </a:pPr>
            <a:r>
              <a:rPr lang="en-US" sz="700" dirty="0">
                <a:solidFill>
                  <a:schemeClr val="accent5"/>
                </a:solidFill>
              </a:rPr>
              <a:t>Message</a:t>
            </a:r>
            <a:endParaRPr lang="en-US" sz="700" dirty="0"/>
          </a:p>
        </p:txBody>
      </p:sp>
      <p:sp>
        <p:nvSpPr>
          <p:cNvPr id="88" name="Text 81"/>
          <p:cNvSpPr txBox="1"/>
          <p:nvPr/>
        </p:nvSpPr>
        <p:spPr>
          <a:xfrm>
            <a:off x="8046720" y="5989320"/>
            <a:ext cx="2331720" cy="228600"/>
          </a:xfrm>
          <a:prstGeom prst="rect">
            <a:avLst/>
          </a:prstGeom>
          <a:noFill/>
          <a:ln/>
        </p:spPr>
        <p:txBody>
          <a:bodyPr wrap="square" lIns="0" tIns="0" rIns="0" bIns="0" rtlCol="0" anchor="t"/>
          <a:lstStyle/>
          <a:p>
            <a:pPr algn="ctr" indent="0" marL="0">
              <a:buNone/>
            </a:pPr>
            <a:r>
              <a:rPr lang="en-US" sz="850" dirty="0">
                <a:solidFill>
                  <a:schemeClr val="accent5"/>
                </a:solidFill>
              </a:rPr>
              <a:t>Bot output from its end-to-end test</a:t>
            </a:r>
            <a:endParaRPr lang="en-US" sz="850" dirty="0"/>
          </a:p>
        </p:txBody>
      </p:sp>
      <p:sp>
        <p:nvSpPr>
          <p:cNvPr id="89" name="Text 82"/>
          <p:cNvSpPr txBox="1"/>
          <p:nvPr/>
        </p:nvSpPr>
        <p:spPr>
          <a:xfrm>
            <a:off x="10515600" y="1828800"/>
            <a:ext cx="1143000" cy="274320"/>
          </a:xfrm>
          <a:prstGeom prst="rect">
            <a:avLst/>
          </a:prstGeom>
          <a:noFill/>
          <a:ln/>
        </p:spPr>
        <p:txBody>
          <a:bodyPr wrap="square" lIns="0" tIns="0" rIns="0" bIns="0" rtlCol="0" anchor="t"/>
          <a:lstStyle/>
          <a:p>
            <a:pPr indent="0" marL="0">
              <a:buNone/>
            </a:pPr>
            <a:r>
              <a:rPr lang="en-US" sz="1100" b="1" dirty="0">
                <a:solidFill>
                  <a:schemeClr val="accent1"/>
                </a:solidFill>
              </a:rPr>
              <a:t>Food at home</a:t>
            </a:r>
            <a:endParaRPr lang="en-US" sz="1100" dirty="0"/>
          </a:p>
        </p:txBody>
      </p:sp>
      <p:sp>
        <p:nvSpPr>
          <p:cNvPr id="90" name="Text 83"/>
          <p:cNvSpPr txBox="1"/>
          <p:nvPr/>
        </p:nvSpPr>
        <p:spPr>
          <a:xfrm>
            <a:off x="10515600" y="2103120"/>
            <a:ext cx="1115568" cy="640080"/>
          </a:xfrm>
          <a:prstGeom prst="rect">
            <a:avLst/>
          </a:prstGeom>
          <a:noFill/>
          <a:ln/>
        </p:spPr>
        <p:txBody>
          <a:bodyPr wrap="square" lIns="0" tIns="0" rIns="0" bIns="0" rtlCol="0" anchor="t"/>
          <a:lstStyle/>
          <a:p>
            <a:pPr indent="0" marL="0">
              <a:buNone/>
            </a:pPr>
            <a:r>
              <a:rPr lang="en-US" sz="900" dirty="0">
                <a:solidFill>
                  <a:schemeClr val="bg2"/>
                </a:solidFill>
              </a:rPr>
              <a:t>meals timed to training</a:t>
            </a:r>
            <a:endParaRPr lang="en-US" sz="900" dirty="0"/>
          </a:p>
        </p:txBody>
      </p:sp>
      <p:sp>
        <p:nvSpPr>
          <p:cNvPr id="91" name="Text 84"/>
          <p:cNvSpPr txBox="1"/>
          <p:nvPr/>
        </p:nvSpPr>
        <p:spPr>
          <a:xfrm>
            <a:off x="10515600" y="2852928"/>
            <a:ext cx="1143000" cy="274320"/>
          </a:xfrm>
          <a:prstGeom prst="rect">
            <a:avLst/>
          </a:prstGeom>
          <a:noFill/>
          <a:ln/>
        </p:spPr>
        <p:txBody>
          <a:bodyPr wrap="square" lIns="0" tIns="0" rIns="0" bIns="0" rtlCol="0" anchor="t"/>
          <a:lstStyle/>
          <a:p>
            <a:pPr indent="0" marL="0">
              <a:buNone/>
            </a:pPr>
            <a:r>
              <a:rPr lang="en-US" sz="1100" b="1" dirty="0">
                <a:solidFill>
                  <a:schemeClr val="accent1"/>
                </a:solidFill>
              </a:rPr>
              <a:t>Schedule &amp; log</a:t>
            </a:r>
            <a:endParaRPr lang="en-US" sz="1100" dirty="0"/>
          </a:p>
        </p:txBody>
      </p:sp>
      <p:sp>
        <p:nvSpPr>
          <p:cNvPr id="92" name="Text 85"/>
          <p:cNvSpPr txBox="1"/>
          <p:nvPr/>
        </p:nvSpPr>
        <p:spPr>
          <a:xfrm>
            <a:off x="10515600" y="3127248"/>
            <a:ext cx="1115568" cy="640080"/>
          </a:xfrm>
          <a:prstGeom prst="rect">
            <a:avLst/>
          </a:prstGeom>
          <a:noFill/>
          <a:ln/>
        </p:spPr>
        <p:txBody>
          <a:bodyPr wrap="square" lIns="0" tIns="0" rIns="0" bIns="0" rtlCol="0" anchor="t"/>
          <a:lstStyle/>
          <a:p>
            <a:pPr indent="0" marL="0">
              <a:buNone/>
            </a:pPr>
            <a:r>
              <a:rPr lang="en-US" sz="900" dirty="0">
                <a:solidFill>
                  <a:schemeClr val="bg2"/>
                </a:solidFill>
              </a:rPr>
              <a:t>reminder 1 h before; evening check-in</a:t>
            </a:r>
            <a:endParaRPr lang="en-US" sz="900" dirty="0"/>
          </a:p>
        </p:txBody>
      </p:sp>
      <p:sp>
        <p:nvSpPr>
          <p:cNvPr id="93" name="Text 86"/>
          <p:cNvSpPr txBox="1"/>
          <p:nvPr/>
        </p:nvSpPr>
        <p:spPr>
          <a:xfrm>
            <a:off x="10515600" y="3877056"/>
            <a:ext cx="1143000" cy="274320"/>
          </a:xfrm>
          <a:prstGeom prst="rect">
            <a:avLst/>
          </a:prstGeom>
          <a:noFill/>
          <a:ln/>
        </p:spPr>
        <p:txBody>
          <a:bodyPr wrap="square" lIns="0" tIns="0" rIns="0" bIns="0" rtlCol="0" anchor="t"/>
          <a:lstStyle/>
          <a:p>
            <a:pPr indent="0" marL="0">
              <a:buNone/>
            </a:pPr>
            <a:r>
              <a:rPr lang="en-US" sz="1100" b="1" dirty="0">
                <a:solidFill>
                  <a:schemeClr val="accent1"/>
                </a:solidFill>
              </a:rPr>
              <a:t>Court booking</a:t>
            </a:r>
            <a:endParaRPr lang="en-US" sz="1100" dirty="0"/>
          </a:p>
        </p:txBody>
      </p:sp>
      <p:sp>
        <p:nvSpPr>
          <p:cNvPr id="94" name="Text 87"/>
          <p:cNvSpPr txBox="1"/>
          <p:nvPr/>
        </p:nvSpPr>
        <p:spPr>
          <a:xfrm>
            <a:off x="10515600" y="4151376"/>
            <a:ext cx="1115568" cy="640080"/>
          </a:xfrm>
          <a:prstGeom prst="rect">
            <a:avLst/>
          </a:prstGeom>
          <a:noFill/>
          <a:ln/>
        </p:spPr>
        <p:txBody>
          <a:bodyPr wrap="square" lIns="0" tIns="0" rIns="0" bIns="0" rtlCol="0" anchor="t"/>
          <a:lstStyle/>
          <a:p>
            <a:pPr indent="0" marL="0">
              <a:buNone/>
            </a:pPr>
            <a:r>
              <a:rPr lang="en-US" sz="900" dirty="0">
                <a:solidFill>
                  <a:schemeClr val="bg2"/>
                </a:solidFill>
              </a:rPr>
              <a:t>a court in the middle; the agent books it on the venue's site after your OK</a:t>
            </a:r>
            <a:endParaRPr lang="en-US" sz="900" dirty="0"/>
          </a:p>
        </p:txBody>
      </p:sp>
      <p:sp>
        <p:nvSpPr>
          <p:cNvPr id="95" name="Text 88"/>
          <p:cNvSpPr txBox="1"/>
          <p:nvPr/>
        </p:nvSpPr>
        <p:spPr>
          <a:xfrm>
            <a:off x="10515600" y="4901184"/>
            <a:ext cx="1143000" cy="274320"/>
          </a:xfrm>
          <a:prstGeom prst="rect">
            <a:avLst/>
          </a:prstGeom>
          <a:noFill/>
          <a:ln/>
        </p:spPr>
        <p:txBody>
          <a:bodyPr wrap="square" lIns="0" tIns="0" rIns="0" bIns="0" rtlCol="0" anchor="t"/>
          <a:lstStyle/>
          <a:p>
            <a:pPr indent="0" marL="0">
              <a:buNone/>
            </a:pPr>
            <a:r>
              <a:rPr lang="en-US" sz="1600" b="1" dirty="0">
                <a:solidFill>
                  <a:schemeClr val="accent4"/>
                </a:solidFill>
                <a:latin typeface="Bahnschrift" pitchFamily="34" charset="0"/>
                <a:ea typeface="Bahnschrift" pitchFamily="34" charset="-122"/>
                <a:cs typeface="Bahnschrift" pitchFamily="34" charset="-120"/>
              </a:rPr>
              <a:t>39 / 39</a:t>
            </a:r>
            <a:endParaRPr lang="en-US" sz="1600" dirty="0"/>
          </a:p>
        </p:txBody>
      </p:sp>
      <p:sp>
        <p:nvSpPr>
          <p:cNvPr id="96" name="Text 89"/>
          <p:cNvSpPr txBox="1"/>
          <p:nvPr/>
        </p:nvSpPr>
        <p:spPr>
          <a:xfrm>
            <a:off x="10515600" y="5230368"/>
            <a:ext cx="1115568" cy="640080"/>
          </a:xfrm>
          <a:prstGeom prst="rect">
            <a:avLst/>
          </a:prstGeom>
          <a:noFill/>
          <a:ln/>
        </p:spPr>
        <p:txBody>
          <a:bodyPr wrap="square" lIns="0" tIns="0" rIns="0" bIns="0" rtlCol="0" anchor="t"/>
          <a:lstStyle/>
          <a:p>
            <a:pPr indent="0" marL="0">
              <a:buNone/>
            </a:pPr>
            <a:r>
              <a:rPr lang="en-US" sz="900" dirty="0">
                <a:solidFill>
                  <a:schemeClr val="bg2"/>
                </a:solidFill>
              </a:rPr>
              <a:t>end-to-end checks passed</a:t>
            </a:r>
            <a:endParaRPr lang="en-US" sz="9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2 · SOLUTION: TOOLS, TECHNOLOGIES AND METHODOLOGY</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F2E6C9"/>
          </a:solidFill>
          <a:ln w="12700">
            <a:solidFill>
              <a:srgbClr val="F2E6C9"/>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LLM agents that act: read, plan, use tools, check, ask</a:t>
            </a:r>
            <a:endParaRPr lang="en-US" sz="3000" dirty="0"/>
          </a:p>
        </p:txBody>
      </p:sp>
      <p:pic>
        <p:nvPicPr>
          <p:cNvPr id="14" name="booking agent architecture animation" descr="shots/agent_arch.png">    </p:cNvPr>
          <p:cNvPicPr>
            <a:picLocks noChangeAspect="1"/>
          </p:cNvPicPr>
          <p:nvPr/>
        </p:nvPicPr>
        <p:blipFill>
          <a:blip r:embed="rId1"/>
          <a:stretch>
            <a:fillRect/>
          </a:stretch>
        </p:blipFill>
        <p:spPr>
          <a:xfrm>
            <a:off x="548640" y="1298448"/>
            <a:ext cx="7770368" cy="4370832"/>
          </a:xfrm>
          <a:prstGeom prst="rect">
            <a:avLst/>
          </a:prstGeom>
        </p:spPr>
      </p:pic>
      <p:sp>
        <p:nvSpPr>
          <p:cNvPr id="15" name="Text 12"/>
          <p:cNvSpPr txBox="1"/>
          <p:nvPr/>
        </p:nvSpPr>
        <p:spPr>
          <a:xfrm>
            <a:off x="8549640" y="1371600"/>
            <a:ext cx="310896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EVERY AGENT RUNS THIS LOOP</a:t>
            </a:r>
            <a:endParaRPr lang="en-US" sz="1100" dirty="0"/>
          </a:p>
        </p:txBody>
      </p:sp>
      <p:sp>
        <p:nvSpPr>
          <p:cNvPr id="16" name="agent step 1"/>
          <p:cNvSpPr/>
          <p:nvPr/>
        </p:nvSpPr>
        <p:spPr>
          <a:xfrm>
            <a:off x="8549640" y="1719072"/>
            <a:ext cx="329184" cy="329184"/>
          </a:xfrm>
          <a:prstGeom prst="ellipse">
            <a:avLst/>
          </a:prstGeom>
          <a:solidFill>
            <a:srgbClr val="F2E6C9"/>
          </a:solidFill>
          <a:ln w="12700">
            <a:solidFill>
              <a:srgbClr val="F2E6C9"/>
            </a:solidFill>
            <a:prstDash val="solid"/>
          </a:ln>
        </p:spPr>
      </p:sp>
      <p:sp>
        <p:nvSpPr>
          <p:cNvPr id="17" name="Text 14"/>
          <p:cNvSpPr txBox="1"/>
          <p:nvPr/>
        </p:nvSpPr>
        <p:spPr>
          <a:xfrm>
            <a:off x="8549640" y="1719072"/>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18" name="Text 15"/>
          <p:cNvSpPr txBox="1"/>
          <p:nvPr/>
        </p:nvSpPr>
        <p:spPr>
          <a:xfrm>
            <a:off x="9006840" y="1691640"/>
            <a:ext cx="2560320" cy="237744"/>
          </a:xfrm>
          <a:prstGeom prst="rect">
            <a:avLst/>
          </a:prstGeom>
          <a:noFill/>
          <a:ln/>
        </p:spPr>
        <p:txBody>
          <a:bodyPr wrap="square" lIns="0" tIns="0" rIns="0" bIns="0" rtlCol="0" anchor="t"/>
          <a:lstStyle/>
          <a:p>
            <a:pPr indent="0" marL="0">
              <a:buNone/>
            </a:pPr>
            <a:r>
              <a:rPr lang="en-US" sz="1300" b="1" dirty="0">
                <a:solidFill>
                  <a:schemeClr val="bg1"/>
                </a:solidFill>
              </a:rPr>
              <a:t>Read</a:t>
            </a:r>
            <a:endParaRPr lang="en-US" sz="1300" dirty="0"/>
          </a:p>
        </p:txBody>
      </p:sp>
      <p:sp>
        <p:nvSpPr>
          <p:cNvPr id="19" name="Text 16"/>
          <p:cNvSpPr txBox="1"/>
          <p:nvPr/>
        </p:nvSpPr>
        <p:spPr>
          <a:xfrm>
            <a:off x="9006840" y="1920240"/>
            <a:ext cx="2606040" cy="384048"/>
          </a:xfrm>
          <a:prstGeom prst="rect">
            <a:avLst/>
          </a:prstGeom>
          <a:noFill/>
          <a:ln/>
        </p:spPr>
        <p:txBody>
          <a:bodyPr wrap="square" lIns="0" tIns="0" rIns="0" bIns="0" rtlCol="0" anchor="t"/>
          <a:lstStyle/>
          <a:p>
            <a:pPr indent="0" marL="0">
              <a:buNone/>
            </a:pPr>
            <a:r>
              <a:rPr lang="en-US" sz="950" dirty="0">
                <a:solidFill>
                  <a:schemeClr val="bg2"/>
                </a:solidFill>
              </a:rPr>
              <a:t>the local LLM turns a message into a structured request</a:t>
            </a:r>
            <a:endParaRPr lang="en-US" sz="950" dirty="0"/>
          </a:p>
        </p:txBody>
      </p:sp>
      <p:sp>
        <p:nvSpPr>
          <p:cNvPr id="20" name="agent step 2"/>
          <p:cNvSpPr/>
          <p:nvPr/>
        </p:nvSpPr>
        <p:spPr>
          <a:xfrm>
            <a:off x="8549640" y="2313432"/>
            <a:ext cx="329184" cy="329184"/>
          </a:xfrm>
          <a:prstGeom prst="ellipse">
            <a:avLst/>
          </a:prstGeom>
          <a:solidFill>
            <a:srgbClr val="F2E6C9"/>
          </a:solidFill>
          <a:ln w="12700">
            <a:solidFill>
              <a:srgbClr val="F2E6C9"/>
            </a:solidFill>
            <a:prstDash val="solid"/>
          </a:ln>
        </p:spPr>
      </p:sp>
      <p:sp>
        <p:nvSpPr>
          <p:cNvPr id="21" name="Text 18"/>
          <p:cNvSpPr txBox="1"/>
          <p:nvPr/>
        </p:nvSpPr>
        <p:spPr>
          <a:xfrm>
            <a:off x="8549640" y="2313432"/>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22" name="Text 19"/>
          <p:cNvSpPr txBox="1"/>
          <p:nvPr/>
        </p:nvSpPr>
        <p:spPr>
          <a:xfrm>
            <a:off x="9006840" y="2286000"/>
            <a:ext cx="2560320" cy="237744"/>
          </a:xfrm>
          <a:prstGeom prst="rect">
            <a:avLst/>
          </a:prstGeom>
          <a:noFill/>
          <a:ln/>
        </p:spPr>
        <p:txBody>
          <a:bodyPr wrap="square" lIns="0" tIns="0" rIns="0" bIns="0" rtlCol="0" anchor="t"/>
          <a:lstStyle/>
          <a:p>
            <a:pPr indent="0" marL="0">
              <a:buNone/>
            </a:pPr>
            <a:r>
              <a:rPr lang="en-US" sz="1300" b="1" dirty="0">
                <a:solidFill>
                  <a:schemeClr val="bg1"/>
                </a:solidFill>
              </a:rPr>
              <a:t>Plan</a:t>
            </a:r>
            <a:endParaRPr lang="en-US" sz="1300" dirty="0"/>
          </a:p>
        </p:txBody>
      </p:sp>
      <p:sp>
        <p:nvSpPr>
          <p:cNvPr id="23" name="Text 20"/>
          <p:cNvSpPr txBox="1"/>
          <p:nvPr/>
        </p:nvSpPr>
        <p:spPr>
          <a:xfrm>
            <a:off x="9006840" y="2514600"/>
            <a:ext cx="2606040" cy="384048"/>
          </a:xfrm>
          <a:prstGeom prst="rect">
            <a:avLst/>
          </a:prstGeom>
          <a:noFill/>
          <a:ln/>
        </p:spPr>
        <p:txBody>
          <a:bodyPr wrap="square" lIns="0" tIns="0" rIns="0" bIns="0" rtlCol="0" anchor="t"/>
          <a:lstStyle/>
          <a:p>
            <a:pPr indent="0" marL="0">
              <a:buNone/>
            </a:pPr>
            <a:r>
              <a:rPr lang="en-US" sz="950" dirty="0">
                <a:solidFill>
                  <a:schemeClr val="bg2"/>
                </a:solidFill>
              </a:rPr>
              <a:t>picks the tools and fills their arguments</a:t>
            </a:r>
            <a:endParaRPr lang="en-US" sz="950" dirty="0"/>
          </a:p>
        </p:txBody>
      </p:sp>
      <p:sp>
        <p:nvSpPr>
          <p:cNvPr id="24" name="agent step 3"/>
          <p:cNvSpPr/>
          <p:nvPr/>
        </p:nvSpPr>
        <p:spPr>
          <a:xfrm>
            <a:off x="8549640" y="2907792"/>
            <a:ext cx="329184" cy="329184"/>
          </a:xfrm>
          <a:prstGeom prst="ellipse">
            <a:avLst/>
          </a:prstGeom>
          <a:solidFill>
            <a:srgbClr val="6FB6FF"/>
          </a:solidFill>
          <a:ln w="12700">
            <a:solidFill>
              <a:srgbClr val="6FB6FF"/>
            </a:solidFill>
            <a:prstDash val="solid"/>
          </a:ln>
        </p:spPr>
      </p:sp>
      <p:sp>
        <p:nvSpPr>
          <p:cNvPr id="25" name="Text 22"/>
          <p:cNvSpPr txBox="1"/>
          <p:nvPr/>
        </p:nvSpPr>
        <p:spPr>
          <a:xfrm>
            <a:off x="8549640" y="2907792"/>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26" name="Text 23"/>
          <p:cNvSpPr txBox="1"/>
          <p:nvPr/>
        </p:nvSpPr>
        <p:spPr>
          <a:xfrm>
            <a:off x="9006840" y="2880360"/>
            <a:ext cx="2560320" cy="237744"/>
          </a:xfrm>
          <a:prstGeom prst="rect">
            <a:avLst/>
          </a:prstGeom>
          <a:noFill/>
          <a:ln/>
        </p:spPr>
        <p:txBody>
          <a:bodyPr wrap="square" lIns="0" tIns="0" rIns="0" bIns="0" rtlCol="0" anchor="t"/>
          <a:lstStyle/>
          <a:p>
            <a:pPr indent="0" marL="0">
              <a:buNone/>
            </a:pPr>
            <a:r>
              <a:rPr lang="en-US" sz="1300" b="1" dirty="0">
                <a:solidFill>
                  <a:schemeClr val="bg1"/>
                </a:solidFill>
              </a:rPr>
              <a:t>Act</a:t>
            </a:r>
            <a:endParaRPr lang="en-US" sz="1300" dirty="0"/>
          </a:p>
        </p:txBody>
      </p:sp>
      <p:sp>
        <p:nvSpPr>
          <p:cNvPr id="27" name="Text 24"/>
          <p:cNvSpPr txBox="1"/>
          <p:nvPr/>
        </p:nvSpPr>
        <p:spPr>
          <a:xfrm>
            <a:off x="9006840" y="3108960"/>
            <a:ext cx="2606040" cy="384048"/>
          </a:xfrm>
          <a:prstGeom prst="rect">
            <a:avLst/>
          </a:prstGeom>
          <a:noFill/>
          <a:ln/>
        </p:spPr>
        <p:txBody>
          <a:bodyPr wrap="square" lIns="0" tIns="0" rIns="0" bIns="0" rtlCol="0" anchor="t"/>
          <a:lstStyle/>
          <a:p>
            <a:pPr indent="0" marL="0">
              <a:buNone/>
            </a:pPr>
            <a:r>
              <a:rPr lang="en-US" sz="950" dirty="0">
                <a:solidFill>
                  <a:schemeClr val="bg2"/>
                </a:solidFill>
              </a:rPr>
              <a:t>map, calendars, memory, and its own browser on the venue's booking site</a:t>
            </a:r>
            <a:endParaRPr lang="en-US" sz="950" dirty="0"/>
          </a:p>
        </p:txBody>
      </p:sp>
      <p:sp>
        <p:nvSpPr>
          <p:cNvPr id="28" name="agent step 4"/>
          <p:cNvSpPr/>
          <p:nvPr/>
        </p:nvSpPr>
        <p:spPr>
          <a:xfrm>
            <a:off x="8549640" y="3502152"/>
            <a:ext cx="329184" cy="329184"/>
          </a:xfrm>
          <a:prstGeom prst="ellipse">
            <a:avLst/>
          </a:prstGeom>
          <a:solidFill>
            <a:srgbClr val="5FD39A"/>
          </a:solidFill>
          <a:ln w="12700">
            <a:solidFill>
              <a:srgbClr val="5FD39A"/>
            </a:solidFill>
            <a:prstDash val="solid"/>
          </a:ln>
        </p:spPr>
      </p:sp>
      <p:sp>
        <p:nvSpPr>
          <p:cNvPr id="29" name="Text 26"/>
          <p:cNvSpPr txBox="1"/>
          <p:nvPr/>
        </p:nvSpPr>
        <p:spPr>
          <a:xfrm>
            <a:off x="8549640" y="3502152"/>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30" name="Text 27"/>
          <p:cNvSpPr txBox="1"/>
          <p:nvPr/>
        </p:nvSpPr>
        <p:spPr>
          <a:xfrm>
            <a:off x="9006840" y="3474720"/>
            <a:ext cx="2560320" cy="237744"/>
          </a:xfrm>
          <a:prstGeom prst="rect">
            <a:avLst/>
          </a:prstGeom>
          <a:noFill/>
          <a:ln/>
        </p:spPr>
        <p:txBody>
          <a:bodyPr wrap="square" lIns="0" tIns="0" rIns="0" bIns="0" rtlCol="0" anchor="t"/>
          <a:lstStyle/>
          <a:p>
            <a:pPr indent="0" marL="0">
              <a:buNone/>
            </a:pPr>
            <a:r>
              <a:rPr lang="en-US" sz="1300" b="1" dirty="0">
                <a:solidFill>
                  <a:schemeClr val="bg1"/>
                </a:solidFill>
              </a:rPr>
              <a:t>Check</a:t>
            </a:r>
            <a:endParaRPr lang="en-US" sz="1300" dirty="0"/>
          </a:p>
        </p:txBody>
      </p:sp>
      <p:sp>
        <p:nvSpPr>
          <p:cNvPr id="31" name="Text 28"/>
          <p:cNvSpPr txBox="1"/>
          <p:nvPr/>
        </p:nvSpPr>
        <p:spPr>
          <a:xfrm>
            <a:off x="9006840" y="3703320"/>
            <a:ext cx="2606040" cy="384048"/>
          </a:xfrm>
          <a:prstGeom prst="rect">
            <a:avLst/>
          </a:prstGeom>
          <a:noFill/>
          <a:ln/>
        </p:spPr>
        <p:txBody>
          <a:bodyPr wrap="square" lIns="0" tIns="0" rIns="0" bIns="0" rtlCol="0" anchor="t"/>
          <a:lstStyle/>
          <a:p>
            <a:pPr indent="0" marL="0">
              <a:buNone/>
            </a:pPr>
            <a:r>
              <a:rPr lang="en-US" sz="950" dirty="0">
                <a:solidFill>
                  <a:schemeClr val="bg2"/>
                </a:solidFill>
              </a:rPr>
              <a:t>verifier on every number; safety gates on advice</a:t>
            </a:r>
            <a:endParaRPr lang="en-US" sz="950" dirty="0"/>
          </a:p>
        </p:txBody>
      </p:sp>
      <p:sp>
        <p:nvSpPr>
          <p:cNvPr id="32" name="agent step 5"/>
          <p:cNvSpPr/>
          <p:nvPr/>
        </p:nvSpPr>
        <p:spPr>
          <a:xfrm>
            <a:off x="8549640" y="4096512"/>
            <a:ext cx="329184" cy="329184"/>
          </a:xfrm>
          <a:prstGeom prst="ellipse">
            <a:avLst/>
          </a:prstGeom>
          <a:solidFill>
            <a:srgbClr val="F2D46B"/>
          </a:solidFill>
          <a:ln w="12700">
            <a:solidFill>
              <a:srgbClr val="F2D46B"/>
            </a:solidFill>
            <a:prstDash val="solid"/>
          </a:ln>
        </p:spPr>
      </p:sp>
      <p:sp>
        <p:nvSpPr>
          <p:cNvPr id="33" name="Text 30"/>
          <p:cNvSpPr txBox="1"/>
          <p:nvPr/>
        </p:nvSpPr>
        <p:spPr>
          <a:xfrm>
            <a:off x="8549640" y="4096512"/>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34" name="Text 31"/>
          <p:cNvSpPr txBox="1"/>
          <p:nvPr/>
        </p:nvSpPr>
        <p:spPr>
          <a:xfrm>
            <a:off x="9006840" y="4069080"/>
            <a:ext cx="2560320" cy="237744"/>
          </a:xfrm>
          <a:prstGeom prst="rect">
            <a:avLst/>
          </a:prstGeom>
          <a:noFill/>
          <a:ln/>
        </p:spPr>
        <p:txBody>
          <a:bodyPr wrap="square" lIns="0" tIns="0" rIns="0" bIns="0" rtlCol="0" anchor="t"/>
          <a:lstStyle/>
          <a:p>
            <a:pPr indent="0" marL="0">
              <a:buNone/>
            </a:pPr>
            <a:r>
              <a:rPr lang="en-US" sz="1300" b="1" dirty="0">
                <a:solidFill>
                  <a:schemeClr val="bg1"/>
                </a:solidFill>
              </a:rPr>
              <a:t>Ask</a:t>
            </a:r>
            <a:endParaRPr lang="en-US" sz="1300" dirty="0"/>
          </a:p>
        </p:txBody>
      </p:sp>
      <p:sp>
        <p:nvSpPr>
          <p:cNvPr id="35" name="Text 32"/>
          <p:cNvSpPr txBox="1"/>
          <p:nvPr/>
        </p:nvSpPr>
        <p:spPr>
          <a:xfrm>
            <a:off x="9006840" y="4297680"/>
            <a:ext cx="2606040" cy="384048"/>
          </a:xfrm>
          <a:prstGeom prst="rect">
            <a:avLst/>
          </a:prstGeom>
          <a:noFill/>
          <a:ln/>
        </p:spPr>
        <p:txBody>
          <a:bodyPr wrap="square" lIns="0" tIns="0" rIns="0" bIns="0" rtlCol="0" anchor="t"/>
          <a:lstStyle/>
          <a:p>
            <a:pPr indent="0" marL="0">
              <a:buNone/>
            </a:pPr>
            <a:r>
              <a:rPr lang="en-US" sz="950" dirty="0">
                <a:solidFill>
                  <a:schemeClr val="bg2"/>
                </a:solidFill>
              </a:rPr>
              <a:t>anything binding waits for a person's yes</a:t>
            </a:r>
            <a:endParaRPr lang="en-US" sz="950" dirty="0"/>
          </a:p>
        </p:txBody>
      </p:sp>
      <p:sp>
        <p:nvSpPr>
          <p:cNvPr id="36" name="agent step 6"/>
          <p:cNvSpPr/>
          <p:nvPr/>
        </p:nvSpPr>
        <p:spPr>
          <a:xfrm>
            <a:off x="8549640" y="4690872"/>
            <a:ext cx="329184" cy="329184"/>
          </a:xfrm>
          <a:prstGeom prst="ellipse">
            <a:avLst/>
          </a:prstGeom>
          <a:solidFill>
            <a:srgbClr val="FF8A6B"/>
          </a:solidFill>
          <a:ln w="12700">
            <a:solidFill>
              <a:srgbClr val="FF8A6B"/>
            </a:solidFill>
            <a:prstDash val="solid"/>
          </a:ln>
        </p:spPr>
      </p:sp>
      <p:sp>
        <p:nvSpPr>
          <p:cNvPr id="37" name="Text 34"/>
          <p:cNvSpPr txBox="1"/>
          <p:nvPr/>
        </p:nvSpPr>
        <p:spPr>
          <a:xfrm>
            <a:off x="8549640" y="4690872"/>
            <a:ext cx="329184" cy="329184"/>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38" name="Text 35"/>
          <p:cNvSpPr txBox="1"/>
          <p:nvPr/>
        </p:nvSpPr>
        <p:spPr>
          <a:xfrm>
            <a:off x="9006840" y="4663440"/>
            <a:ext cx="2560320" cy="237744"/>
          </a:xfrm>
          <a:prstGeom prst="rect">
            <a:avLst/>
          </a:prstGeom>
          <a:noFill/>
          <a:ln/>
        </p:spPr>
        <p:txBody>
          <a:bodyPr wrap="square" lIns="0" tIns="0" rIns="0" bIns="0" rtlCol="0" anchor="t"/>
          <a:lstStyle/>
          <a:p>
            <a:pPr indent="0" marL="0">
              <a:buNone/>
            </a:pPr>
            <a:r>
              <a:rPr lang="en-US" sz="1300" b="1" dirty="0">
                <a:solidFill>
                  <a:schemeClr val="bg1"/>
                </a:solidFill>
              </a:rPr>
              <a:t>Learn</a:t>
            </a:r>
            <a:endParaRPr lang="en-US" sz="1300" dirty="0"/>
          </a:p>
        </p:txBody>
      </p:sp>
      <p:sp>
        <p:nvSpPr>
          <p:cNvPr id="39" name="Text 36"/>
          <p:cNvSpPr txBox="1"/>
          <p:nvPr/>
        </p:nvSpPr>
        <p:spPr>
          <a:xfrm>
            <a:off x="9006840" y="4892040"/>
            <a:ext cx="2606040" cy="384048"/>
          </a:xfrm>
          <a:prstGeom prst="rect">
            <a:avLst/>
          </a:prstGeom>
          <a:noFill/>
          <a:ln/>
        </p:spPr>
        <p:txBody>
          <a:bodyPr wrap="square" lIns="0" tIns="0" rIns="0" bIns="0" rtlCol="0" anchor="t"/>
          <a:lstStyle/>
          <a:p>
            <a:pPr indent="0" marL="0">
              <a:buNone/>
            </a:pPr>
            <a:r>
              <a:rPr lang="en-US" sz="950" dirty="0">
                <a:solidFill>
                  <a:schemeClr val="bg2"/>
                </a:solidFill>
              </a:rPr>
              <a:t>feedback and nightly reflection</a:t>
            </a:r>
            <a:endParaRPr lang="en-US" sz="950" dirty="0"/>
          </a:p>
        </p:txBody>
      </p:sp>
      <p:sp>
        <p:nvSpPr>
          <p:cNvPr id="40" name="Text 37"/>
          <p:cNvSpPr txBox="1"/>
          <p:nvPr/>
        </p:nvSpPr>
        <p:spPr>
          <a:xfrm>
            <a:off x="8549640" y="5303520"/>
            <a:ext cx="3063240" cy="329184"/>
          </a:xfrm>
          <a:prstGeom prst="rect">
            <a:avLst/>
          </a:prstGeom>
          <a:noFill/>
          <a:ln/>
        </p:spPr>
        <p:txBody>
          <a:bodyPr wrap="square" lIns="0" tIns="0" rIns="0" bIns="0" rtlCol="0" anchor="t"/>
          <a:lstStyle/>
          <a:p>
            <a:pPr indent="0" marL="0">
              <a:buNone/>
            </a:pPr>
            <a:r>
              <a:rPr lang="en-US" sz="850" i="1" dirty="0">
                <a:solidFill>
                  <a:schemeClr val="accent5"/>
                </a:solidFill>
              </a:rPr>
              <a:t>From a real run on the station. The agent then books on the venue's website in its own browser and stops before the final confirm.</a:t>
            </a:r>
            <a:endParaRPr lang="en-US" sz="850" dirty="0"/>
          </a:p>
        </p:txBody>
      </p:sp>
      <p:sp>
        <p:nvSpPr>
          <p:cNvPr id="41" name="agent Coach agents × 6"/>
          <p:cNvSpPr/>
          <p:nvPr/>
        </p:nvSpPr>
        <p:spPr>
          <a:xfrm>
            <a:off x="548640" y="5715000"/>
            <a:ext cx="2121408" cy="603504"/>
          </a:xfrm>
          <a:prstGeom prst="roundRect">
            <a:avLst>
              <a:gd name="adj" fmla="val 15152"/>
            </a:avLst>
          </a:prstGeom>
          <a:solidFill>
            <a:schemeClr val="accent6"/>
          </a:solidFill>
          <a:ln w="9525">
            <a:solidFill>
              <a:srgbClr val="F2E6C9"/>
            </a:solidFill>
            <a:prstDash val="solid"/>
          </a:ln>
        </p:spPr>
      </p:sp>
      <p:sp>
        <p:nvSpPr>
          <p:cNvPr id="42" name="Text 39"/>
          <p:cNvSpPr txBox="1"/>
          <p:nvPr/>
        </p:nvSpPr>
        <p:spPr>
          <a:xfrm>
            <a:off x="676656" y="5751576"/>
            <a:ext cx="1920240" cy="256032"/>
          </a:xfrm>
          <a:prstGeom prst="rect">
            <a:avLst/>
          </a:prstGeom>
          <a:noFill/>
          <a:ln/>
        </p:spPr>
        <p:txBody>
          <a:bodyPr wrap="square" lIns="0" tIns="0" rIns="0" bIns="0" rtlCol="0" anchor="t"/>
          <a:lstStyle/>
          <a:p>
            <a:pPr indent="0" marL="0">
              <a:buNone/>
            </a:pPr>
            <a:r>
              <a:rPr lang="en-US" sz="1150" b="1" dirty="0">
                <a:solidFill>
                  <a:schemeClr val="bg1"/>
                </a:solidFill>
              </a:rPr>
              <a:t>Coach agents × 6</a:t>
            </a:r>
            <a:endParaRPr lang="en-US" sz="1150" dirty="0"/>
          </a:p>
        </p:txBody>
      </p:sp>
      <p:sp>
        <p:nvSpPr>
          <p:cNvPr id="43" name="Text 40"/>
          <p:cNvSpPr txBox="1"/>
          <p:nvPr/>
        </p:nvSpPr>
        <p:spPr>
          <a:xfrm>
            <a:off x="676656" y="5998464"/>
            <a:ext cx="1920240" cy="274320"/>
          </a:xfrm>
          <a:prstGeom prst="rect">
            <a:avLst/>
          </a:prstGeom>
          <a:noFill/>
          <a:ln/>
        </p:spPr>
        <p:txBody>
          <a:bodyPr wrap="square" lIns="0" tIns="0" rIns="0" bIns="0" rtlCol="0" anchor="t"/>
          <a:lstStyle/>
          <a:p>
            <a:pPr indent="0" marL="0">
              <a:buNone/>
            </a:pPr>
            <a:r>
              <a:rPr lang="en-US" sz="900" dirty="0">
                <a:solidFill>
                  <a:schemeClr val="bg2"/>
                </a:solidFill>
              </a:rPr>
              <a:t>answer, advise, cite their evidence</a:t>
            </a:r>
            <a:endParaRPr lang="en-US" sz="900" dirty="0"/>
          </a:p>
        </p:txBody>
      </p:sp>
      <p:sp>
        <p:nvSpPr>
          <p:cNvPr id="44" name="agent Booking agent"/>
          <p:cNvSpPr/>
          <p:nvPr/>
        </p:nvSpPr>
        <p:spPr>
          <a:xfrm>
            <a:off x="2779776" y="5715000"/>
            <a:ext cx="2121408" cy="603504"/>
          </a:xfrm>
          <a:prstGeom prst="roundRect">
            <a:avLst>
              <a:gd name="adj" fmla="val 15152"/>
            </a:avLst>
          </a:prstGeom>
          <a:solidFill>
            <a:schemeClr val="accent6"/>
          </a:solidFill>
          <a:ln w="9525">
            <a:solidFill>
              <a:srgbClr val="6FB6FF"/>
            </a:solidFill>
            <a:prstDash val="solid"/>
          </a:ln>
        </p:spPr>
      </p:sp>
      <p:sp>
        <p:nvSpPr>
          <p:cNvPr id="45" name="Text 42"/>
          <p:cNvSpPr txBox="1"/>
          <p:nvPr/>
        </p:nvSpPr>
        <p:spPr>
          <a:xfrm>
            <a:off x="2907792" y="5751576"/>
            <a:ext cx="1920240" cy="256032"/>
          </a:xfrm>
          <a:prstGeom prst="rect">
            <a:avLst/>
          </a:prstGeom>
          <a:noFill/>
          <a:ln/>
        </p:spPr>
        <p:txBody>
          <a:bodyPr wrap="square" lIns="0" tIns="0" rIns="0" bIns="0" rtlCol="0" anchor="t"/>
          <a:lstStyle/>
          <a:p>
            <a:pPr indent="0" marL="0">
              <a:buNone/>
            </a:pPr>
            <a:r>
              <a:rPr lang="en-US" sz="1150" b="1" dirty="0">
                <a:solidFill>
                  <a:schemeClr val="bg1"/>
                </a:solidFill>
              </a:rPr>
              <a:t>Booking agent</a:t>
            </a:r>
            <a:endParaRPr lang="en-US" sz="1150" dirty="0"/>
          </a:p>
        </p:txBody>
      </p:sp>
      <p:sp>
        <p:nvSpPr>
          <p:cNvPr id="46" name="Text 43"/>
          <p:cNvSpPr txBox="1"/>
          <p:nvPr/>
        </p:nvSpPr>
        <p:spPr>
          <a:xfrm>
            <a:off x="2907792" y="5998464"/>
            <a:ext cx="1920240" cy="274320"/>
          </a:xfrm>
          <a:prstGeom prst="rect">
            <a:avLst/>
          </a:prstGeom>
          <a:noFill/>
          <a:ln/>
        </p:spPr>
        <p:txBody>
          <a:bodyPr wrap="square" lIns="0" tIns="0" rIns="0" bIns="0" rtlCol="0" anchor="t"/>
          <a:lstStyle/>
          <a:p>
            <a:pPr indent="0" marL="0">
              <a:buNone/>
            </a:pPr>
            <a:r>
              <a:rPr lang="en-US" sz="900" dirty="0">
                <a:solidFill>
                  <a:schemeClr val="bg2"/>
                </a:solidFill>
              </a:rPr>
              <a:t>finds the fair court, books it on the venue's site</a:t>
            </a:r>
            <a:endParaRPr lang="en-US" sz="900" dirty="0"/>
          </a:p>
        </p:txBody>
      </p:sp>
      <p:sp>
        <p:nvSpPr>
          <p:cNvPr id="47" name="agent Research agent"/>
          <p:cNvSpPr/>
          <p:nvPr/>
        </p:nvSpPr>
        <p:spPr>
          <a:xfrm>
            <a:off x="5010912" y="5715000"/>
            <a:ext cx="2121408" cy="603504"/>
          </a:xfrm>
          <a:prstGeom prst="roundRect">
            <a:avLst>
              <a:gd name="adj" fmla="val 15152"/>
            </a:avLst>
          </a:prstGeom>
          <a:solidFill>
            <a:schemeClr val="accent6"/>
          </a:solidFill>
          <a:ln w="9525">
            <a:solidFill>
              <a:srgbClr val="5FD39A"/>
            </a:solidFill>
            <a:prstDash val="solid"/>
          </a:ln>
        </p:spPr>
      </p:sp>
      <p:sp>
        <p:nvSpPr>
          <p:cNvPr id="48" name="Text 45"/>
          <p:cNvSpPr txBox="1"/>
          <p:nvPr/>
        </p:nvSpPr>
        <p:spPr>
          <a:xfrm>
            <a:off x="5138928" y="5751576"/>
            <a:ext cx="1920240" cy="256032"/>
          </a:xfrm>
          <a:prstGeom prst="rect">
            <a:avLst/>
          </a:prstGeom>
          <a:noFill/>
          <a:ln/>
        </p:spPr>
        <p:txBody>
          <a:bodyPr wrap="square" lIns="0" tIns="0" rIns="0" bIns="0" rtlCol="0" anchor="t"/>
          <a:lstStyle/>
          <a:p>
            <a:pPr indent="0" marL="0">
              <a:buNone/>
            </a:pPr>
            <a:r>
              <a:rPr lang="en-US" sz="1150" b="1" dirty="0">
                <a:solidFill>
                  <a:schemeClr val="bg1"/>
                </a:solidFill>
              </a:rPr>
              <a:t>Research agent</a:t>
            </a:r>
            <a:endParaRPr lang="en-US" sz="1150" dirty="0"/>
          </a:p>
        </p:txBody>
      </p:sp>
      <p:sp>
        <p:nvSpPr>
          <p:cNvPr id="49" name="Text 46"/>
          <p:cNvSpPr txBox="1"/>
          <p:nvPr/>
        </p:nvSpPr>
        <p:spPr>
          <a:xfrm>
            <a:off x="5138928" y="5998464"/>
            <a:ext cx="1920240" cy="274320"/>
          </a:xfrm>
          <a:prstGeom prst="rect">
            <a:avLst/>
          </a:prstGeom>
          <a:noFill/>
          <a:ln/>
        </p:spPr>
        <p:txBody>
          <a:bodyPr wrap="square" lIns="0" tIns="0" rIns="0" bIns="0" rtlCol="0" anchor="t"/>
          <a:lstStyle/>
          <a:p>
            <a:pPr indent="0" marL="0">
              <a:buNone/>
            </a:pPr>
            <a:r>
              <a:rPr lang="en-US" sz="900" dirty="0">
                <a:solidFill>
                  <a:schemeClr val="bg2"/>
                </a:solidFill>
              </a:rPr>
              <a:t>searches and reads papers nightly</a:t>
            </a:r>
            <a:endParaRPr lang="en-US" sz="900" dirty="0"/>
          </a:p>
        </p:txBody>
      </p:sp>
      <p:sp>
        <p:nvSpPr>
          <p:cNvPr id="50" name="agent Reflection agent"/>
          <p:cNvSpPr/>
          <p:nvPr/>
        </p:nvSpPr>
        <p:spPr>
          <a:xfrm>
            <a:off x="7242048" y="5715000"/>
            <a:ext cx="2121408" cy="603504"/>
          </a:xfrm>
          <a:prstGeom prst="roundRect">
            <a:avLst>
              <a:gd name="adj" fmla="val 15152"/>
            </a:avLst>
          </a:prstGeom>
          <a:solidFill>
            <a:schemeClr val="accent6"/>
          </a:solidFill>
          <a:ln w="9525">
            <a:solidFill>
              <a:srgbClr val="FF8A6B"/>
            </a:solidFill>
            <a:prstDash val="solid"/>
          </a:ln>
        </p:spPr>
      </p:sp>
      <p:sp>
        <p:nvSpPr>
          <p:cNvPr id="51" name="Text 48"/>
          <p:cNvSpPr txBox="1"/>
          <p:nvPr/>
        </p:nvSpPr>
        <p:spPr>
          <a:xfrm>
            <a:off x="7370064" y="5751576"/>
            <a:ext cx="1920240" cy="256032"/>
          </a:xfrm>
          <a:prstGeom prst="rect">
            <a:avLst/>
          </a:prstGeom>
          <a:noFill/>
          <a:ln/>
        </p:spPr>
        <p:txBody>
          <a:bodyPr wrap="square" lIns="0" tIns="0" rIns="0" bIns="0" rtlCol="0" anchor="t"/>
          <a:lstStyle/>
          <a:p>
            <a:pPr indent="0" marL="0">
              <a:buNone/>
            </a:pPr>
            <a:r>
              <a:rPr lang="en-US" sz="1150" b="1" dirty="0">
                <a:solidFill>
                  <a:schemeClr val="bg1"/>
                </a:solidFill>
              </a:rPr>
              <a:t>Reflection agent</a:t>
            </a:r>
            <a:endParaRPr lang="en-US" sz="1150" dirty="0"/>
          </a:p>
        </p:txBody>
      </p:sp>
      <p:sp>
        <p:nvSpPr>
          <p:cNvPr id="52" name="Text 49"/>
          <p:cNvSpPr txBox="1"/>
          <p:nvPr/>
        </p:nvSpPr>
        <p:spPr>
          <a:xfrm>
            <a:off x="7370064" y="5998464"/>
            <a:ext cx="1920240" cy="274320"/>
          </a:xfrm>
          <a:prstGeom prst="rect">
            <a:avLst/>
          </a:prstGeom>
          <a:noFill/>
          <a:ln/>
        </p:spPr>
        <p:txBody>
          <a:bodyPr wrap="square" lIns="0" tIns="0" rIns="0" bIns="0" rtlCol="0" anchor="t"/>
          <a:lstStyle/>
          <a:p>
            <a:pPr indent="0" marL="0">
              <a:buNone/>
            </a:pPr>
            <a:r>
              <a:rPr lang="en-US" sz="900" dirty="0">
                <a:solidFill>
                  <a:schemeClr val="bg2"/>
                </a:solidFill>
              </a:rPr>
              <a:t>proposes playbook changes behind gates</a:t>
            </a:r>
            <a:endParaRPr lang="en-US" sz="900" dirty="0"/>
          </a:p>
        </p:txBody>
      </p:sp>
      <p:sp>
        <p:nvSpPr>
          <p:cNvPr id="53" name="agent Reminder agent"/>
          <p:cNvSpPr/>
          <p:nvPr/>
        </p:nvSpPr>
        <p:spPr>
          <a:xfrm>
            <a:off x="9473184" y="5715000"/>
            <a:ext cx="2121408" cy="603504"/>
          </a:xfrm>
          <a:prstGeom prst="roundRect">
            <a:avLst>
              <a:gd name="adj" fmla="val 15152"/>
            </a:avLst>
          </a:prstGeom>
          <a:solidFill>
            <a:schemeClr val="accent6"/>
          </a:solidFill>
          <a:ln w="9525">
            <a:solidFill>
              <a:srgbClr val="F2D46B"/>
            </a:solidFill>
            <a:prstDash val="solid"/>
          </a:ln>
        </p:spPr>
      </p:sp>
      <p:sp>
        <p:nvSpPr>
          <p:cNvPr id="54" name="Text 51"/>
          <p:cNvSpPr txBox="1"/>
          <p:nvPr/>
        </p:nvSpPr>
        <p:spPr>
          <a:xfrm>
            <a:off x="9601200" y="5751576"/>
            <a:ext cx="1920240" cy="256032"/>
          </a:xfrm>
          <a:prstGeom prst="rect">
            <a:avLst/>
          </a:prstGeom>
          <a:noFill/>
          <a:ln/>
        </p:spPr>
        <p:txBody>
          <a:bodyPr wrap="square" lIns="0" tIns="0" rIns="0" bIns="0" rtlCol="0" anchor="t"/>
          <a:lstStyle/>
          <a:p>
            <a:pPr indent="0" marL="0">
              <a:buNone/>
            </a:pPr>
            <a:r>
              <a:rPr lang="en-US" sz="1150" b="1" dirty="0">
                <a:solidFill>
                  <a:schemeClr val="bg1"/>
                </a:solidFill>
              </a:rPr>
              <a:t>Reminder agent</a:t>
            </a:r>
            <a:endParaRPr lang="en-US" sz="1150" dirty="0"/>
          </a:p>
        </p:txBody>
      </p:sp>
      <p:sp>
        <p:nvSpPr>
          <p:cNvPr id="55" name="Text 52"/>
          <p:cNvSpPr txBox="1"/>
          <p:nvPr/>
        </p:nvSpPr>
        <p:spPr>
          <a:xfrm>
            <a:off x="9601200" y="5998464"/>
            <a:ext cx="1920240" cy="274320"/>
          </a:xfrm>
          <a:prstGeom prst="rect">
            <a:avLst/>
          </a:prstGeom>
          <a:noFill/>
          <a:ln/>
        </p:spPr>
        <p:txBody>
          <a:bodyPr wrap="square" lIns="0" tIns="0" rIns="0" bIns="0" rtlCol="0" anchor="t"/>
          <a:lstStyle/>
          <a:p>
            <a:pPr indent="0" marL="0">
              <a:buNone/>
            </a:pPr>
            <a:r>
              <a:rPr lang="en-US" sz="900" dirty="0">
                <a:solidFill>
                  <a:schemeClr val="bg2"/>
                </a:solidFill>
              </a:rPr>
              <a:t>before and after every session</a:t>
            </a:r>
            <a:endParaRPr lang="en-US" sz="9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2 · SOLUTION: TOOLS, TECHNOLOGIES AND METHODOLOGY</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F2E6C9"/>
          </a:solidFill>
          <a:ln w="12700">
            <a:solidFill>
              <a:srgbClr val="F2E6C9"/>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Auto highlights: picked, filmed and shared on the device</a:t>
            </a:r>
            <a:endParaRPr lang="en-US" sz="3000" dirty="0"/>
          </a:p>
        </p:txBody>
      </p:sp>
      <p:sp>
        <p:nvSpPr>
          <p:cNvPr id="14" name="phone body"/>
          <p:cNvSpPr/>
          <p:nvPr/>
        </p:nvSpPr>
        <p:spPr>
          <a:xfrm>
            <a:off x="438912" y="1243584"/>
            <a:ext cx="2596896" cy="4480560"/>
          </a:xfrm>
          <a:prstGeom prst="roundRect">
            <a:avLst>
              <a:gd name="adj" fmla="val 9859"/>
            </a:avLst>
          </a:prstGeom>
          <a:solidFill>
            <a:srgbClr val="1A2228"/>
          </a:solidFill>
          <a:ln w="25400">
            <a:solidFill>
              <a:srgbClr val="4A555C"/>
            </a:solidFill>
            <a:prstDash val="solid"/>
          </a:ln>
        </p:spPr>
      </p:sp>
      <p:sp>
        <p:nvSpPr>
          <p:cNvPr id="15" name="phone speaker"/>
          <p:cNvSpPr/>
          <p:nvPr/>
        </p:nvSpPr>
        <p:spPr>
          <a:xfrm>
            <a:off x="1417320" y="1289304"/>
            <a:ext cx="640080" cy="73152"/>
          </a:xfrm>
          <a:prstGeom prst="roundRect">
            <a:avLst>
              <a:gd name="adj" fmla="val 50000"/>
            </a:avLst>
          </a:prstGeom>
          <a:solidFill>
            <a:srgbClr val="04070A"/>
          </a:solidFill>
          <a:ln w="12700">
            <a:solidFill>
              <a:srgbClr val="04070A"/>
            </a:solidFill>
            <a:prstDash val="solid"/>
          </a:ln>
        </p:spPr>
      </p:sp>
      <p:pic>
        <p:nvPicPr>
          <p:cNvPr id="16" name="highlight reel clip" descr="shots/hl_replay.png">    </p:cNvPr>
          <p:cNvPicPr>
            <a:picLocks noChangeAspect="1"/>
          </p:cNvPicPr>
          <p:nvPr/>
        </p:nvPicPr>
        <p:blipFill>
          <a:blip r:embed="rId1"/>
          <a:stretch>
            <a:fillRect/>
          </a:stretch>
        </p:blipFill>
        <p:spPr>
          <a:xfrm>
            <a:off x="548640" y="1417320"/>
            <a:ext cx="2371471" cy="4206240"/>
          </a:xfrm>
          <a:prstGeom prst="rect">
            <a:avLst/>
          </a:prstGeom>
        </p:spPr>
      </p:pic>
      <p:sp>
        <p:nvSpPr>
          <p:cNvPr id="17" name="Text 14"/>
          <p:cNvSpPr txBox="1"/>
          <p:nvPr/>
        </p:nvSpPr>
        <p:spPr>
          <a:xfrm>
            <a:off x="438912" y="5779008"/>
            <a:ext cx="2596896" cy="274320"/>
          </a:xfrm>
          <a:prstGeom prst="rect">
            <a:avLst/>
          </a:prstGeom>
          <a:noFill/>
          <a:ln/>
        </p:spPr>
        <p:txBody>
          <a:bodyPr wrap="square" lIns="0" tIns="0" rIns="0" bIns="0" rtlCol="0" anchor="t"/>
          <a:lstStyle/>
          <a:p>
            <a:pPr algn="ctr" indent="0" marL="0">
              <a:buNone/>
            </a:pPr>
            <a:r>
              <a:rPr lang="en-US" sz="1000" dirty="0">
                <a:solidFill>
                  <a:schemeClr val="accent5"/>
                </a:solidFill>
              </a:rPr>
              <a:t>9:16, ready for Reels · TikTok · Shorts</a:t>
            </a:r>
            <a:endParaRPr lang="en-US" sz="1000" dirty="0"/>
          </a:p>
        </p:txBody>
      </p:sp>
      <p:pic>
        <p:nvPicPr>
          <p:cNvPr id="18" name="camera step 1" descr="shots/hl_follow.png">    </p:cNvPr>
          <p:cNvPicPr>
            <a:picLocks noChangeAspect="1"/>
          </p:cNvPicPr>
          <p:nvPr/>
        </p:nvPicPr>
        <p:blipFill>
          <a:blip r:embed="rId2"/>
          <a:stretch>
            <a:fillRect/>
          </a:stretch>
        </p:blipFill>
        <p:spPr>
          <a:xfrm>
            <a:off x="3154680" y="1371600"/>
            <a:ext cx="1481328" cy="2627408"/>
          </a:xfrm>
          <a:prstGeom prst="rect">
            <a:avLst/>
          </a:prstGeom>
        </p:spPr>
      </p:pic>
      <p:sp>
        <p:nvSpPr>
          <p:cNvPr id="19" name="Text 15"/>
          <p:cNvSpPr txBox="1"/>
          <p:nvPr/>
        </p:nvSpPr>
        <p:spPr>
          <a:xfrm>
            <a:off x="3154680" y="4069080"/>
            <a:ext cx="1600200" cy="274320"/>
          </a:xfrm>
          <a:prstGeom prst="rect">
            <a:avLst/>
          </a:prstGeom>
          <a:noFill/>
          <a:ln/>
        </p:spPr>
        <p:txBody>
          <a:bodyPr wrap="square" lIns="0" tIns="0" rIns="0" bIns="0" rtlCol="0" anchor="t"/>
          <a:lstStyle/>
          <a:p>
            <a:pPr indent="0" marL="0">
              <a:buNone/>
            </a:pPr>
            <a:r>
              <a:rPr lang="en-US" sz="1200" b="1" dirty="0">
                <a:solidFill>
                  <a:schemeClr val="accent1"/>
                </a:solidFill>
              </a:rPr>
              <a:t>1  Follow-cam</a:t>
            </a:r>
            <a:endParaRPr lang="en-US" sz="1200" dirty="0"/>
          </a:p>
        </p:txBody>
      </p:sp>
      <p:sp>
        <p:nvSpPr>
          <p:cNvPr id="20" name="Text 16"/>
          <p:cNvSpPr txBox="1"/>
          <p:nvPr/>
        </p:nvSpPr>
        <p:spPr>
          <a:xfrm>
            <a:off x="3154680" y="4343400"/>
            <a:ext cx="1572768" cy="640080"/>
          </a:xfrm>
          <a:prstGeom prst="rect">
            <a:avLst/>
          </a:prstGeom>
          <a:noFill/>
          <a:ln/>
        </p:spPr>
        <p:txBody>
          <a:bodyPr wrap="square" lIns="0" tIns="0" rIns="0" bIns="0" rtlCol="0" anchor="t"/>
          <a:lstStyle/>
          <a:p>
            <a:pPr indent="0" marL="0">
              <a:buNone/>
            </a:pPr>
            <a:r>
              <a:rPr lang="en-US" sz="1000" dirty="0">
                <a:solidFill>
                  <a:schemeClr val="bg2"/>
                </a:solidFill>
              </a:rPr>
              <a:t>tracks the shuttle between hitter and receiver</a:t>
            </a:r>
            <a:endParaRPr lang="en-US" sz="1000" dirty="0"/>
          </a:p>
        </p:txBody>
      </p:sp>
      <p:pic>
        <p:nvPicPr>
          <p:cNvPr id="21" name="camera step 2" descr="shots/hl_replay.png">    </p:cNvPr>
          <p:cNvPicPr>
            <a:picLocks noChangeAspect="1"/>
          </p:cNvPicPr>
          <p:nvPr/>
        </p:nvPicPr>
        <p:blipFill>
          <a:blip r:embed="rId3"/>
          <a:stretch>
            <a:fillRect/>
          </a:stretch>
        </p:blipFill>
        <p:spPr>
          <a:xfrm>
            <a:off x="4818888" y="1371600"/>
            <a:ext cx="1481328" cy="2627408"/>
          </a:xfrm>
          <a:prstGeom prst="rect">
            <a:avLst/>
          </a:prstGeom>
        </p:spPr>
      </p:pic>
      <p:sp>
        <p:nvSpPr>
          <p:cNvPr id="22" name="Text 17"/>
          <p:cNvSpPr txBox="1"/>
          <p:nvPr/>
        </p:nvSpPr>
        <p:spPr>
          <a:xfrm>
            <a:off x="4818888" y="4069080"/>
            <a:ext cx="1600200" cy="274320"/>
          </a:xfrm>
          <a:prstGeom prst="rect">
            <a:avLst/>
          </a:prstGeom>
          <a:noFill/>
          <a:ln/>
        </p:spPr>
        <p:txBody>
          <a:bodyPr wrap="square" lIns="0" tIns="0" rIns="0" bIns="0" rtlCol="0" anchor="t"/>
          <a:lstStyle/>
          <a:p>
            <a:pPr indent="0" marL="0">
              <a:buNone/>
            </a:pPr>
            <a:r>
              <a:rPr lang="en-US" sz="1200" b="1" dirty="0">
                <a:solidFill>
                  <a:schemeClr val="accent1"/>
                </a:solidFill>
              </a:rPr>
              <a:t>2  Slow-mo push-in</a:t>
            </a:r>
            <a:endParaRPr lang="en-US" sz="1200" dirty="0"/>
          </a:p>
        </p:txBody>
      </p:sp>
      <p:sp>
        <p:nvSpPr>
          <p:cNvPr id="23" name="Text 18"/>
          <p:cNvSpPr txBox="1"/>
          <p:nvPr/>
        </p:nvSpPr>
        <p:spPr>
          <a:xfrm>
            <a:off x="4818888" y="4343400"/>
            <a:ext cx="1572768" cy="640080"/>
          </a:xfrm>
          <a:prstGeom prst="rect">
            <a:avLst/>
          </a:prstGeom>
          <a:noFill/>
          <a:ln/>
        </p:spPr>
        <p:txBody>
          <a:bodyPr wrap="square" lIns="0" tIns="0" rIns="0" bIns="0" rtlCol="0" anchor="t"/>
          <a:lstStyle/>
          <a:p>
            <a:pPr indent="0" marL="0">
              <a:buNone/>
            </a:pPr>
            <a:r>
              <a:rPr lang="en-US" sz="1000" dirty="0">
                <a:solidFill>
                  <a:schemeClr val="bg2"/>
                </a:solidFill>
              </a:rPr>
              <a:t>speed ramps down, camera closes on the hitter, holds on contact</a:t>
            </a:r>
            <a:endParaRPr lang="en-US" sz="1000" dirty="0"/>
          </a:p>
        </p:txBody>
      </p:sp>
      <p:pic>
        <p:nvPicPr>
          <p:cNvPr id="24" name="camera step 3" descr="shots/hl_freeze.png">    </p:cNvPr>
          <p:cNvPicPr>
            <a:picLocks noChangeAspect="1"/>
          </p:cNvPicPr>
          <p:nvPr/>
        </p:nvPicPr>
        <p:blipFill>
          <a:blip r:embed="rId4"/>
          <a:stretch>
            <a:fillRect/>
          </a:stretch>
        </p:blipFill>
        <p:spPr>
          <a:xfrm>
            <a:off x="6483096" y="1371600"/>
            <a:ext cx="1481328" cy="2627408"/>
          </a:xfrm>
          <a:prstGeom prst="rect">
            <a:avLst/>
          </a:prstGeom>
        </p:spPr>
      </p:pic>
      <p:sp>
        <p:nvSpPr>
          <p:cNvPr id="25" name="Text 19"/>
          <p:cNvSpPr txBox="1"/>
          <p:nvPr/>
        </p:nvSpPr>
        <p:spPr>
          <a:xfrm>
            <a:off x="6483096" y="4069080"/>
            <a:ext cx="1600200" cy="274320"/>
          </a:xfrm>
          <a:prstGeom prst="rect">
            <a:avLst/>
          </a:prstGeom>
          <a:noFill/>
          <a:ln/>
        </p:spPr>
        <p:txBody>
          <a:bodyPr wrap="square" lIns="0" tIns="0" rIns="0" bIns="0" rtlCol="0" anchor="t"/>
          <a:lstStyle/>
          <a:p>
            <a:pPr indent="0" marL="0">
              <a:buNone/>
            </a:pPr>
            <a:r>
              <a:rPr lang="en-US" sz="1200" b="1" dirty="0">
                <a:solidFill>
                  <a:schemeClr val="accent1"/>
                </a:solidFill>
              </a:rPr>
              <a:t>3  Winner freeze</a:t>
            </a:r>
            <a:endParaRPr lang="en-US" sz="1200" dirty="0"/>
          </a:p>
        </p:txBody>
      </p:sp>
      <p:sp>
        <p:nvSpPr>
          <p:cNvPr id="26" name="Text 20"/>
          <p:cNvSpPr txBox="1"/>
          <p:nvPr/>
        </p:nvSpPr>
        <p:spPr>
          <a:xfrm>
            <a:off x="6483096" y="4343400"/>
            <a:ext cx="1572768" cy="640080"/>
          </a:xfrm>
          <a:prstGeom prst="rect">
            <a:avLst/>
          </a:prstGeom>
          <a:noFill/>
          <a:ln/>
        </p:spPr>
        <p:txBody>
          <a:bodyPr wrap="square" lIns="0" tIns="0" rIns="0" bIns="0" rtlCol="0" anchor="t"/>
          <a:lstStyle/>
          <a:p>
            <a:pPr indent="0" marL="0">
              <a:buNone/>
            </a:pPr>
            <a:r>
              <a:rPr lang="en-US" sz="1000" dirty="0">
                <a:solidFill>
                  <a:schemeClr val="bg2"/>
                </a:solidFill>
              </a:rPr>
              <a:t>stamp, score and the winning shot</a:t>
            </a:r>
            <a:endParaRPr lang="en-US" sz="1000" dirty="0"/>
          </a:p>
        </p:txBody>
      </p:sp>
      <p:pic>
        <p:nvPicPr>
          <p:cNvPr id="27" name="share panel" descr="shots/hl_done.png">    </p:cNvPr>
          <p:cNvPicPr>
            <a:picLocks noChangeAspect="1"/>
          </p:cNvPicPr>
          <p:nvPr/>
        </p:nvPicPr>
        <p:blipFill>
          <a:blip r:embed="rId5"/>
          <a:stretch>
            <a:fillRect/>
          </a:stretch>
        </p:blipFill>
        <p:spPr>
          <a:xfrm>
            <a:off x="3154680" y="5029200"/>
            <a:ext cx="4436405" cy="1325880"/>
          </a:xfrm>
          <a:prstGeom prst="rect">
            <a:avLst/>
          </a:prstGeom>
        </p:spPr>
      </p:pic>
      <p:sp>
        <p:nvSpPr>
          <p:cNvPr id="28" name="highlight notes"/>
          <p:cNvSpPr/>
          <p:nvPr/>
        </p:nvSpPr>
        <p:spPr>
          <a:xfrm>
            <a:off x="8275320" y="1371600"/>
            <a:ext cx="3337560" cy="4983480"/>
          </a:xfrm>
          <a:prstGeom prst="roundRect">
            <a:avLst>
              <a:gd name="adj" fmla="val 2740"/>
            </a:avLst>
          </a:prstGeom>
          <a:solidFill>
            <a:schemeClr val="accent6"/>
          </a:solidFill>
          <a:ln w="9525">
            <a:solidFill>
              <a:srgbClr val="F2E6C9"/>
            </a:solidFill>
            <a:prstDash val="solid"/>
          </a:ln>
        </p:spPr>
      </p:sp>
      <p:sp>
        <p:nvSpPr>
          <p:cNvPr id="29" name="Text 22"/>
          <p:cNvSpPr txBox="1"/>
          <p:nvPr/>
        </p:nvSpPr>
        <p:spPr>
          <a:xfrm>
            <a:off x="8503920" y="1600200"/>
            <a:ext cx="2926080" cy="4572000"/>
          </a:xfrm>
          <a:prstGeom prst="rect">
            <a:avLst/>
          </a:prstGeom>
          <a:noFill/>
          <a:ln/>
        </p:spPr>
        <p:txBody>
          <a:bodyPr wrap="square" lIns="0" tIns="0" rIns="0" bIns="0" rtlCol="0" anchor="t"/>
          <a:lstStyle/>
          <a:p>
            <a:pPr indent="0" marL="0">
              <a:buNone/>
            </a:pPr>
            <a:r>
              <a:rPr lang="en-US" sz="1150" b="1" dirty="0">
                <a:solidFill>
                  <a:srgbClr val="EEF1F2"/>
                </a:solidFill>
              </a:rPr>
              <a:t>Picked automatically</a:t>
            </a:r>
            <a:endParaRPr lang="en-US" sz="1150" dirty="0"/>
          </a:p>
          <a:p>
            <a:pPr indent="0" marL="0">
              <a:buNone/>
            </a:pPr>
            <a:r>
              <a:rPr lang="en-US" sz="1150" dirty="0">
                <a:solidFill>
                  <a:schemeClr val="bg2"/>
                </a:solidFill>
              </a:rPr>
              <a:t>Outright winners, rally length, smash finishes and pressure points (18+) rank every rally; untick one and the next best fills in.</a:t>
            </a:r>
            <a:endParaRPr lang="en-US" sz="1150" dirty="0"/>
          </a:p>
          <a:p>
            <a:pPr indent="0" marL="0">
              <a:buNone/>
            </a:pPr>
            <a:r>
              <a:rPr lang="en-US" sz="600" dirty="0">
                <a:solidFill>
                  <a:schemeClr val="bg2"/>
                </a:solidFill>
              </a:rPr>
              <a:t> </a:t>
            </a:r>
            <a:endParaRPr lang="en-US" sz="1150" dirty="0"/>
          </a:p>
          <a:p>
            <a:pPr indent="0" marL="0">
              <a:buNone/>
            </a:pPr>
            <a:r>
              <a:rPr lang="en-US" sz="1150" b="1" dirty="0">
                <a:solidFill>
                  <a:srgbClr val="EEF1F2"/>
                </a:solidFill>
              </a:rPr>
              <a:t>Ready to post</a:t>
            </a:r>
            <a:endParaRPr lang="en-US" sz="1150" dirty="0"/>
          </a:p>
          <a:p>
            <a:pPr indent="0" marL="0">
              <a:buNone/>
            </a:pPr>
            <a:r>
              <a:rPr lang="en-US" sz="1150" dirty="0">
                <a:solidFill>
                  <a:schemeClr val="bg2"/>
                </a:solidFill>
              </a:rPr>
              <a:t>MP4 in 9:16 (Reels, TikTok, Shorts) or 16:9; one-tap Share, Download, and a written caption with hashtags.</a:t>
            </a:r>
            <a:endParaRPr lang="en-US" sz="1150" dirty="0"/>
          </a:p>
          <a:p>
            <a:pPr indent="0" marL="0">
              <a:buNone/>
            </a:pPr>
            <a:r>
              <a:rPr lang="en-US" sz="600" dirty="0">
                <a:solidFill>
                  <a:schemeClr val="bg2"/>
                </a:solidFill>
              </a:rPr>
              <a:t> </a:t>
            </a:r>
            <a:endParaRPr lang="en-US" sz="1150" dirty="0"/>
          </a:p>
          <a:p>
            <a:pPr indent="0" marL="0">
              <a:buNone/>
            </a:pPr>
            <a:r>
              <a:rPr lang="en-US" sz="1150" b="1" dirty="0">
                <a:solidFill>
                  <a:srgbClr val="5FD39A"/>
                </a:solidFill>
              </a:rPr>
              <a:t>Why it sells</a:t>
            </a:r>
            <a:endParaRPr lang="en-US" sz="1150" dirty="0"/>
          </a:p>
          <a:p>
            <a:pPr indent="0" marL="0">
              <a:buNone/>
            </a:pPr>
            <a:r>
              <a:rPr lang="en-US" sz="1150" dirty="0">
                <a:solidFill>
                  <a:schemeClr val="bg2"/>
                </a:solidFill>
              </a:rPr>
              <a:t>Players post their best rallies with the club's name on them: free marketing for the venue, and a reason to keep the subscription.</a:t>
            </a:r>
            <a:endParaRPr lang="en-US" sz="115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2 · SOLUTION: TOOLS, TECHNOLOGIES AND METHODOLOGY</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F2E6C9"/>
          </a:solidFill>
          <a:ln w="12700">
            <a:solidFill>
              <a:srgbClr val="F2E6C9"/>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Live and hands-free: a brief in every break, answers by voice</a:t>
            </a:r>
            <a:endParaRPr lang="en-US" sz="3000" dirty="0"/>
          </a:p>
        </p:txBody>
      </p:sp>
      <p:pic>
        <p:nvPicPr>
          <p:cNvPr id="14" name="live between-point brief" descr="shots/live_brief.png">    </p:cNvPr>
          <p:cNvPicPr>
            <a:picLocks noChangeAspect="1"/>
          </p:cNvPicPr>
          <p:nvPr/>
        </p:nvPicPr>
        <p:blipFill>
          <a:blip r:embed="rId1"/>
          <a:stretch>
            <a:fillRect/>
          </a:stretch>
        </p:blipFill>
        <p:spPr>
          <a:xfrm>
            <a:off x="548640" y="1371600"/>
            <a:ext cx="6766560" cy="3807468"/>
          </a:xfrm>
          <a:prstGeom prst="rect">
            <a:avLst/>
          </a:prstGeom>
        </p:spPr>
      </p:pic>
      <p:pic>
        <p:nvPicPr>
          <p:cNvPr id="15" name="voice coach panel" descr="shots/voice.png">    </p:cNvPr>
          <p:cNvPicPr>
            <a:picLocks noChangeAspect="1"/>
          </p:cNvPicPr>
          <p:nvPr/>
        </p:nvPicPr>
        <p:blipFill>
          <a:blip r:embed="rId2"/>
          <a:stretch>
            <a:fillRect/>
          </a:stretch>
        </p:blipFill>
        <p:spPr>
          <a:xfrm>
            <a:off x="7589520" y="1371600"/>
            <a:ext cx="4023360" cy="3006932"/>
          </a:xfrm>
          <a:prstGeom prst="rect">
            <a:avLst/>
          </a:prstGeom>
        </p:spPr>
      </p:pic>
      <p:sp>
        <p:nvSpPr>
          <p:cNvPr id="16" name="privacy badge"/>
          <p:cNvSpPr/>
          <p:nvPr/>
        </p:nvSpPr>
        <p:spPr>
          <a:xfrm>
            <a:off x="7589520" y="4462272"/>
            <a:ext cx="4023360" cy="713232"/>
          </a:xfrm>
          <a:prstGeom prst="roundRect">
            <a:avLst>
              <a:gd name="adj" fmla="val 12821"/>
            </a:avLst>
          </a:prstGeom>
          <a:solidFill>
            <a:srgbClr val="0D2A1D"/>
          </a:solidFill>
          <a:ln w="9525">
            <a:solidFill>
              <a:srgbClr val="5FD39A"/>
            </a:solidFill>
            <a:prstDash val="solid"/>
          </a:ln>
        </p:spPr>
      </p:sp>
      <p:pic>
        <p:nvPicPr>
          <p:cNvPr id="17" name="on-device shield" descr="preencoded.png">    </p:cNvPr>
          <p:cNvPicPr>
            <a:picLocks noChangeAspect="1"/>
          </p:cNvPicPr>
          <p:nvPr/>
        </p:nvPicPr>
        <p:blipFill>
          <a:blip r:embed="rId3"/>
          <a:stretch>
            <a:fillRect/>
          </a:stretch>
        </p:blipFill>
        <p:spPr>
          <a:xfrm>
            <a:off x="7726680" y="4572000"/>
            <a:ext cx="457200" cy="457200"/>
          </a:xfrm>
          <a:prstGeom prst="rect">
            <a:avLst/>
          </a:prstGeom>
        </p:spPr>
      </p:pic>
      <p:sp>
        <p:nvSpPr>
          <p:cNvPr id="18" name="Text 13"/>
          <p:cNvSpPr txBox="1"/>
          <p:nvPr/>
        </p:nvSpPr>
        <p:spPr>
          <a:xfrm>
            <a:off x="8321040" y="4507992"/>
            <a:ext cx="3200400" cy="640080"/>
          </a:xfrm>
          <a:prstGeom prst="rect">
            <a:avLst/>
          </a:prstGeom>
          <a:noFill/>
          <a:ln/>
        </p:spPr>
        <p:txBody>
          <a:bodyPr wrap="square" lIns="0" tIns="0" rIns="0" bIns="0" rtlCol="0" anchor="ctr"/>
          <a:lstStyle/>
          <a:p>
            <a:pPr indent="0" marL="0">
              <a:buNone/>
            </a:pPr>
            <a:r>
              <a:rPr lang="en-US" sz="1000" b="1" dirty="0">
                <a:solidFill>
                  <a:srgbClr val="5FD39A"/>
                </a:solidFill>
              </a:rPr>
              <a:t>Speech stays on this device. </a:t>
            </a:r>
            <a:pPr indent="0" marL="0">
              <a:buNone/>
            </a:pPr>
            <a:r>
              <a:rPr lang="en-US" sz="1000" dirty="0">
                <a:solidFill>
                  <a:schemeClr val="bg2"/>
                </a:solidFill>
              </a:rPr>
              <a:t>Whisper runs locally in the browser: no audio and no court conversation is recorded or sent anywhere.</a:t>
            </a:r>
            <a:endParaRPr lang="en-US" sz="1000" dirty="0"/>
          </a:p>
        </p:txBody>
      </p:sp>
      <p:sp>
        <p:nvSpPr>
          <p:cNvPr id="19" name="Text 14"/>
          <p:cNvSpPr txBox="1"/>
          <p:nvPr/>
        </p:nvSpPr>
        <p:spPr>
          <a:xfrm>
            <a:off x="548640" y="5303520"/>
            <a:ext cx="3566160" cy="292608"/>
          </a:xfrm>
          <a:prstGeom prst="rect">
            <a:avLst/>
          </a:prstGeom>
          <a:noFill/>
          <a:ln/>
        </p:spPr>
        <p:txBody>
          <a:bodyPr wrap="square" lIns="0" tIns="0" rIns="0" bIns="0" rtlCol="0" anchor="t"/>
          <a:lstStyle/>
          <a:p>
            <a:pPr indent="0" marL="0">
              <a:buNone/>
            </a:pPr>
            <a:r>
              <a:rPr lang="en-US" sz="1350" b="1" dirty="0">
                <a:solidFill>
                  <a:schemeClr val="accent1"/>
                </a:solidFill>
              </a:rPr>
              <a:t>Between points (~20 s)</a:t>
            </a:r>
            <a:endParaRPr lang="en-US" sz="1350" dirty="0"/>
          </a:p>
        </p:txBody>
      </p:sp>
      <p:sp>
        <p:nvSpPr>
          <p:cNvPr id="20" name="Text 15"/>
          <p:cNvSpPr txBox="1"/>
          <p:nvPr/>
        </p:nvSpPr>
        <p:spPr>
          <a:xfrm>
            <a:off x="548640" y="5596128"/>
            <a:ext cx="3566160" cy="731520"/>
          </a:xfrm>
          <a:prstGeom prst="rect">
            <a:avLst/>
          </a:prstGeom>
          <a:noFill/>
          <a:ln/>
        </p:spPr>
        <p:txBody>
          <a:bodyPr wrap="square" lIns="0" tIns="0" rIns="0" bIns="0" rtlCol="0" anchor="t"/>
          <a:lstStyle/>
          <a:p>
            <a:pPr indent="0" marL="0">
              <a:buNone/>
            </a:pPr>
            <a:r>
              <a:rPr lang="en-US" sz="1050" dirty="0">
                <a:solidFill>
                  <a:schemeClr val="bg2"/>
                </a:solidFill>
              </a:rPr>
              <a:t>Last point, next serve, the opponent's hot zone and an error warning; longer briefs at 11 points and between games. Computed in under 1 ms.</a:t>
            </a:r>
            <a:endParaRPr lang="en-US" sz="1050" dirty="0"/>
          </a:p>
        </p:txBody>
      </p:sp>
      <p:sp>
        <p:nvSpPr>
          <p:cNvPr id="21" name="Text 16"/>
          <p:cNvSpPr txBox="1"/>
          <p:nvPr/>
        </p:nvSpPr>
        <p:spPr>
          <a:xfrm>
            <a:off x="4297680" y="5303520"/>
            <a:ext cx="3566160" cy="292608"/>
          </a:xfrm>
          <a:prstGeom prst="rect">
            <a:avLst/>
          </a:prstGeom>
          <a:noFill/>
          <a:ln/>
        </p:spPr>
        <p:txBody>
          <a:bodyPr wrap="square" lIns="0" tIns="0" rIns="0" bIns="0" rtlCol="0" anchor="t"/>
          <a:lstStyle/>
          <a:p>
            <a:pPr indent="0" marL="0">
              <a:buNone/>
            </a:pPr>
            <a:r>
              <a:rPr lang="en-US" sz="1350" b="1" dirty="0">
                <a:solidFill>
                  <a:schemeClr val="accent1"/>
                </a:solidFill>
              </a:rPr>
              <a:t>Hands-free voice</a:t>
            </a:r>
            <a:endParaRPr lang="en-US" sz="1350" dirty="0"/>
          </a:p>
        </p:txBody>
      </p:sp>
      <p:sp>
        <p:nvSpPr>
          <p:cNvPr id="22" name="Text 17"/>
          <p:cNvSpPr txBox="1"/>
          <p:nvPr/>
        </p:nvSpPr>
        <p:spPr>
          <a:xfrm>
            <a:off x="4297680" y="5596128"/>
            <a:ext cx="3566160" cy="731520"/>
          </a:xfrm>
          <a:prstGeom prst="rect">
            <a:avLst/>
          </a:prstGeom>
          <a:noFill/>
          <a:ln/>
        </p:spPr>
        <p:txBody>
          <a:bodyPr wrap="square" lIns="0" tIns="0" rIns="0" bIns="0" rtlCol="0" anchor="t"/>
          <a:lstStyle/>
          <a:p>
            <a:pPr indent="0" marL="0">
              <a:buNone/>
            </a:pPr>
            <a:r>
              <a:rPr lang="en-US" sz="1050" dirty="0">
                <a:solidFill>
                  <a:schemeClr val="bg2"/>
                </a:solidFill>
              </a:rPr>
              <a:t>Tap Ask and speak: “What should I do next point?”. Whisper tiny runs in the browser, so no audio leaves the court.</a:t>
            </a:r>
            <a:endParaRPr lang="en-US" sz="1050" dirty="0"/>
          </a:p>
        </p:txBody>
      </p:sp>
      <p:sp>
        <p:nvSpPr>
          <p:cNvPr id="23" name="Text 18"/>
          <p:cNvSpPr txBox="1"/>
          <p:nvPr/>
        </p:nvSpPr>
        <p:spPr>
          <a:xfrm>
            <a:off x="8046720" y="5303520"/>
            <a:ext cx="3566160" cy="292608"/>
          </a:xfrm>
          <a:prstGeom prst="rect">
            <a:avLst/>
          </a:prstGeom>
          <a:noFill/>
          <a:ln/>
        </p:spPr>
        <p:txBody>
          <a:bodyPr wrap="square" lIns="0" tIns="0" rIns="0" bIns="0" rtlCol="0" anchor="t"/>
          <a:lstStyle/>
          <a:p>
            <a:pPr indent="0" marL="0">
              <a:buNone/>
            </a:pPr>
            <a:r>
              <a:rPr lang="en-US" sz="1350" b="1" dirty="0">
                <a:solidFill>
                  <a:schemeClr val="accent1"/>
                </a:solidFill>
              </a:rPr>
              <a:t>On the B70 in Stage II</a:t>
            </a:r>
            <a:endParaRPr lang="en-US" sz="1350" dirty="0"/>
          </a:p>
        </p:txBody>
      </p:sp>
      <p:sp>
        <p:nvSpPr>
          <p:cNvPr id="24" name="Text 19"/>
          <p:cNvSpPr txBox="1"/>
          <p:nvPr/>
        </p:nvSpPr>
        <p:spPr>
          <a:xfrm>
            <a:off x="8046720" y="5596128"/>
            <a:ext cx="3566160" cy="731520"/>
          </a:xfrm>
          <a:prstGeom prst="rect">
            <a:avLst/>
          </a:prstGeom>
          <a:noFill/>
          <a:ln/>
        </p:spPr>
        <p:txBody>
          <a:bodyPr wrap="square" lIns="0" tIns="0" rIns="0" bIns="0" rtlCol="0" anchor="t"/>
          <a:lstStyle/>
          <a:p>
            <a:pPr indent="0" marL="0">
              <a:buNone/>
            </a:pPr>
            <a:r>
              <a:rPr lang="en-US" sz="1050" dirty="0">
                <a:solidFill>
                  <a:schemeClr val="bg2"/>
                </a:solidFill>
              </a:rPr>
              <a:t>Pose and tracking live from the court camera; a 4B model turns each brief into one spoken sentence in under a second; Whisper on OpenVINO.</a:t>
            </a:r>
            <a:endParaRPr lang="en-US" sz="105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2 · SOLUTION: TOOLS, TECHNOLOGIES AND METHODOLOGY</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F2E6C9"/>
          </a:solidFill>
          <a:ln w="12700">
            <a:solidFill>
              <a:srgbClr val="F2E6C9"/>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Analyst toolkit: court calibration, injury watch, position maps</a:t>
            </a:r>
            <a:endParaRPr lang="en-US" sz="3000" dirty="0"/>
          </a:p>
        </p:txBody>
      </p:sp>
      <p:pic>
        <p:nvPicPr>
          <p:cNvPr id="14" name="court calibration" descr="shots/calib.png">    </p:cNvPr>
          <p:cNvPicPr>
            <a:picLocks noChangeAspect="1"/>
          </p:cNvPicPr>
          <p:nvPr/>
        </p:nvPicPr>
        <p:blipFill>
          <a:blip r:embed="rId1"/>
          <a:stretch>
            <a:fillRect/>
          </a:stretch>
        </p:blipFill>
        <p:spPr>
          <a:xfrm>
            <a:off x="548640" y="1371600"/>
            <a:ext cx="5120640" cy="2807843"/>
          </a:xfrm>
          <a:prstGeom prst="rect">
            <a:avLst/>
          </a:prstGeom>
        </p:spPr>
      </p:pic>
      <p:pic>
        <p:nvPicPr>
          <p:cNvPr id="15" name="load and injury watch" descr="shots/risk_feed.png">    </p:cNvPr>
          <p:cNvPicPr>
            <a:picLocks noChangeAspect="1"/>
          </p:cNvPicPr>
          <p:nvPr/>
        </p:nvPicPr>
        <p:blipFill>
          <a:blip r:embed="rId2"/>
          <a:stretch>
            <a:fillRect/>
          </a:stretch>
        </p:blipFill>
        <p:spPr>
          <a:xfrm>
            <a:off x="5852160" y="1371600"/>
            <a:ext cx="2398690" cy="3429000"/>
          </a:xfrm>
          <a:prstGeom prst="rect">
            <a:avLst/>
          </a:prstGeom>
        </p:spPr>
      </p:pic>
      <p:sp>
        <p:nvSpPr>
          <p:cNvPr id="16" name="knee badge"/>
          <p:cNvSpPr/>
          <p:nvPr/>
        </p:nvSpPr>
        <p:spPr>
          <a:xfrm>
            <a:off x="5715000" y="4041648"/>
            <a:ext cx="3383280" cy="457200"/>
          </a:xfrm>
          <a:prstGeom prst="roundRect">
            <a:avLst>
              <a:gd name="adj" fmla="val 16000"/>
            </a:avLst>
          </a:prstGeom>
          <a:solidFill>
            <a:srgbClr val="04070A"/>
          </a:solidFill>
          <a:ln w="25400">
            <a:solidFill>
              <a:srgbClr val="F2D46B"/>
            </a:solidFill>
            <a:prstDash val="solid"/>
          </a:ln>
          <a:effectLst>
            <a:outerShdw sx="100000" sy="100000" kx="0" ky="0" algn="bl" rotWithShape="0" blurRad="76200" dist="25400" dir="5400000">
              <a:srgbClr val="000000">
                <a:alpha val="60000"/>
              </a:srgbClr>
            </a:outerShdw>
          </a:effectLst>
        </p:spPr>
      </p:sp>
      <p:sp>
        <p:nvSpPr>
          <p:cNvPr id="17" name="knee badge dot"/>
          <p:cNvSpPr/>
          <p:nvPr/>
        </p:nvSpPr>
        <p:spPr>
          <a:xfrm>
            <a:off x="5852160" y="4206240"/>
            <a:ext cx="128016" cy="128016"/>
          </a:xfrm>
          <a:prstGeom prst="ellipse">
            <a:avLst/>
          </a:prstGeom>
          <a:solidFill>
            <a:srgbClr val="F2D46B"/>
          </a:solidFill>
          <a:ln w="12700">
            <a:solidFill>
              <a:srgbClr val="F2D46B"/>
            </a:solidFill>
            <a:prstDash val="solid"/>
          </a:ln>
        </p:spPr>
      </p:sp>
      <p:sp>
        <p:nvSpPr>
          <p:cNvPr id="18" name="Text 14"/>
          <p:cNvSpPr txBox="1"/>
          <p:nvPr/>
        </p:nvSpPr>
        <p:spPr>
          <a:xfrm>
            <a:off x="6053328" y="4041648"/>
            <a:ext cx="3017520" cy="457200"/>
          </a:xfrm>
          <a:prstGeom prst="rect">
            <a:avLst/>
          </a:prstGeom>
          <a:noFill/>
          <a:ln/>
        </p:spPr>
        <p:txBody>
          <a:bodyPr wrap="square" lIns="0" tIns="0" rIns="0" bIns="0" rtlCol="0" anchor="ctr"/>
          <a:lstStyle/>
          <a:p>
            <a:pPr indent="0" marL="0">
              <a:buNone/>
            </a:pPr>
            <a:r>
              <a:rPr lang="en-US" sz="1050" b="1" dirty="0">
                <a:solidFill>
                  <a:schemeClr val="bg1"/>
                </a:solidFill>
              </a:rPr>
              <a:t>Deep knee bend 108° on the sore right knee (over 90°)</a:t>
            </a:r>
            <a:endParaRPr lang="en-US" sz="1050" dirty="0"/>
          </a:p>
        </p:txBody>
      </p:sp>
      <p:pic>
        <p:nvPicPr>
          <p:cNvPr id="19" name="position heat map" descr="shots/positions_court.png">    </p:cNvPr>
          <p:cNvPicPr>
            <a:picLocks noChangeAspect="1"/>
          </p:cNvPicPr>
          <p:nvPr/>
        </p:nvPicPr>
        <p:blipFill>
          <a:blip r:embed="rId3"/>
          <a:stretch>
            <a:fillRect/>
          </a:stretch>
        </p:blipFill>
        <p:spPr>
          <a:xfrm>
            <a:off x="9144000" y="1371600"/>
            <a:ext cx="2468880" cy="2749435"/>
          </a:xfrm>
          <a:prstGeom prst="rect">
            <a:avLst/>
          </a:prstGeom>
        </p:spPr>
      </p:pic>
      <p:sp>
        <p:nvSpPr>
          <p:cNvPr id="20" name="Text 15"/>
          <p:cNvSpPr txBox="1"/>
          <p:nvPr/>
        </p:nvSpPr>
        <p:spPr>
          <a:xfrm>
            <a:off x="548640" y="4937760"/>
            <a:ext cx="3566160" cy="320040"/>
          </a:xfrm>
          <a:prstGeom prst="rect">
            <a:avLst/>
          </a:prstGeom>
          <a:noFill/>
          <a:ln/>
        </p:spPr>
        <p:txBody>
          <a:bodyPr wrap="square" lIns="0" tIns="0" rIns="0" bIns="0" rtlCol="0" anchor="t"/>
          <a:lstStyle/>
          <a:p>
            <a:pPr indent="0" marL="0">
              <a:buNone/>
            </a:pPr>
            <a:r>
              <a:rPr lang="en-US" sz="1400" b="1" dirty="0">
                <a:solidFill>
                  <a:schemeClr val="accent1"/>
                </a:solidFill>
              </a:rPr>
              <a:t>Court calibration</a:t>
            </a:r>
            <a:endParaRPr lang="en-US" sz="1400" dirty="0"/>
          </a:p>
        </p:txBody>
      </p:sp>
      <p:sp>
        <p:nvSpPr>
          <p:cNvPr id="21" name="Text 16"/>
          <p:cNvSpPr txBox="1"/>
          <p:nvPr/>
        </p:nvSpPr>
        <p:spPr>
          <a:xfrm>
            <a:off x="548640" y="5257800"/>
            <a:ext cx="3566160" cy="1005840"/>
          </a:xfrm>
          <a:prstGeom prst="rect">
            <a:avLst/>
          </a:prstGeom>
          <a:noFill/>
          <a:ln/>
        </p:spPr>
        <p:txBody>
          <a:bodyPr wrap="square" lIns="0" tIns="0" rIns="0" bIns="0" rtlCol="0" anchor="t"/>
          <a:lstStyle/>
          <a:p>
            <a:pPr indent="0" marL="0">
              <a:buNone/>
            </a:pPr>
            <a:r>
              <a:rPr lang="en-US" sz="1100" dirty="0">
                <a:solidFill>
                  <a:schemeClr val="bg2"/>
                </a:solidFill>
              </a:rPr>
              <a:t>Corners found automatically from the court lines, draggable to correct; the court model is drawn back and a top-down view checks the fit.</a:t>
            </a:r>
            <a:endParaRPr lang="en-US" sz="1100" dirty="0"/>
          </a:p>
        </p:txBody>
      </p:sp>
      <p:sp>
        <p:nvSpPr>
          <p:cNvPr id="22" name="Text 17"/>
          <p:cNvSpPr txBox="1"/>
          <p:nvPr/>
        </p:nvSpPr>
        <p:spPr>
          <a:xfrm>
            <a:off x="4297680" y="4937760"/>
            <a:ext cx="3566160" cy="320040"/>
          </a:xfrm>
          <a:prstGeom prst="rect">
            <a:avLst/>
          </a:prstGeom>
          <a:noFill/>
          <a:ln/>
        </p:spPr>
        <p:txBody>
          <a:bodyPr wrap="square" lIns="0" tIns="0" rIns="0" bIns="0" rtlCol="0" anchor="t"/>
          <a:lstStyle/>
          <a:p>
            <a:pPr indent="0" marL="0">
              <a:buNone/>
            </a:pPr>
            <a:r>
              <a:rPr lang="en-US" sz="1400" b="1" dirty="0">
                <a:solidFill>
                  <a:schemeClr val="accent1"/>
                </a:solidFill>
              </a:rPr>
              <a:t>Load and injury watch</a:t>
            </a:r>
            <a:endParaRPr lang="en-US" sz="1400" dirty="0"/>
          </a:p>
        </p:txBody>
      </p:sp>
      <p:sp>
        <p:nvSpPr>
          <p:cNvPr id="23" name="Text 18"/>
          <p:cNvSpPr txBox="1"/>
          <p:nvPr/>
        </p:nvSpPr>
        <p:spPr>
          <a:xfrm>
            <a:off x="4297680" y="5257800"/>
            <a:ext cx="3566160" cy="1005840"/>
          </a:xfrm>
          <a:prstGeom prst="rect">
            <a:avLst/>
          </a:prstGeom>
          <a:noFill/>
          <a:ln/>
        </p:spPr>
        <p:txBody>
          <a:bodyPr wrap="square" lIns="0" tIns="0" rIns="0" bIns="0" rtlCol="0" anchor="t"/>
          <a:lstStyle/>
          <a:p>
            <a:pPr indent="0" marL="0">
              <a:buNone/>
            </a:pPr>
            <a:r>
              <a:rPr lang="en-US" sz="1100" dirty="0">
                <a:solidFill>
                  <a:schemeClr val="bg2"/>
                </a:solidFill>
              </a:rPr>
              <a:t>Lunges and sharp cuts per rally from positions; pose skeletons give knee bend at every hit: 5 of 6 deep bends on the sore right knee.</a:t>
            </a:r>
            <a:endParaRPr lang="en-US" sz="1100" dirty="0"/>
          </a:p>
        </p:txBody>
      </p:sp>
      <p:sp>
        <p:nvSpPr>
          <p:cNvPr id="24" name="Text 19"/>
          <p:cNvSpPr txBox="1"/>
          <p:nvPr/>
        </p:nvSpPr>
        <p:spPr>
          <a:xfrm>
            <a:off x="8046720" y="4937760"/>
            <a:ext cx="3566160" cy="320040"/>
          </a:xfrm>
          <a:prstGeom prst="rect">
            <a:avLst/>
          </a:prstGeom>
          <a:noFill/>
          <a:ln/>
        </p:spPr>
        <p:txBody>
          <a:bodyPr wrap="square" lIns="0" tIns="0" rIns="0" bIns="0" rtlCol="0" anchor="t"/>
          <a:lstStyle/>
          <a:p>
            <a:pPr indent="0" marL="0">
              <a:buNone/>
            </a:pPr>
            <a:r>
              <a:rPr lang="en-US" sz="1400" b="1" dirty="0">
                <a:solidFill>
                  <a:schemeClr val="accent1"/>
                </a:solidFill>
              </a:rPr>
              <a:t>Maps, scouting, export</a:t>
            </a:r>
            <a:endParaRPr lang="en-US" sz="1400" dirty="0"/>
          </a:p>
        </p:txBody>
      </p:sp>
      <p:sp>
        <p:nvSpPr>
          <p:cNvPr id="25" name="Text 20"/>
          <p:cNvSpPr txBox="1"/>
          <p:nvPr/>
        </p:nvSpPr>
        <p:spPr>
          <a:xfrm>
            <a:off x="8046720" y="5257800"/>
            <a:ext cx="3566160" cy="1005840"/>
          </a:xfrm>
          <a:prstGeom prst="rect">
            <a:avLst/>
          </a:prstGeom>
          <a:noFill/>
          <a:ln/>
        </p:spPr>
        <p:txBody>
          <a:bodyPr wrap="square" lIns="0" tIns="0" rIns="0" bIns="0" rtlCol="0" anchor="t"/>
          <a:lstStyle/>
          <a:p>
            <a:pPr indent="0" marL="0">
              <a:buNone/>
            </a:pPr>
            <a:r>
              <a:rPr lang="en-US" sz="1100" dirty="0">
                <a:solidFill>
                  <a:schemeClr val="bg2"/>
                </a:solidFill>
              </a:rPr>
              <a:t>Where each player hits from (heat map or scatter); one-page scouting PDF; every shot as CSV or JSON.</a:t>
            </a:r>
            <a:endParaRPr lang="en-US" sz="11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3 · HARDWARE AND SOFTWARE ARCHITECTURE, SYSTEM PLANNING</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111A20"/>
          </a:solidFill>
          <a:ln w="12700">
            <a:solidFill>
              <a:srgbClr val="111A20"/>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F2E6C9"/>
          </a:solidFill>
          <a:ln w="12700">
            <a:solidFill>
              <a:srgbClr val="F2E6C9"/>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Deployment on ASUS UGen Intel Arc Pro B70</a:t>
            </a:r>
            <a:endParaRPr lang="en-US" sz="3000" dirty="0"/>
          </a:p>
        </p:txBody>
      </p:sp>
      <p:pic>
        <p:nvPicPr>
          <p:cNvPr id="14" name="hardware deployment animation" descr="shots/hardware_frame.png">    </p:cNvPr>
          <p:cNvPicPr>
            <a:picLocks noChangeAspect="1"/>
          </p:cNvPicPr>
          <p:nvPr/>
        </p:nvPicPr>
        <p:blipFill>
          <a:blip r:embed="rId1"/>
          <a:stretch>
            <a:fillRect/>
          </a:stretch>
        </p:blipFill>
        <p:spPr>
          <a:xfrm>
            <a:off x="1732280" y="1417320"/>
            <a:ext cx="8696960" cy="4892040"/>
          </a:xfrm>
          <a:prstGeom prst="rect">
            <a:avLst/>
          </a:prstGeom>
        </p:spPr>
      </p:pic>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3 · HARDWARE AND SOFTWARE ARCHITECTURE, SYSTEM PLANNING</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111A20"/>
          </a:solidFill>
          <a:ln w="12700">
            <a:solidFill>
              <a:srgbClr val="111A20"/>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F2E6C9"/>
          </a:solidFill>
          <a:ln w="12700">
            <a:solidFill>
              <a:srgbClr val="F2E6C9"/>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One GPU, scheduled by phase: what runs when</a:t>
            </a:r>
            <a:endParaRPr lang="en-US" sz="3000" dirty="0"/>
          </a:p>
        </p:txBody>
      </p:sp>
      <p:sp>
        <p:nvSpPr>
          <p:cNvPr id="14" name="Text 12"/>
          <p:cNvSpPr txBox="1"/>
          <p:nvPr/>
        </p:nvSpPr>
        <p:spPr>
          <a:xfrm>
            <a:off x="548640" y="1371600"/>
            <a:ext cx="64008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GPU TIME BY PHASE · BAR = SHARE OF THE CARD</a:t>
            </a:r>
            <a:endParaRPr lang="en-US" sz="1100" dirty="0"/>
          </a:p>
        </p:txBody>
      </p:sp>
      <p:sp>
        <p:nvSpPr>
          <p:cNvPr id="15" name="Text 13"/>
          <p:cNvSpPr txBox="1"/>
          <p:nvPr/>
        </p:nvSpPr>
        <p:spPr>
          <a:xfrm>
            <a:off x="2331720" y="1664208"/>
            <a:ext cx="1133856" cy="237744"/>
          </a:xfrm>
          <a:prstGeom prst="rect">
            <a:avLst/>
          </a:prstGeom>
          <a:noFill/>
          <a:ln/>
        </p:spPr>
        <p:txBody>
          <a:bodyPr wrap="square" lIns="0" tIns="0" rIns="0" bIns="0" rtlCol="0" anchor="t"/>
          <a:lstStyle/>
          <a:p>
            <a:pPr algn="ctr" indent="0" marL="0">
              <a:buNone/>
            </a:pPr>
            <a:r>
              <a:rPr lang="en-US" sz="1050" b="1" dirty="0">
                <a:solidFill>
                  <a:schemeClr val="bg1"/>
                </a:solidFill>
              </a:rPr>
              <a:t>Rally (live)</a:t>
            </a:r>
            <a:endParaRPr lang="en-US" sz="1050" dirty="0"/>
          </a:p>
        </p:txBody>
      </p:sp>
      <p:sp>
        <p:nvSpPr>
          <p:cNvPr id="16" name="Text 14"/>
          <p:cNvSpPr txBox="1"/>
          <p:nvPr/>
        </p:nvSpPr>
        <p:spPr>
          <a:xfrm>
            <a:off x="2331720" y="1883664"/>
            <a:ext cx="1133856" cy="201168"/>
          </a:xfrm>
          <a:prstGeom prst="rect">
            <a:avLst/>
          </a:prstGeom>
          <a:noFill/>
          <a:ln/>
        </p:spPr>
        <p:txBody>
          <a:bodyPr wrap="square" lIns="0" tIns="0" rIns="0" bIns="0" rtlCol="0" anchor="t"/>
          <a:lstStyle/>
          <a:p>
            <a:pPr algn="ctr" indent="0" marL="0">
              <a:buNone/>
            </a:pPr>
            <a:r>
              <a:rPr lang="en-US" sz="850" dirty="0">
                <a:solidFill>
                  <a:schemeClr val="accent5"/>
                </a:solidFill>
              </a:rPr>
              <a:t>33 ms a frame</a:t>
            </a:r>
            <a:endParaRPr lang="en-US" sz="850" dirty="0"/>
          </a:p>
        </p:txBody>
      </p:sp>
      <p:sp>
        <p:nvSpPr>
          <p:cNvPr id="17" name="Text 15"/>
          <p:cNvSpPr txBox="1"/>
          <p:nvPr/>
        </p:nvSpPr>
        <p:spPr>
          <a:xfrm>
            <a:off x="3520440" y="1664208"/>
            <a:ext cx="1133856" cy="237744"/>
          </a:xfrm>
          <a:prstGeom prst="rect">
            <a:avLst/>
          </a:prstGeom>
          <a:noFill/>
          <a:ln/>
        </p:spPr>
        <p:txBody>
          <a:bodyPr wrap="square" lIns="0" tIns="0" rIns="0" bIns="0" rtlCol="0" anchor="t"/>
          <a:lstStyle/>
          <a:p>
            <a:pPr algn="ctr" indent="0" marL="0">
              <a:buNone/>
            </a:pPr>
            <a:r>
              <a:rPr lang="en-US" sz="1050" b="1" dirty="0">
                <a:solidFill>
                  <a:schemeClr val="bg1"/>
                </a:solidFill>
              </a:rPr>
              <a:t>Between points</a:t>
            </a:r>
            <a:endParaRPr lang="en-US" sz="1050" dirty="0"/>
          </a:p>
        </p:txBody>
      </p:sp>
      <p:sp>
        <p:nvSpPr>
          <p:cNvPr id="18" name="Text 16"/>
          <p:cNvSpPr txBox="1"/>
          <p:nvPr/>
        </p:nvSpPr>
        <p:spPr>
          <a:xfrm>
            <a:off x="3520440" y="1883664"/>
            <a:ext cx="1133856" cy="201168"/>
          </a:xfrm>
          <a:prstGeom prst="rect">
            <a:avLst/>
          </a:prstGeom>
          <a:noFill/>
          <a:ln/>
        </p:spPr>
        <p:txBody>
          <a:bodyPr wrap="square" lIns="0" tIns="0" rIns="0" bIns="0" rtlCol="0" anchor="t"/>
          <a:lstStyle/>
          <a:p>
            <a:pPr algn="ctr" indent="0" marL="0">
              <a:buNone/>
            </a:pPr>
            <a:r>
              <a:rPr lang="en-US" sz="850" dirty="0">
                <a:solidFill>
                  <a:schemeClr val="accent5"/>
                </a:solidFill>
              </a:rPr>
              <a:t>brief &lt; 3 s</a:t>
            </a:r>
            <a:endParaRPr lang="en-US" sz="850" dirty="0"/>
          </a:p>
        </p:txBody>
      </p:sp>
      <p:sp>
        <p:nvSpPr>
          <p:cNvPr id="19" name="Text 17"/>
          <p:cNvSpPr txBox="1"/>
          <p:nvPr/>
        </p:nvSpPr>
        <p:spPr>
          <a:xfrm>
            <a:off x="4709160" y="1664208"/>
            <a:ext cx="1133856" cy="237744"/>
          </a:xfrm>
          <a:prstGeom prst="rect">
            <a:avLst/>
          </a:prstGeom>
          <a:noFill/>
          <a:ln/>
        </p:spPr>
        <p:txBody>
          <a:bodyPr wrap="square" lIns="0" tIns="0" rIns="0" bIns="0" rtlCol="0" anchor="t"/>
          <a:lstStyle/>
          <a:p>
            <a:pPr algn="ctr" indent="0" marL="0">
              <a:buNone/>
            </a:pPr>
            <a:r>
              <a:rPr lang="en-US" sz="1050" b="1" dirty="0">
                <a:solidFill>
                  <a:schemeClr val="bg1"/>
                </a:solidFill>
              </a:rPr>
              <a:t>After the match</a:t>
            </a:r>
            <a:endParaRPr lang="en-US" sz="1050" dirty="0"/>
          </a:p>
        </p:txBody>
      </p:sp>
      <p:sp>
        <p:nvSpPr>
          <p:cNvPr id="20" name="Text 18"/>
          <p:cNvSpPr txBox="1"/>
          <p:nvPr/>
        </p:nvSpPr>
        <p:spPr>
          <a:xfrm>
            <a:off x="4709160" y="1883664"/>
            <a:ext cx="1133856" cy="201168"/>
          </a:xfrm>
          <a:prstGeom prst="rect">
            <a:avLst/>
          </a:prstGeom>
          <a:noFill/>
          <a:ln/>
        </p:spPr>
        <p:txBody>
          <a:bodyPr wrap="square" lIns="0" tIns="0" rIns="0" bIns="0" rtlCol="0" anchor="t"/>
          <a:lstStyle/>
          <a:p>
            <a:pPr algn="ctr" indent="0" marL="0">
              <a:buNone/>
            </a:pPr>
            <a:r>
              <a:rPr lang="en-US" sz="850" dirty="0">
                <a:solidFill>
                  <a:schemeClr val="accent5"/>
                </a:solidFill>
              </a:rPr>
              <a:t>batch, minutes</a:t>
            </a:r>
            <a:endParaRPr lang="en-US" sz="850" dirty="0"/>
          </a:p>
        </p:txBody>
      </p:sp>
      <p:sp>
        <p:nvSpPr>
          <p:cNvPr id="21" name="Text 19"/>
          <p:cNvSpPr txBox="1"/>
          <p:nvPr/>
        </p:nvSpPr>
        <p:spPr>
          <a:xfrm>
            <a:off x="5897880" y="1664208"/>
            <a:ext cx="1133856" cy="237744"/>
          </a:xfrm>
          <a:prstGeom prst="rect">
            <a:avLst/>
          </a:prstGeom>
          <a:noFill/>
          <a:ln/>
        </p:spPr>
        <p:txBody>
          <a:bodyPr wrap="square" lIns="0" tIns="0" rIns="0" bIns="0" rtlCol="0" anchor="t"/>
          <a:lstStyle/>
          <a:p>
            <a:pPr algn="ctr" indent="0" marL="0">
              <a:buNone/>
            </a:pPr>
            <a:r>
              <a:rPr lang="en-US" sz="1050" b="1" dirty="0">
                <a:solidFill>
                  <a:schemeClr val="bg1"/>
                </a:solidFill>
              </a:rPr>
              <a:t>Coaching</a:t>
            </a:r>
            <a:endParaRPr lang="en-US" sz="1050" dirty="0"/>
          </a:p>
        </p:txBody>
      </p:sp>
      <p:sp>
        <p:nvSpPr>
          <p:cNvPr id="22" name="Text 20"/>
          <p:cNvSpPr txBox="1"/>
          <p:nvPr/>
        </p:nvSpPr>
        <p:spPr>
          <a:xfrm>
            <a:off x="5897880" y="1883664"/>
            <a:ext cx="1133856" cy="201168"/>
          </a:xfrm>
          <a:prstGeom prst="rect">
            <a:avLst/>
          </a:prstGeom>
          <a:noFill/>
          <a:ln/>
        </p:spPr>
        <p:txBody>
          <a:bodyPr wrap="square" lIns="0" tIns="0" rIns="0" bIns="0" rtlCol="0" anchor="t"/>
          <a:lstStyle/>
          <a:p>
            <a:pPr algn="ctr" indent="0" marL="0">
              <a:buNone/>
            </a:pPr>
            <a:r>
              <a:rPr lang="en-US" sz="850" dirty="0">
                <a:solidFill>
                  <a:schemeClr val="accent5"/>
                </a:solidFill>
              </a:rPr>
              <a:t>answers &lt; 10 s</a:t>
            </a:r>
            <a:endParaRPr lang="en-US" sz="850" dirty="0"/>
          </a:p>
        </p:txBody>
      </p:sp>
      <p:sp>
        <p:nvSpPr>
          <p:cNvPr id="23" name="Text 21"/>
          <p:cNvSpPr txBox="1"/>
          <p:nvPr/>
        </p:nvSpPr>
        <p:spPr>
          <a:xfrm>
            <a:off x="548640" y="2176272"/>
            <a:ext cx="1691640" cy="274320"/>
          </a:xfrm>
          <a:prstGeom prst="rect">
            <a:avLst/>
          </a:prstGeom>
          <a:noFill/>
          <a:ln/>
        </p:spPr>
        <p:txBody>
          <a:bodyPr wrap="square" lIns="0" tIns="0" rIns="0" bIns="0" rtlCol="0" anchor="ctr"/>
          <a:lstStyle/>
          <a:p>
            <a:pPr indent="0" marL="0">
              <a:buNone/>
            </a:pPr>
            <a:r>
              <a:rPr lang="en-US" sz="1000" dirty="0">
                <a:solidFill>
                  <a:schemeClr val="bg2"/>
                </a:solidFill>
              </a:rPr>
              <a:t>2D tracking + pose</a:t>
            </a:r>
            <a:endParaRPr lang="en-US" sz="1000" dirty="0"/>
          </a:p>
        </p:txBody>
      </p:sp>
      <p:sp>
        <p:nvSpPr>
          <p:cNvPr id="24" name="row rule 0"/>
          <p:cNvSpPr/>
          <p:nvPr/>
        </p:nvSpPr>
        <p:spPr>
          <a:xfrm>
            <a:off x="548640" y="2505456"/>
            <a:ext cx="6537960" cy="0"/>
          </a:xfrm>
          <a:prstGeom prst="line">
            <a:avLst/>
          </a:prstGeom>
          <a:noFill/>
          <a:ln w="6350">
            <a:solidFill>
              <a:srgbClr val="111A20"/>
            </a:solidFill>
            <a:prstDash val="solid"/>
          </a:ln>
        </p:spPr>
      </p:sp>
      <p:sp>
        <p:nvSpPr>
          <p:cNvPr id="25" name="2D tracking + pose 0"/>
          <p:cNvSpPr/>
          <p:nvPr/>
        </p:nvSpPr>
        <p:spPr>
          <a:xfrm>
            <a:off x="2377440" y="2221992"/>
            <a:ext cx="1042416" cy="201168"/>
          </a:xfrm>
          <a:prstGeom prst="roundRect">
            <a:avLst>
              <a:gd name="adj" fmla="val 18182"/>
            </a:avLst>
          </a:prstGeom>
          <a:solidFill>
            <a:srgbClr val="6FB6FF">
              <a:alpha val="90000"/>
            </a:srgbClr>
          </a:solidFill>
          <a:ln w="6350">
            <a:solidFill>
              <a:srgbClr val="6FB6FF"/>
            </a:solidFill>
            <a:prstDash val="solid"/>
          </a:ln>
        </p:spPr>
      </p:sp>
      <p:sp>
        <p:nvSpPr>
          <p:cNvPr id="26" name="2D tracking + pose 1"/>
          <p:cNvSpPr/>
          <p:nvPr/>
        </p:nvSpPr>
        <p:spPr>
          <a:xfrm>
            <a:off x="3566160" y="2221992"/>
            <a:ext cx="260604" cy="201168"/>
          </a:xfrm>
          <a:prstGeom prst="roundRect">
            <a:avLst>
              <a:gd name="adj" fmla="val 18182"/>
            </a:avLst>
          </a:prstGeom>
          <a:solidFill>
            <a:srgbClr val="6FB6FF">
              <a:alpha val="39000"/>
            </a:srgbClr>
          </a:solidFill>
          <a:ln w="6350">
            <a:solidFill>
              <a:srgbClr val="6FB6FF"/>
            </a:solidFill>
            <a:prstDash val="solid"/>
          </a:ln>
        </p:spPr>
      </p:sp>
      <p:sp>
        <p:nvSpPr>
          <p:cNvPr id="27" name="2D tracking + pose 2"/>
          <p:cNvSpPr/>
          <p:nvPr/>
        </p:nvSpPr>
        <p:spPr>
          <a:xfrm>
            <a:off x="4754880" y="2221992"/>
            <a:ext cx="729691" cy="201168"/>
          </a:xfrm>
          <a:prstGeom prst="roundRect">
            <a:avLst>
              <a:gd name="adj" fmla="val 18182"/>
            </a:avLst>
          </a:prstGeom>
          <a:solidFill>
            <a:srgbClr val="6FB6FF">
              <a:alpha val="72000"/>
            </a:srgbClr>
          </a:solidFill>
          <a:ln w="6350">
            <a:solidFill>
              <a:srgbClr val="6FB6FF"/>
            </a:solidFill>
            <a:prstDash val="solid"/>
          </a:ln>
        </p:spPr>
      </p:sp>
      <p:sp>
        <p:nvSpPr>
          <p:cNvPr id="28" name="Text 26"/>
          <p:cNvSpPr txBox="1"/>
          <p:nvPr/>
        </p:nvSpPr>
        <p:spPr>
          <a:xfrm>
            <a:off x="548640" y="2542032"/>
            <a:ext cx="1691640" cy="274320"/>
          </a:xfrm>
          <a:prstGeom prst="rect">
            <a:avLst/>
          </a:prstGeom>
          <a:noFill/>
          <a:ln/>
        </p:spPr>
        <p:txBody>
          <a:bodyPr wrap="square" lIns="0" tIns="0" rIns="0" bIns="0" rtlCol="0" anchor="ctr"/>
          <a:lstStyle/>
          <a:p>
            <a:pPr indent="0" marL="0">
              <a:buNone/>
            </a:pPr>
            <a:r>
              <a:rPr lang="en-US" sz="1000" dirty="0">
                <a:solidFill>
                  <a:schemeClr val="bg2"/>
                </a:solidFill>
              </a:rPr>
              <a:t>3D reconstruction</a:t>
            </a:r>
            <a:endParaRPr lang="en-US" sz="1000" dirty="0"/>
          </a:p>
        </p:txBody>
      </p:sp>
      <p:sp>
        <p:nvSpPr>
          <p:cNvPr id="29" name="row rule 1"/>
          <p:cNvSpPr/>
          <p:nvPr/>
        </p:nvSpPr>
        <p:spPr>
          <a:xfrm>
            <a:off x="548640" y="2871216"/>
            <a:ext cx="6537960" cy="0"/>
          </a:xfrm>
          <a:prstGeom prst="line">
            <a:avLst/>
          </a:prstGeom>
          <a:noFill/>
          <a:ln w="6350">
            <a:solidFill>
              <a:srgbClr val="111A20"/>
            </a:solidFill>
            <a:prstDash val="solid"/>
          </a:ln>
        </p:spPr>
      </p:sp>
      <p:sp>
        <p:nvSpPr>
          <p:cNvPr id="30" name="3D reconstruction 0"/>
          <p:cNvSpPr/>
          <p:nvPr/>
        </p:nvSpPr>
        <p:spPr>
          <a:xfrm>
            <a:off x="2377440" y="2587752"/>
            <a:ext cx="1042416" cy="201168"/>
          </a:xfrm>
          <a:prstGeom prst="roundRect">
            <a:avLst>
              <a:gd name="adj" fmla="val 18182"/>
            </a:avLst>
          </a:prstGeom>
          <a:solidFill>
            <a:srgbClr val="6FB6FF">
              <a:alpha val="90000"/>
            </a:srgbClr>
          </a:solidFill>
          <a:ln w="6350">
            <a:solidFill>
              <a:srgbClr val="6FB6FF"/>
            </a:solidFill>
            <a:prstDash val="solid"/>
          </a:ln>
        </p:spPr>
      </p:sp>
      <p:sp>
        <p:nvSpPr>
          <p:cNvPr id="31" name="3D reconstruction 1"/>
          <p:cNvSpPr/>
          <p:nvPr/>
        </p:nvSpPr>
        <p:spPr>
          <a:xfrm>
            <a:off x="3566160" y="2587752"/>
            <a:ext cx="260604" cy="201168"/>
          </a:xfrm>
          <a:prstGeom prst="roundRect">
            <a:avLst>
              <a:gd name="adj" fmla="val 18182"/>
            </a:avLst>
          </a:prstGeom>
          <a:solidFill>
            <a:srgbClr val="6FB6FF">
              <a:alpha val="39000"/>
            </a:srgbClr>
          </a:solidFill>
          <a:ln w="6350">
            <a:solidFill>
              <a:srgbClr val="6FB6FF"/>
            </a:solidFill>
            <a:prstDash val="solid"/>
          </a:ln>
        </p:spPr>
      </p:sp>
      <p:sp>
        <p:nvSpPr>
          <p:cNvPr id="32" name="3D reconstruction 2"/>
          <p:cNvSpPr/>
          <p:nvPr/>
        </p:nvSpPr>
        <p:spPr>
          <a:xfrm>
            <a:off x="4754880" y="2587752"/>
            <a:ext cx="729691" cy="201168"/>
          </a:xfrm>
          <a:prstGeom prst="roundRect">
            <a:avLst>
              <a:gd name="adj" fmla="val 18182"/>
            </a:avLst>
          </a:prstGeom>
          <a:solidFill>
            <a:srgbClr val="6FB6FF">
              <a:alpha val="72000"/>
            </a:srgbClr>
          </a:solidFill>
          <a:ln w="6350">
            <a:solidFill>
              <a:srgbClr val="6FB6FF"/>
            </a:solidFill>
            <a:prstDash val="solid"/>
          </a:ln>
        </p:spPr>
      </p:sp>
      <p:sp>
        <p:nvSpPr>
          <p:cNvPr id="33" name="Text 31"/>
          <p:cNvSpPr txBox="1"/>
          <p:nvPr/>
        </p:nvSpPr>
        <p:spPr>
          <a:xfrm>
            <a:off x="548640" y="2907792"/>
            <a:ext cx="1691640" cy="274320"/>
          </a:xfrm>
          <a:prstGeom prst="rect">
            <a:avLst/>
          </a:prstGeom>
          <a:noFill/>
          <a:ln/>
        </p:spPr>
        <p:txBody>
          <a:bodyPr wrap="square" lIns="0" tIns="0" rIns="0" bIns="0" rtlCol="0" anchor="ctr"/>
          <a:lstStyle/>
          <a:p>
            <a:pPr indent="0" marL="0">
              <a:buNone/>
            </a:pPr>
            <a:r>
              <a:rPr lang="en-US" sz="1000" dirty="0">
                <a:solidFill>
                  <a:schemeClr val="bg2"/>
                </a:solidFill>
              </a:rPr>
              <a:t>Intent detection</a:t>
            </a:r>
            <a:endParaRPr lang="en-US" sz="1000" dirty="0"/>
          </a:p>
        </p:txBody>
      </p:sp>
      <p:sp>
        <p:nvSpPr>
          <p:cNvPr id="34" name="row rule 2"/>
          <p:cNvSpPr/>
          <p:nvPr/>
        </p:nvSpPr>
        <p:spPr>
          <a:xfrm>
            <a:off x="548640" y="3236976"/>
            <a:ext cx="6537960" cy="0"/>
          </a:xfrm>
          <a:prstGeom prst="line">
            <a:avLst/>
          </a:prstGeom>
          <a:noFill/>
          <a:ln w="6350">
            <a:solidFill>
              <a:srgbClr val="111A20"/>
            </a:solidFill>
            <a:prstDash val="solid"/>
          </a:ln>
        </p:spPr>
      </p:sp>
      <p:sp>
        <p:nvSpPr>
          <p:cNvPr id="35" name="Intent detection 0"/>
          <p:cNvSpPr/>
          <p:nvPr/>
        </p:nvSpPr>
        <p:spPr>
          <a:xfrm>
            <a:off x="2377440" y="2953512"/>
            <a:ext cx="1042416" cy="201168"/>
          </a:xfrm>
          <a:prstGeom prst="roundRect">
            <a:avLst>
              <a:gd name="adj" fmla="val 18182"/>
            </a:avLst>
          </a:prstGeom>
          <a:solidFill>
            <a:srgbClr val="6FB6FF">
              <a:alpha val="90000"/>
            </a:srgbClr>
          </a:solidFill>
          <a:ln w="6350">
            <a:solidFill>
              <a:srgbClr val="6FB6FF"/>
            </a:solidFill>
            <a:prstDash val="solid"/>
          </a:ln>
        </p:spPr>
      </p:sp>
      <p:sp>
        <p:nvSpPr>
          <p:cNvPr id="36" name="Text 34"/>
          <p:cNvSpPr txBox="1"/>
          <p:nvPr/>
        </p:nvSpPr>
        <p:spPr>
          <a:xfrm>
            <a:off x="548640" y="3273552"/>
            <a:ext cx="1691640" cy="274320"/>
          </a:xfrm>
          <a:prstGeom prst="rect">
            <a:avLst/>
          </a:prstGeom>
          <a:noFill/>
          <a:ln/>
        </p:spPr>
        <p:txBody>
          <a:bodyPr wrap="square" lIns="0" tIns="0" rIns="0" bIns="0" rtlCol="0" anchor="ctr"/>
          <a:lstStyle/>
          <a:p>
            <a:pPr indent="0" marL="0">
              <a:buNone/>
            </a:pPr>
            <a:r>
              <a:rPr lang="en-US" sz="1000" dirty="0">
                <a:solidFill>
                  <a:schemeClr val="bg2"/>
                </a:solidFill>
              </a:rPr>
              <a:t>4B assistant · voice</a:t>
            </a:r>
            <a:endParaRPr lang="en-US" sz="1000" dirty="0"/>
          </a:p>
        </p:txBody>
      </p:sp>
      <p:sp>
        <p:nvSpPr>
          <p:cNvPr id="37" name="row rule 3"/>
          <p:cNvSpPr/>
          <p:nvPr/>
        </p:nvSpPr>
        <p:spPr>
          <a:xfrm>
            <a:off x="548640" y="3602736"/>
            <a:ext cx="6537960" cy="0"/>
          </a:xfrm>
          <a:prstGeom prst="line">
            <a:avLst/>
          </a:prstGeom>
          <a:noFill/>
          <a:ln w="6350">
            <a:solidFill>
              <a:srgbClr val="111A20"/>
            </a:solidFill>
            <a:prstDash val="solid"/>
          </a:ln>
        </p:spPr>
      </p:sp>
      <p:sp>
        <p:nvSpPr>
          <p:cNvPr id="38" name="4B assistant · voice 0"/>
          <p:cNvSpPr/>
          <p:nvPr/>
        </p:nvSpPr>
        <p:spPr>
          <a:xfrm>
            <a:off x="2377440" y="3319272"/>
            <a:ext cx="260604" cy="201168"/>
          </a:xfrm>
          <a:prstGeom prst="roundRect">
            <a:avLst>
              <a:gd name="adj" fmla="val 18182"/>
            </a:avLst>
          </a:prstGeom>
          <a:solidFill>
            <a:srgbClr val="5FD39A">
              <a:alpha val="36000"/>
            </a:srgbClr>
          </a:solidFill>
          <a:ln w="6350">
            <a:solidFill>
              <a:srgbClr val="5FD39A"/>
            </a:solidFill>
            <a:prstDash val="solid"/>
          </a:ln>
        </p:spPr>
      </p:sp>
      <p:sp>
        <p:nvSpPr>
          <p:cNvPr id="39" name="4B assistant · voice 1"/>
          <p:cNvSpPr/>
          <p:nvPr/>
        </p:nvSpPr>
        <p:spPr>
          <a:xfrm>
            <a:off x="3566160" y="3319272"/>
            <a:ext cx="1042416" cy="201168"/>
          </a:xfrm>
          <a:prstGeom prst="roundRect">
            <a:avLst>
              <a:gd name="adj" fmla="val 18182"/>
            </a:avLst>
          </a:prstGeom>
          <a:solidFill>
            <a:srgbClr val="5FD39A">
              <a:alpha val="90000"/>
            </a:srgbClr>
          </a:solidFill>
          <a:ln w="6350">
            <a:solidFill>
              <a:srgbClr val="5FD39A"/>
            </a:solidFill>
            <a:prstDash val="solid"/>
          </a:ln>
        </p:spPr>
      </p:sp>
      <p:sp>
        <p:nvSpPr>
          <p:cNvPr id="40" name="4B assistant · voice 3"/>
          <p:cNvSpPr/>
          <p:nvPr/>
        </p:nvSpPr>
        <p:spPr>
          <a:xfrm>
            <a:off x="5943600" y="3319272"/>
            <a:ext cx="312725" cy="201168"/>
          </a:xfrm>
          <a:prstGeom prst="roundRect">
            <a:avLst>
              <a:gd name="adj" fmla="val 18182"/>
            </a:avLst>
          </a:prstGeom>
          <a:solidFill>
            <a:srgbClr val="5FD39A">
              <a:alpha val="48000"/>
            </a:srgbClr>
          </a:solidFill>
          <a:ln w="6350">
            <a:solidFill>
              <a:srgbClr val="5FD39A"/>
            </a:solidFill>
            <a:prstDash val="solid"/>
          </a:ln>
        </p:spPr>
      </p:sp>
      <p:sp>
        <p:nvSpPr>
          <p:cNvPr id="41" name="Text 39"/>
          <p:cNvSpPr txBox="1"/>
          <p:nvPr/>
        </p:nvSpPr>
        <p:spPr>
          <a:xfrm>
            <a:off x="548640" y="3639312"/>
            <a:ext cx="1691640" cy="274320"/>
          </a:xfrm>
          <a:prstGeom prst="rect">
            <a:avLst/>
          </a:prstGeom>
          <a:noFill/>
          <a:ln/>
        </p:spPr>
        <p:txBody>
          <a:bodyPr wrap="square" lIns="0" tIns="0" rIns="0" bIns="0" rtlCol="0" anchor="ctr"/>
          <a:lstStyle/>
          <a:p>
            <a:pPr indent="0" marL="0">
              <a:buNone/>
            </a:pPr>
            <a:r>
              <a:rPr lang="en-US" sz="1000" dirty="0">
                <a:solidFill>
                  <a:schemeClr val="bg2"/>
                </a:solidFill>
              </a:rPr>
              <a:t>Coach agents · round table</a:t>
            </a:r>
            <a:endParaRPr lang="en-US" sz="1000" dirty="0"/>
          </a:p>
        </p:txBody>
      </p:sp>
      <p:sp>
        <p:nvSpPr>
          <p:cNvPr id="42" name="row rule 4"/>
          <p:cNvSpPr/>
          <p:nvPr/>
        </p:nvSpPr>
        <p:spPr>
          <a:xfrm>
            <a:off x="548640" y="3968496"/>
            <a:ext cx="6537960" cy="0"/>
          </a:xfrm>
          <a:prstGeom prst="line">
            <a:avLst/>
          </a:prstGeom>
          <a:noFill/>
          <a:ln w="6350">
            <a:solidFill>
              <a:srgbClr val="111A20"/>
            </a:solidFill>
            <a:prstDash val="solid"/>
          </a:ln>
        </p:spPr>
      </p:sp>
      <p:sp>
        <p:nvSpPr>
          <p:cNvPr id="43" name="Coach agents · round table 3"/>
          <p:cNvSpPr/>
          <p:nvPr/>
        </p:nvSpPr>
        <p:spPr>
          <a:xfrm>
            <a:off x="5943600" y="3685032"/>
            <a:ext cx="1042416" cy="201168"/>
          </a:xfrm>
          <a:prstGeom prst="roundRect">
            <a:avLst>
              <a:gd name="adj" fmla="val 18182"/>
            </a:avLst>
          </a:prstGeom>
          <a:solidFill>
            <a:srgbClr val="F2E6C9">
              <a:alpha val="90000"/>
            </a:srgbClr>
          </a:solidFill>
          <a:ln w="6350">
            <a:solidFill>
              <a:srgbClr val="F2E6C9"/>
            </a:solidFill>
            <a:prstDash val="solid"/>
          </a:ln>
        </p:spPr>
      </p:sp>
      <p:sp>
        <p:nvSpPr>
          <p:cNvPr id="44" name="Text 42"/>
          <p:cNvSpPr txBox="1"/>
          <p:nvPr/>
        </p:nvSpPr>
        <p:spPr>
          <a:xfrm>
            <a:off x="548640" y="4005072"/>
            <a:ext cx="1691640" cy="274320"/>
          </a:xfrm>
          <a:prstGeom prst="rect">
            <a:avLst/>
          </a:prstGeom>
          <a:noFill/>
          <a:ln/>
        </p:spPr>
        <p:txBody>
          <a:bodyPr wrap="square" lIns="0" tIns="0" rIns="0" bIns="0" rtlCol="0" anchor="ctr"/>
          <a:lstStyle/>
          <a:p>
            <a:pPr indent="0" marL="0">
              <a:buNone/>
            </a:pPr>
            <a:r>
              <a:rPr lang="en-US" sz="1000" dirty="0">
                <a:solidFill>
                  <a:schemeClr val="bg2"/>
                </a:solidFill>
              </a:rPr>
              <a:t>Booking agent · browser</a:t>
            </a:r>
            <a:endParaRPr lang="en-US" sz="1000" dirty="0"/>
          </a:p>
        </p:txBody>
      </p:sp>
      <p:sp>
        <p:nvSpPr>
          <p:cNvPr id="45" name="row rule 5"/>
          <p:cNvSpPr/>
          <p:nvPr/>
        </p:nvSpPr>
        <p:spPr>
          <a:xfrm>
            <a:off x="548640" y="4334256"/>
            <a:ext cx="6537960" cy="0"/>
          </a:xfrm>
          <a:prstGeom prst="line">
            <a:avLst/>
          </a:prstGeom>
          <a:noFill/>
          <a:ln w="6350">
            <a:solidFill>
              <a:srgbClr val="111A20"/>
            </a:solidFill>
            <a:prstDash val="solid"/>
          </a:ln>
        </p:spPr>
      </p:sp>
      <p:sp>
        <p:nvSpPr>
          <p:cNvPr id="46" name="Booking agent · browser 2"/>
          <p:cNvSpPr/>
          <p:nvPr/>
        </p:nvSpPr>
        <p:spPr>
          <a:xfrm>
            <a:off x="4754880" y="4050792"/>
            <a:ext cx="260604" cy="201168"/>
          </a:xfrm>
          <a:prstGeom prst="roundRect">
            <a:avLst>
              <a:gd name="adj" fmla="val 18182"/>
            </a:avLst>
          </a:prstGeom>
          <a:solidFill>
            <a:srgbClr val="FF8A6B">
              <a:alpha val="45000"/>
            </a:srgbClr>
          </a:solidFill>
          <a:ln w="6350">
            <a:solidFill>
              <a:srgbClr val="FF8A6B"/>
            </a:solidFill>
            <a:prstDash val="solid"/>
          </a:ln>
        </p:spPr>
      </p:sp>
      <p:sp>
        <p:nvSpPr>
          <p:cNvPr id="47" name="Booking agent · browser 3"/>
          <p:cNvSpPr/>
          <p:nvPr/>
        </p:nvSpPr>
        <p:spPr>
          <a:xfrm>
            <a:off x="5943600" y="4050792"/>
            <a:ext cx="521208" cy="201168"/>
          </a:xfrm>
          <a:prstGeom prst="roundRect">
            <a:avLst>
              <a:gd name="adj" fmla="val 18182"/>
            </a:avLst>
          </a:prstGeom>
          <a:solidFill>
            <a:srgbClr val="FF8A6B">
              <a:alpha val="60000"/>
            </a:srgbClr>
          </a:solidFill>
          <a:ln w="6350">
            <a:solidFill>
              <a:srgbClr val="FF8A6B"/>
            </a:solidFill>
            <a:prstDash val="solid"/>
          </a:ln>
        </p:spPr>
      </p:sp>
      <p:sp>
        <p:nvSpPr>
          <p:cNvPr id="48" name="Text 46"/>
          <p:cNvSpPr txBox="1"/>
          <p:nvPr/>
        </p:nvSpPr>
        <p:spPr>
          <a:xfrm>
            <a:off x="548640" y="4370832"/>
            <a:ext cx="1691640" cy="274320"/>
          </a:xfrm>
          <a:prstGeom prst="rect">
            <a:avLst/>
          </a:prstGeom>
          <a:noFill/>
          <a:ln/>
        </p:spPr>
        <p:txBody>
          <a:bodyPr wrap="square" lIns="0" tIns="0" rIns="0" bIns="0" rtlCol="0" anchor="ctr"/>
          <a:lstStyle/>
          <a:p>
            <a:pPr indent="0" marL="0">
              <a:buNone/>
            </a:pPr>
            <a:r>
              <a:rPr lang="en-US" sz="1000" dirty="0">
                <a:solidFill>
                  <a:schemeClr val="bg2"/>
                </a:solidFill>
              </a:rPr>
              <a:t>Research · reflection (night)</a:t>
            </a:r>
            <a:endParaRPr lang="en-US" sz="1000" dirty="0"/>
          </a:p>
        </p:txBody>
      </p:sp>
      <p:sp>
        <p:nvSpPr>
          <p:cNvPr id="49" name="row rule 6"/>
          <p:cNvSpPr/>
          <p:nvPr/>
        </p:nvSpPr>
        <p:spPr>
          <a:xfrm>
            <a:off x="548640" y="4700016"/>
            <a:ext cx="6537960" cy="0"/>
          </a:xfrm>
          <a:prstGeom prst="line">
            <a:avLst/>
          </a:prstGeom>
          <a:noFill/>
          <a:ln w="6350">
            <a:solidFill>
              <a:srgbClr val="111A20"/>
            </a:solidFill>
            <a:prstDash val="solid"/>
          </a:ln>
        </p:spPr>
      </p:sp>
      <p:sp>
        <p:nvSpPr>
          <p:cNvPr id="50" name="Research · reflection (night) 2"/>
          <p:cNvSpPr/>
          <p:nvPr/>
        </p:nvSpPr>
        <p:spPr>
          <a:xfrm>
            <a:off x="4754880" y="4416552"/>
            <a:ext cx="625450" cy="201168"/>
          </a:xfrm>
          <a:prstGeom prst="roundRect">
            <a:avLst>
              <a:gd name="adj" fmla="val 18182"/>
            </a:avLst>
          </a:prstGeom>
          <a:solidFill>
            <a:srgbClr val="F2D46B">
              <a:alpha val="66000"/>
            </a:srgbClr>
          </a:solidFill>
          <a:ln w="6350">
            <a:solidFill>
              <a:srgbClr val="F2D46B"/>
            </a:solidFill>
            <a:prstDash val="solid"/>
          </a:ln>
        </p:spPr>
      </p:sp>
      <p:sp>
        <p:nvSpPr>
          <p:cNvPr id="51" name="Text 49"/>
          <p:cNvSpPr txBox="1"/>
          <p:nvPr/>
        </p:nvSpPr>
        <p:spPr>
          <a:xfrm>
            <a:off x="548640" y="4736592"/>
            <a:ext cx="1691640" cy="274320"/>
          </a:xfrm>
          <a:prstGeom prst="rect">
            <a:avLst/>
          </a:prstGeom>
          <a:noFill/>
          <a:ln/>
        </p:spPr>
        <p:txBody>
          <a:bodyPr wrap="square" lIns="0" tIns="0" rIns="0" bIns="0" rtlCol="0" anchor="ctr"/>
          <a:lstStyle/>
          <a:p>
            <a:pPr indent="0" marL="0">
              <a:buNone/>
            </a:pPr>
            <a:r>
              <a:rPr lang="en-US" sz="1000" dirty="0">
                <a:solidFill>
                  <a:schemeClr val="bg2"/>
                </a:solidFill>
              </a:rPr>
              <a:t>Simulator</a:t>
            </a:r>
            <a:endParaRPr lang="en-US" sz="1000" dirty="0"/>
          </a:p>
        </p:txBody>
      </p:sp>
      <p:sp>
        <p:nvSpPr>
          <p:cNvPr id="52" name="row rule 7"/>
          <p:cNvSpPr/>
          <p:nvPr/>
        </p:nvSpPr>
        <p:spPr>
          <a:xfrm>
            <a:off x="548640" y="5065776"/>
            <a:ext cx="6537960" cy="0"/>
          </a:xfrm>
          <a:prstGeom prst="line">
            <a:avLst/>
          </a:prstGeom>
          <a:noFill/>
          <a:ln w="6350">
            <a:solidFill>
              <a:srgbClr val="111A20"/>
            </a:solidFill>
            <a:prstDash val="solid"/>
          </a:ln>
        </p:spPr>
      </p:sp>
      <p:sp>
        <p:nvSpPr>
          <p:cNvPr id="53" name="Simulator 2"/>
          <p:cNvSpPr/>
          <p:nvPr/>
        </p:nvSpPr>
        <p:spPr>
          <a:xfrm>
            <a:off x="4754880" y="4782312"/>
            <a:ext cx="312725" cy="201168"/>
          </a:xfrm>
          <a:prstGeom prst="roundRect">
            <a:avLst>
              <a:gd name="adj" fmla="val 18182"/>
            </a:avLst>
          </a:prstGeom>
          <a:solidFill>
            <a:srgbClr val="C3CACD">
              <a:alpha val="48000"/>
            </a:srgbClr>
          </a:solidFill>
          <a:ln w="6350">
            <a:solidFill>
              <a:srgbClr val="C3CACD"/>
            </a:solidFill>
            <a:prstDash val="solid"/>
          </a:ln>
        </p:spPr>
      </p:sp>
      <p:sp>
        <p:nvSpPr>
          <p:cNvPr id="54" name="Simulator 3"/>
          <p:cNvSpPr/>
          <p:nvPr/>
        </p:nvSpPr>
        <p:spPr>
          <a:xfrm>
            <a:off x="5943600" y="4782312"/>
            <a:ext cx="729691" cy="201168"/>
          </a:xfrm>
          <a:prstGeom prst="roundRect">
            <a:avLst>
              <a:gd name="adj" fmla="val 18182"/>
            </a:avLst>
          </a:prstGeom>
          <a:solidFill>
            <a:srgbClr val="C3CACD">
              <a:alpha val="72000"/>
            </a:srgbClr>
          </a:solidFill>
          <a:ln w="6350">
            <a:solidFill>
              <a:srgbClr val="C3CACD"/>
            </a:solidFill>
            <a:prstDash val="solid"/>
          </a:ln>
        </p:spPr>
      </p:sp>
      <p:graphicFrame>
        <p:nvGraphicFramePr>
          <p:cNvPr id="55" name="memory by phase" descr=""/>
          <p:cNvGraphicFramePr/>
          <p:nvPr/>
        </p:nvGraphicFramePr>
        <p:xfrm>
          <a:off x="7315200" y="1325880"/>
          <a:ext cx="4297680" cy="3657600"/>
        </p:xfrm>
        <a:graphic xmlns:a="http://schemas.openxmlformats.org/drawingml/2006/main">
          <a:graphicData uri="http://schemas.openxmlformats.org/drawingml/2006/chart">
            <c:chart xmlns:c="http://schemas.openxmlformats.org/drawingml/2006/chart" r:id="rId1"/>
          </a:graphicData>
        </a:graphic>
      </p:graphicFrame>
      <p:sp>
        <p:nvSpPr>
          <p:cNvPr id="56" name="scheduler"/>
          <p:cNvSpPr/>
          <p:nvPr/>
        </p:nvSpPr>
        <p:spPr>
          <a:xfrm>
            <a:off x="548640" y="5138928"/>
            <a:ext cx="5394960" cy="1143000"/>
          </a:xfrm>
          <a:prstGeom prst="roundRect">
            <a:avLst>
              <a:gd name="adj" fmla="val 8000"/>
            </a:avLst>
          </a:prstGeom>
          <a:solidFill>
            <a:schemeClr val="accent6"/>
          </a:solidFill>
          <a:ln w="9525">
            <a:solidFill>
              <a:srgbClr val="F2E6C9"/>
            </a:solidFill>
            <a:prstDash val="solid"/>
          </a:ln>
        </p:spPr>
      </p:sp>
      <p:sp>
        <p:nvSpPr>
          <p:cNvPr id="57" name="Text 54"/>
          <p:cNvSpPr txBox="1"/>
          <p:nvPr/>
        </p:nvSpPr>
        <p:spPr>
          <a:xfrm>
            <a:off x="731520" y="5212080"/>
            <a:ext cx="5074920" cy="1024128"/>
          </a:xfrm>
          <a:prstGeom prst="rect">
            <a:avLst/>
          </a:prstGeom>
          <a:noFill/>
          <a:ln/>
        </p:spPr>
        <p:txBody>
          <a:bodyPr wrap="square" lIns="0" tIns="0" rIns="0" bIns="0" rtlCol="0" anchor="t"/>
          <a:lstStyle/>
          <a:p>
            <a:pPr indent="0" marL="0">
              <a:buNone/>
            </a:pPr>
            <a:r>
              <a:rPr lang="en-US" sz="1050" b="1" dirty="0">
                <a:solidFill>
                  <a:srgbClr val="F2E6C9"/>
                </a:solidFill>
              </a:rPr>
              <a:t>Dynamic scheduler</a:t>
            </a:r>
            <a:endParaRPr lang="en-US" sz="1050" dirty="0"/>
          </a:p>
          <a:p>
            <a:pPr indent="0" marL="0">
              <a:buNone/>
            </a:pPr>
            <a:r>
              <a:rPr lang="en-US" sz="1050" dirty="0">
                <a:solidFill>
                  <a:schemeClr val="bg2"/>
                </a:solidFill>
              </a:rPr>
              <a:t>A priority queue on one card: live perception keeps its 33 ms deadline, the between-point brief preempts batch work, post-match jobs and the nightly research and reflection fill idle time. </a:t>
            </a:r>
            <a:pPr indent="0" marL="0">
              <a:buNone/>
            </a:pPr>
            <a:r>
              <a:rPr lang="en-US" sz="1050" b="1" dirty="0">
                <a:solidFill>
                  <a:srgbClr val="EEF1F2"/>
                </a:solidFill>
              </a:rPr>
              <a:t>Today, on our test GPU, one 4B model serves every agent: coach chat, the round table, booking with its browser, research and reflection.</a:t>
            </a:r>
            <a:endParaRPr lang="en-US" sz="1050" dirty="0"/>
          </a:p>
        </p:txBody>
      </p:sp>
      <p:sp>
        <p:nvSpPr>
          <p:cNvPr id="58" name="4B model"/>
          <p:cNvSpPr/>
          <p:nvPr/>
        </p:nvSpPr>
        <p:spPr>
          <a:xfrm>
            <a:off x="6126480" y="5138928"/>
            <a:ext cx="5486400" cy="1143000"/>
          </a:xfrm>
          <a:prstGeom prst="roundRect">
            <a:avLst>
              <a:gd name="adj" fmla="val 8000"/>
            </a:avLst>
          </a:prstGeom>
          <a:solidFill>
            <a:srgbClr val="0D2A1D"/>
          </a:solidFill>
          <a:ln w="9525">
            <a:solidFill>
              <a:srgbClr val="5FD39A"/>
            </a:solidFill>
            <a:prstDash val="solid"/>
          </a:ln>
        </p:spPr>
      </p:sp>
      <p:sp>
        <p:nvSpPr>
          <p:cNvPr id="59" name="Text 56"/>
          <p:cNvSpPr txBox="1"/>
          <p:nvPr/>
        </p:nvSpPr>
        <p:spPr>
          <a:xfrm>
            <a:off x="6309360" y="5212080"/>
            <a:ext cx="5166360" cy="1024128"/>
          </a:xfrm>
          <a:prstGeom prst="rect">
            <a:avLst/>
          </a:prstGeom>
          <a:noFill/>
          <a:ln/>
        </p:spPr>
        <p:txBody>
          <a:bodyPr wrap="square" lIns="0" tIns="0" rIns="0" bIns="0" rtlCol="0" anchor="t"/>
          <a:lstStyle/>
          <a:p>
            <a:pPr indent="0" marL="0">
              <a:buNone/>
            </a:pPr>
            <a:r>
              <a:rPr lang="en-US" sz="1050" b="1" dirty="0">
                <a:solidFill>
                  <a:srgbClr val="5FD39A"/>
                </a:solidFill>
              </a:rPr>
              <a:t>4B model for the fast path</a:t>
            </a:r>
            <a:endParaRPr lang="en-US" sz="1050" dirty="0"/>
          </a:p>
          <a:p>
            <a:pPr indent="0" marL="0">
              <a:buNone/>
            </a:pPr>
            <a:r>
              <a:rPr lang="en-US" sz="1050" dirty="0">
                <a:solidFill>
                  <a:schemeClr val="bg2"/>
                </a:solidFill>
              </a:rPr>
              <a:t>Qwen3-4B, Phi-4-mini or Gemma-3-4B on OpenVINO, INT4 ≈ 2.5 GB; at 608 GB/s the decode ceiling is about 240 tokens/s. Running today on our test GPU: Qwen3-4B (4-bit) answers the coach chat in 0.8 s median at about 160 tokens/s. B70 figures in Stage II.</a:t>
            </a:r>
            <a:endParaRPr lang="en-US" sz="105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4 · EXPECTED BENEFITS AND OUTCOMES</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111A20"/>
          </a:solidFill>
          <a:ln w="12700">
            <a:solidFill>
              <a:srgbClr val="111A20"/>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F2E6C9"/>
          </a:solidFill>
          <a:ln w="12700">
            <a:solidFill>
              <a:srgbClr val="F2E6C9"/>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Expected benefits and outcomes</a:t>
            </a:r>
            <a:endParaRPr lang="en-US" sz="3000" dirty="0"/>
          </a:p>
        </p:txBody>
      </p:sp>
      <p:sp>
        <p:nvSpPr>
          <p:cNvPr id="14" name="benefit 0"/>
          <p:cNvSpPr/>
          <p:nvPr/>
        </p:nvSpPr>
        <p:spPr>
          <a:xfrm>
            <a:off x="548640" y="1554480"/>
            <a:ext cx="2651760" cy="2606040"/>
          </a:xfrm>
          <a:prstGeom prst="roundRect">
            <a:avLst>
              <a:gd name="adj" fmla="val 3509"/>
            </a:avLst>
          </a:prstGeom>
          <a:solidFill>
            <a:schemeClr val="tx2"/>
          </a:solidFill>
          <a:ln w="9525">
            <a:solidFill>
              <a:srgbClr val="111A20"/>
            </a:solidFill>
            <a:prstDash val="solid"/>
          </a:ln>
        </p:spPr>
      </p:sp>
      <p:sp>
        <p:nvSpPr>
          <p:cNvPr id="15" name="Text 13"/>
          <p:cNvSpPr txBox="1"/>
          <p:nvPr/>
        </p:nvSpPr>
        <p:spPr>
          <a:xfrm>
            <a:off x="777240" y="1755648"/>
            <a:ext cx="2240280" cy="411480"/>
          </a:xfrm>
          <a:prstGeom prst="rect">
            <a:avLst/>
          </a:prstGeom>
          <a:noFill/>
          <a:ln/>
        </p:spPr>
        <p:txBody>
          <a:bodyPr wrap="square" lIns="0" tIns="0" rIns="0" bIns="0" rtlCol="0" anchor="t"/>
          <a:lstStyle/>
          <a:p>
            <a:pPr indent="0" marL="0">
              <a:buNone/>
            </a:pPr>
            <a:r>
              <a:rPr lang="en-US" sz="1800" b="1" dirty="0">
                <a:solidFill>
                  <a:schemeClr val="accent1"/>
                </a:solidFill>
              </a:rPr>
              <a:t>Players</a:t>
            </a:r>
            <a:endParaRPr lang="en-US" sz="1800" dirty="0"/>
          </a:p>
        </p:txBody>
      </p:sp>
      <p:sp>
        <p:nvSpPr>
          <p:cNvPr id="16" name="Text 14"/>
          <p:cNvSpPr txBox="1"/>
          <p:nvPr/>
        </p:nvSpPr>
        <p:spPr>
          <a:xfrm>
            <a:off x="777240" y="2240280"/>
            <a:ext cx="2286000" cy="18288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bg2"/>
                </a:solidFill>
              </a:rPr>
              <a:t>Where points are won and lost, by zone and stroke</a:t>
            </a:r>
            <a:endParaRPr lang="en-US" sz="1250" dirty="0"/>
          </a:p>
          <a:p>
            <a:pPr marL="342900" indent="-342900">
              <a:spcAft>
                <a:spcPts val="400"/>
              </a:spcAft>
              <a:buSzPct val="100000"/>
              <a:buChar char="•"/>
            </a:pPr>
            <a:r>
              <a:rPr lang="en-US" sz="1250" dirty="0">
                <a:solidFill>
                  <a:schemeClr val="bg2"/>
                </a:solidFill>
              </a:rPr>
              <a:t>A weekly plan tied to their own footage</a:t>
            </a:r>
            <a:endParaRPr lang="en-US" sz="1250" dirty="0"/>
          </a:p>
          <a:p>
            <a:pPr marL="342900" indent="-342900">
              <a:spcAft>
                <a:spcPts val="400"/>
              </a:spcAft>
              <a:buSzPct val="100000"/>
              <a:buChar char="•"/>
            </a:pPr>
            <a:r>
              <a:rPr lang="en-US" sz="1250" dirty="0">
                <a:solidFill>
                  <a:schemeClr val="bg2"/>
                </a:solidFill>
              </a:rPr>
              <a:t>Measurable progress per session</a:t>
            </a:r>
            <a:endParaRPr lang="en-US" sz="1250" dirty="0"/>
          </a:p>
        </p:txBody>
      </p:sp>
      <p:sp>
        <p:nvSpPr>
          <p:cNvPr id="17" name="benefit 1"/>
          <p:cNvSpPr/>
          <p:nvPr/>
        </p:nvSpPr>
        <p:spPr>
          <a:xfrm>
            <a:off x="3355848" y="1554480"/>
            <a:ext cx="2651760" cy="2606040"/>
          </a:xfrm>
          <a:prstGeom prst="roundRect">
            <a:avLst>
              <a:gd name="adj" fmla="val 3509"/>
            </a:avLst>
          </a:prstGeom>
          <a:solidFill>
            <a:schemeClr val="tx2"/>
          </a:solidFill>
          <a:ln w="9525">
            <a:solidFill>
              <a:srgbClr val="111A20"/>
            </a:solidFill>
            <a:prstDash val="solid"/>
          </a:ln>
        </p:spPr>
      </p:sp>
      <p:sp>
        <p:nvSpPr>
          <p:cNvPr id="18" name="Text 16"/>
          <p:cNvSpPr txBox="1"/>
          <p:nvPr/>
        </p:nvSpPr>
        <p:spPr>
          <a:xfrm>
            <a:off x="3584448" y="1755648"/>
            <a:ext cx="2240280" cy="411480"/>
          </a:xfrm>
          <a:prstGeom prst="rect">
            <a:avLst/>
          </a:prstGeom>
          <a:noFill/>
          <a:ln/>
        </p:spPr>
        <p:txBody>
          <a:bodyPr wrap="square" lIns="0" tIns="0" rIns="0" bIns="0" rtlCol="0" anchor="t"/>
          <a:lstStyle/>
          <a:p>
            <a:pPr indent="0" marL="0">
              <a:buNone/>
            </a:pPr>
            <a:r>
              <a:rPr lang="en-US" sz="1800" b="1" dirty="0">
                <a:solidFill>
                  <a:schemeClr val="accent1"/>
                </a:solidFill>
              </a:rPr>
              <a:t>Coaches</a:t>
            </a:r>
            <a:endParaRPr lang="en-US" sz="1800" dirty="0"/>
          </a:p>
        </p:txBody>
      </p:sp>
      <p:sp>
        <p:nvSpPr>
          <p:cNvPr id="19" name="Text 17"/>
          <p:cNvSpPr txBox="1"/>
          <p:nvPr/>
        </p:nvSpPr>
        <p:spPr>
          <a:xfrm>
            <a:off x="3584448" y="2240280"/>
            <a:ext cx="2286000" cy="18288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bg2"/>
                </a:solidFill>
              </a:rPr>
              <a:t>Hours of video review cut to minutes</a:t>
            </a:r>
            <a:endParaRPr lang="en-US" sz="1250" dirty="0"/>
          </a:p>
          <a:p>
            <a:pPr marL="342900" indent="-342900">
              <a:spcAft>
                <a:spcPts val="400"/>
              </a:spcAft>
              <a:buSzPct val="100000"/>
              <a:buChar char="•"/>
            </a:pPr>
            <a:r>
              <a:rPr lang="en-US" sz="1250" dirty="0">
                <a:solidFill>
                  <a:schemeClr val="bg2"/>
                </a:solidFill>
              </a:rPr>
              <a:t>Advice backed by cited shots</a:t>
            </a:r>
            <a:endParaRPr lang="en-US" sz="1250" dirty="0"/>
          </a:p>
          <a:p>
            <a:pPr marL="342900" indent="-342900">
              <a:spcAft>
                <a:spcPts val="400"/>
              </a:spcAft>
              <a:buSzPct val="100000"/>
              <a:buChar char="•"/>
            </a:pPr>
            <a:r>
              <a:rPr lang="en-US" sz="1250" dirty="0">
                <a:solidFill>
                  <a:schemeClr val="bg2"/>
                </a:solidFill>
              </a:rPr>
              <a:t>Test tactics in simulation first</a:t>
            </a:r>
            <a:endParaRPr lang="en-US" sz="1250" dirty="0"/>
          </a:p>
        </p:txBody>
      </p:sp>
      <p:sp>
        <p:nvSpPr>
          <p:cNvPr id="20" name="benefit 2"/>
          <p:cNvSpPr/>
          <p:nvPr/>
        </p:nvSpPr>
        <p:spPr>
          <a:xfrm>
            <a:off x="6163056" y="1554480"/>
            <a:ext cx="2651760" cy="2606040"/>
          </a:xfrm>
          <a:prstGeom prst="roundRect">
            <a:avLst>
              <a:gd name="adj" fmla="val 3509"/>
            </a:avLst>
          </a:prstGeom>
          <a:solidFill>
            <a:schemeClr val="tx2"/>
          </a:solidFill>
          <a:ln w="9525">
            <a:solidFill>
              <a:srgbClr val="111A20"/>
            </a:solidFill>
            <a:prstDash val="solid"/>
          </a:ln>
        </p:spPr>
      </p:sp>
      <p:sp>
        <p:nvSpPr>
          <p:cNvPr id="21" name="Text 19"/>
          <p:cNvSpPr txBox="1"/>
          <p:nvPr/>
        </p:nvSpPr>
        <p:spPr>
          <a:xfrm>
            <a:off x="6391656" y="1755648"/>
            <a:ext cx="2240280" cy="411480"/>
          </a:xfrm>
          <a:prstGeom prst="rect">
            <a:avLst/>
          </a:prstGeom>
          <a:noFill/>
          <a:ln/>
        </p:spPr>
        <p:txBody>
          <a:bodyPr wrap="square" lIns="0" tIns="0" rIns="0" bIns="0" rtlCol="0" anchor="t"/>
          <a:lstStyle/>
          <a:p>
            <a:pPr indent="0" marL="0">
              <a:buNone/>
            </a:pPr>
            <a:r>
              <a:rPr lang="en-US" sz="1800" b="1" dirty="0">
                <a:solidFill>
                  <a:schemeClr val="accent1"/>
                </a:solidFill>
              </a:rPr>
              <a:t>Clubs and schools</a:t>
            </a:r>
            <a:endParaRPr lang="en-US" sz="1800" dirty="0"/>
          </a:p>
        </p:txBody>
      </p:sp>
      <p:sp>
        <p:nvSpPr>
          <p:cNvPr id="22" name="Text 20"/>
          <p:cNvSpPr txBox="1"/>
          <p:nvPr/>
        </p:nvSpPr>
        <p:spPr>
          <a:xfrm>
            <a:off x="6391656" y="2240280"/>
            <a:ext cx="2286000" cy="18288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bg2"/>
                </a:solidFill>
              </a:rPr>
              <a:t>Analytics on every court, minors' video stays local</a:t>
            </a:r>
            <a:endParaRPr lang="en-US" sz="1250" dirty="0"/>
          </a:p>
          <a:p>
            <a:pPr marL="342900" indent="-342900">
              <a:spcAft>
                <a:spcPts val="400"/>
              </a:spcAft>
              <a:buSzPct val="100000"/>
              <a:buChar char="•"/>
            </a:pPr>
            <a:r>
              <a:rPr lang="en-US" sz="1250" dirty="0">
                <a:solidFill>
                  <a:schemeClr val="bg2"/>
                </a:solidFill>
              </a:rPr>
              <a:t>One station, no per-upload fees</a:t>
            </a:r>
            <a:endParaRPr lang="en-US" sz="1250" dirty="0"/>
          </a:p>
          <a:p>
            <a:pPr marL="342900" indent="-342900">
              <a:spcAft>
                <a:spcPts val="400"/>
              </a:spcAft>
              <a:buSzPct val="100000"/>
              <a:buChar char="•"/>
            </a:pPr>
            <a:r>
              <a:rPr lang="en-US" sz="1250" dirty="0">
                <a:solidFill>
                  <a:schemeClr val="bg2"/>
                </a:solidFill>
              </a:rPr>
              <a:t>A differentiated coaching service</a:t>
            </a:r>
            <a:endParaRPr lang="en-US" sz="1250" dirty="0"/>
          </a:p>
        </p:txBody>
      </p:sp>
      <p:sp>
        <p:nvSpPr>
          <p:cNvPr id="23" name="benefit 3"/>
          <p:cNvSpPr/>
          <p:nvPr/>
        </p:nvSpPr>
        <p:spPr>
          <a:xfrm>
            <a:off x="8970264" y="1554480"/>
            <a:ext cx="2651760" cy="2606040"/>
          </a:xfrm>
          <a:prstGeom prst="roundRect">
            <a:avLst>
              <a:gd name="adj" fmla="val 3509"/>
            </a:avLst>
          </a:prstGeom>
          <a:solidFill>
            <a:schemeClr val="accent6"/>
          </a:solidFill>
          <a:ln w="9525">
            <a:solidFill>
              <a:srgbClr val="F2E6C9"/>
            </a:solidFill>
            <a:prstDash val="solid"/>
          </a:ln>
        </p:spPr>
      </p:sp>
      <p:sp>
        <p:nvSpPr>
          <p:cNvPr id="24" name="Text 22"/>
          <p:cNvSpPr txBox="1"/>
          <p:nvPr/>
        </p:nvSpPr>
        <p:spPr>
          <a:xfrm>
            <a:off x="9198864" y="1755648"/>
            <a:ext cx="2240280" cy="411480"/>
          </a:xfrm>
          <a:prstGeom prst="rect">
            <a:avLst/>
          </a:prstGeom>
          <a:noFill/>
          <a:ln/>
        </p:spPr>
        <p:txBody>
          <a:bodyPr wrap="square" lIns="0" tIns="0" rIns="0" bIns="0" rtlCol="0" anchor="t"/>
          <a:lstStyle/>
          <a:p>
            <a:pPr indent="0" marL="0">
              <a:buNone/>
            </a:pPr>
            <a:r>
              <a:rPr lang="en-US" sz="1800" b="1" dirty="0">
                <a:solidFill>
                  <a:schemeClr val="accent1"/>
                </a:solidFill>
              </a:rPr>
              <a:t>Other sports</a:t>
            </a:r>
            <a:endParaRPr lang="en-US" sz="1800" dirty="0"/>
          </a:p>
        </p:txBody>
      </p:sp>
      <p:sp>
        <p:nvSpPr>
          <p:cNvPr id="25" name="Text 23"/>
          <p:cNvSpPr txBox="1"/>
          <p:nvPr/>
        </p:nvSpPr>
        <p:spPr>
          <a:xfrm>
            <a:off x="9198864" y="2240280"/>
            <a:ext cx="2286000" cy="18288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bg2"/>
                </a:solidFill>
              </a:rPr>
              <a:t>Same pipeline: ball tracking, court calibration, 3D reconstruction, agents</a:t>
            </a:r>
            <a:endParaRPr lang="en-US" sz="1250" dirty="0"/>
          </a:p>
          <a:p>
            <a:pPr marL="342900" indent="-342900">
              <a:spcAft>
                <a:spcPts val="400"/>
              </a:spcAft>
              <a:buSzPct val="100000"/>
              <a:buChar char="•"/>
            </a:pPr>
            <a:r>
              <a:rPr lang="en-US" sz="1250" dirty="0">
                <a:solidFill>
                  <a:schemeClr val="bg2"/>
                </a:solidFill>
              </a:rPr>
              <a:t>Tennis, table tennis, pickleball, volleyball</a:t>
            </a:r>
            <a:endParaRPr lang="en-US" sz="1250" dirty="0"/>
          </a:p>
          <a:p>
            <a:pPr marL="342900" indent="-342900">
              <a:spcAft>
                <a:spcPts val="400"/>
              </a:spcAft>
              <a:buSzPct val="100000"/>
              <a:buChar char="•"/>
            </a:pPr>
            <a:r>
              <a:rPr lang="en-US" sz="1250" dirty="0">
                <a:solidFill>
                  <a:schemeClr val="bg2"/>
                </a:solidFill>
              </a:rPr>
              <a:t>New sport = new tracker + court model</a:t>
            </a:r>
            <a:endParaRPr lang="en-US" sz="1250" dirty="0"/>
          </a:p>
        </p:txBody>
      </p:sp>
      <p:sp>
        <p:nvSpPr>
          <p:cNvPr id="26" name="Text 24"/>
          <p:cNvSpPr txBox="1"/>
          <p:nvPr/>
        </p:nvSpPr>
        <p:spPr>
          <a:xfrm>
            <a:off x="548640" y="4343400"/>
            <a:ext cx="73152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STAGE II DELIVERABLES</a:t>
            </a:r>
            <a:endParaRPr lang="en-US" sz="1100" dirty="0"/>
          </a:p>
        </p:txBody>
      </p:sp>
      <p:sp>
        <p:nvSpPr>
          <p:cNvPr id="27" name="Text 25"/>
          <p:cNvSpPr txBox="1"/>
          <p:nvPr/>
        </p:nvSpPr>
        <p:spPr>
          <a:xfrm>
            <a:off x="548640" y="4709160"/>
            <a:ext cx="2606040" cy="365760"/>
          </a:xfrm>
          <a:prstGeom prst="rect">
            <a:avLst/>
          </a:prstGeom>
          <a:noFill/>
          <a:ln/>
        </p:spPr>
        <p:txBody>
          <a:bodyPr wrap="square" lIns="0" tIns="0" rIns="0" bIns="0" rtlCol="0" anchor="t"/>
          <a:lstStyle/>
          <a:p>
            <a:pPr indent="0" marL="0">
              <a:buNone/>
            </a:pPr>
            <a:r>
              <a:rPr lang="en-US" sz="1500" b="1" dirty="0">
                <a:solidFill>
                  <a:schemeClr val="bg1"/>
                </a:solidFill>
              </a:rPr>
              <a:t>Working system</a:t>
            </a:r>
            <a:endParaRPr lang="en-US" sz="1500" dirty="0"/>
          </a:p>
        </p:txBody>
      </p:sp>
      <p:sp>
        <p:nvSpPr>
          <p:cNvPr id="28" name="Text 26"/>
          <p:cNvSpPr txBox="1"/>
          <p:nvPr/>
        </p:nvSpPr>
        <p:spPr>
          <a:xfrm>
            <a:off x="548640" y="5074920"/>
            <a:ext cx="2606040" cy="1005840"/>
          </a:xfrm>
          <a:prstGeom prst="rect">
            <a:avLst/>
          </a:prstGeom>
          <a:noFill/>
          <a:ln/>
        </p:spPr>
        <p:txBody>
          <a:bodyPr wrap="square" lIns="0" tIns="0" rIns="0" bIns="0" rtlCol="0" anchor="t"/>
          <a:lstStyle/>
          <a:p>
            <a:pPr indent="0" marL="0">
              <a:buNone/>
            </a:pPr>
            <a:r>
              <a:rPr lang="en-US" sz="1200" dirty="0">
                <a:solidFill>
                  <a:schemeClr val="bg2"/>
                </a:solidFill>
              </a:rPr>
              <a:t>Upload a match video on the B70 and get the full report, end to end, offline</a:t>
            </a:r>
            <a:endParaRPr lang="en-US" sz="1200" dirty="0"/>
          </a:p>
        </p:txBody>
      </p:sp>
      <p:sp>
        <p:nvSpPr>
          <p:cNvPr id="29" name="Text 27"/>
          <p:cNvSpPr txBox="1"/>
          <p:nvPr/>
        </p:nvSpPr>
        <p:spPr>
          <a:xfrm>
            <a:off x="3355848" y="4709160"/>
            <a:ext cx="2606040" cy="365760"/>
          </a:xfrm>
          <a:prstGeom prst="rect">
            <a:avLst/>
          </a:prstGeom>
          <a:noFill/>
          <a:ln/>
        </p:spPr>
        <p:txBody>
          <a:bodyPr wrap="square" lIns="0" tIns="0" rIns="0" bIns="0" rtlCol="0" anchor="t"/>
          <a:lstStyle/>
          <a:p>
            <a:pPr indent="0" marL="0">
              <a:buNone/>
            </a:pPr>
            <a:r>
              <a:rPr lang="en-US" sz="1500" b="1" dirty="0">
                <a:solidFill>
                  <a:schemeClr val="bg1"/>
                </a:solidFill>
              </a:rPr>
              <a:t>Open repository</a:t>
            </a:r>
            <a:endParaRPr lang="en-US" sz="1500" dirty="0"/>
          </a:p>
        </p:txBody>
      </p:sp>
      <p:sp>
        <p:nvSpPr>
          <p:cNvPr id="30" name="Text 28"/>
          <p:cNvSpPr txBox="1"/>
          <p:nvPr/>
        </p:nvSpPr>
        <p:spPr>
          <a:xfrm>
            <a:off x="3355848" y="5074920"/>
            <a:ext cx="2606040" cy="1005840"/>
          </a:xfrm>
          <a:prstGeom prst="rect">
            <a:avLst/>
          </a:prstGeom>
          <a:noFill/>
          <a:ln/>
        </p:spPr>
        <p:txBody>
          <a:bodyPr wrap="square" lIns="0" tIns="0" rIns="0" bIns="0" rtlCol="0" anchor="t"/>
          <a:lstStyle/>
          <a:p>
            <a:pPr indent="0" marL="0">
              <a:buNone/>
            </a:pPr>
            <a:r>
              <a:rPr lang="en-US" sz="1200" dirty="0">
                <a:solidFill>
                  <a:schemeClr val="bg2"/>
                </a:solidFill>
              </a:rPr>
              <a:t>Code, system architecture diagram, README, model information and performance data</a:t>
            </a:r>
            <a:endParaRPr lang="en-US" sz="1200" dirty="0"/>
          </a:p>
        </p:txBody>
      </p:sp>
      <p:sp>
        <p:nvSpPr>
          <p:cNvPr id="31" name="Text 29"/>
          <p:cNvSpPr txBox="1"/>
          <p:nvPr/>
        </p:nvSpPr>
        <p:spPr>
          <a:xfrm>
            <a:off x="6163056" y="4709160"/>
            <a:ext cx="2606040" cy="365760"/>
          </a:xfrm>
          <a:prstGeom prst="rect">
            <a:avLst/>
          </a:prstGeom>
          <a:noFill/>
          <a:ln/>
        </p:spPr>
        <p:txBody>
          <a:bodyPr wrap="square" lIns="0" tIns="0" rIns="0" bIns="0" rtlCol="0" anchor="t"/>
          <a:lstStyle/>
          <a:p>
            <a:pPr indent="0" marL="0">
              <a:buNone/>
            </a:pPr>
            <a:r>
              <a:rPr lang="en-US" sz="1500" b="1" dirty="0">
                <a:solidFill>
                  <a:schemeClr val="bg1"/>
                </a:solidFill>
              </a:rPr>
              <a:t>Performance report</a:t>
            </a:r>
            <a:endParaRPr lang="en-US" sz="1500" dirty="0"/>
          </a:p>
        </p:txBody>
      </p:sp>
      <p:sp>
        <p:nvSpPr>
          <p:cNvPr id="32" name="Text 30"/>
          <p:cNvSpPr txBox="1"/>
          <p:nvPr/>
        </p:nvSpPr>
        <p:spPr>
          <a:xfrm>
            <a:off x="6163056" y="5074920"/>
            <a:ext cx="2606040" cy="1005840"/>
          </a:xfrm>
          <a:prstGeom prst="rect">
            <a:avLst/>
          </a:prstGeom>
          <a:noFill/>
          <a:ln/>
        </p:spPr>
        <p:txBody>
          <a:bodyPr wrap="square" lIns="0" tIns="0" rIns="0" bIns="0" rtlCol="0" anchor="t"/>
          <a:lstStyle/>
          <a:p>
            <a:pPr indent="0" marL="0">
              <a:buNone/>
            </a:pPr>
            <a:r>
              <a:rPr lang="en-US" sz="1200" dirty="0">
                <a:solidFill>
                  <a:schemeClr val="bg2"/>
                </a:solidFill>
              </a:rPr>
              <a:t>Speed, accuracy and latency measured on the B70; 3D error against reference data</a:t>
            </a:r>
            <a:endParaRPr lang="en-US" sz="1200" dirty="0"/>
          </a:p>
        </p:txBody>
      </p:sp>
      <p:sp>
        <p:nvSpPr>
          <p:cNvPr id="33" name="Text 31"/>
          <p:cNvSpPr txBox="1"/>
          <p:nvPr/>
        </p:nvSpPr>
        <p:spPr>
          <a:xfrm>
            <a:off x="8970264" y="4709160"/>
            <a:ext cx="2606040" cy="365760"/>
          </a:xfrm>
          <a:prstGeom prst="rect">
            <a:avLst/>
          </a:prstGeom>
          <a:noFill/>
          <a:ln/>
        </p:spPr>
        <p:txBody>
          <a:bodyPr wrap="square" lIns="0" tIns="0" rIns="0" bIns="0" rtlCol="0" anchor="t"/>
          <a:lstStyle/>
          <a:p>
            <a:pPr indent="0" marL="0">
              <a:buNone/>
            </a:pPr>
            <a:r>
              <a:rPr lang="en-US" sz="1500" b="1" dirty="0">
                <a:solidFill>
                  <a:schemeClr val="bg1"/>
                </a:solidFill>
              </a:rPr>
              <a:t>Demo video</a:t>
            </a:r>
            <a:endParaRPr lang="en-US" sz="1500" dirty="0"/>
          </a:p>
        </p:txBody>
      </p:sp>
      <p:sp>
        <p:nvSpPr>
          <p:cNvPr id="34" name="Text 32"/>
          <p:cNvSpPr txBox="1"/>
          <p:nvPr/>
        </p:nvSpPr>
        <p:spPr>
          <a:xfrm>
            <a:off x="8970264" y="5074920"/>
            <a:ext cx="2606040" cy="1005840"/>
          </a:xfrm>
          <a:prstGeom prst="rect">
            <a:avLst/>
          </a:prstGeom>
          <a:noFill/>
          <a:ln/>
        </p:spPr>
        <p:txBody>
          <a:bodyPr wrap="square" lIns="0" tIns="0" rIns="0" bIns="0" rtlCol="0" anchor="t"/>
          <a:lstStyle/>
          <a:p>
            <a:pPr indent="0" marL="0">
              <a:buNone/>
            </a:pPr>
            <a:r>
              <a:rPr lang="en-US" sz="1200" dirty="0">
                <a:solidFill>
                  <a:schemeClr val="bg2"/>
                </a:solidFill>
              </a:rPr>
              <a:t>Real operation on the provided environment, 10 minutes, in English</a:t>
            </a:r>
            <a:endParaRPr lang="en-US" sz="12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4 · EXPECTED BENEFITS AND OUTCOMES</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111A20"/>
          </a:solidFill>
          <a:ln w="12700">
            <a:solidFill>
              <a:srgbClr val="111A20"/>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F2E6C9"/>
          </a:solidFill>
          <a:ln w="12700">
            <a:solidFill>
              <a:srgbClr val="F2E6C9"/>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111A20"/>
          </a:solidFill>
          <a:ln w="12700">
            <a:solidFill>
              <a:srgbClr val="111A20"/>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Who pays, what it costs, and when it pays back</a:t>
            </a:r>
            <a:endParaRPr lang="en-US" sz="3000" dirty="0"/>
          </a:p>
        </p:txBody>
      </p:sp>
      <p:sp>
        <p:nvSpPr>
          <p:cNvPr id="14" name="model 0"/>
          <p:cNvSpPr/>
          <p:nvPr/>
        </p:nvSpPr>
        <p:spPr>
          <a:xfrm>
            <a:off x="548640" y="2084832"/>
            <a:ext cx="4069080" cy="1280160"/>
          </a:xfrm>
          <a:prstGeom prst="roundRect">
            <a:avLst>
              <a:gd name="adj" fmla="val 7143"/>
            </a:avLst>
          </a:prstGeom>
          <a:solidFill>
            <a:schemeClr val="accent6"/>
          </a:solidFill>
          <a:ln w="9525">
            <a:solidFill>
              <a:srgbClr val="F2E6C9"/>
            </a:solidFill>
            <a:prstDash val="solid"/>
          </a:ln>
        </p:spPr>
      </p:sp>
      <p:pic>
        <p:nvPicPr>
          <p:cNvPr id="15" name="segment icon 0" descr="preencoded.png">    </p:cNvPr>
          <p:cNvPicPr>
            <a:picLocks noChangeAspect="1"/>
          </p:cNvPicPr>
          <p:nvPr/>
        </p:nvPicPr>
        <p:blipFill>
          <a:blip r:embed="rId1"/>
          <a:stretch>
            <a:fillRect/>
          </a:stretch>
        </p:blipFill>
        <p:spPr>
          <a:xfrm>
            <a:off x="731520" y="2240280"/>
            <a:ext cx="329184" cy="329184"/>
          </a:xfrm>
          <a:prstGeom prst="rect">
            <a:avLst/>
          </a:prstGeom>
        </p:spPr>
      </p:pic>
      <p:sp>
        <p:nvSpPr>
          <p:cNvPr id="16" name="Text 13"/>
          <p:cNvSpPr txBox="1"/>
          <p:nvPr/>
        </p:nvSpPr>
        <p:spPr>
          <a:xfrm>
            <a:off x="1188720" y="2212848"/>
            <a:ext cx="3291840" cy="347472"/>
          </a:xfrm>
          <a:prstGeom prst="rect">
            <a:avLst/>
          </a:prstGeom>
          <a:noFill/>
          <a:ln/>
        </p:spPr>
        <p:txBody>
          <a:bodyPr wrap="square" lIns="0" tIns="0" rIns="0" bIns="0" rtlCol="0" anchor="t"/>
          <a:lstStyle/>
          <a:p>
            <a:pPr indent="0" marL="0">
              <a:buNone/>
            </a:pPr>
            <a:r>
              <a:rPr lang="en-US" sz="1500" b="1" dirty="0">
                <a:solidFill>
                  <a:schemeClr val="accent1"/>
                </a:solidFill>
              </a:rPr>
              <a:t>B2B: club and venue</a:t>
            </a:r>
            <a:endParaRPr lang="en-US" sz="1500" dirty="0"/>
          </a:p>
        </p:txBody>
      </p:sp>
      <p:sp>
        <p:nvSpPr>
          <p:cNvPr id="17" name="Text 14"/>
          <p:cNvSpPr txBox="1"/>
          <p:nvPr/>
        </p:nvSpPr>
        <p:spPr>
          <a:xfrm>
            <a:off x="731520" y="2560320"/>
            <a:ext cx="3749040" cy="777240"/>
          </a:xfrm>
          <a:prstGeom prst="rect">
            <a:avLst/>
          </a:prstGeom>
          <a:noFill/>
          <a:ln/>
        </p:spPr>
        <p:txBody>
          <a:bodyPr wrap="square" lIns="0" tIns="0" rIns="0" bIns="0" rtlCol="0" anchor="t"/>
          <a:lstStyle/>
          <a:p>
            <a:pPr indent="0" marL="0">
              <a:buNone/>
            </a:pPr>
            <a:r>
              <a:rPr lang="en-US" sz="1050" dirty="0">
                <a:solidFill>
                  <a:schemeClr val="bg2"/>
                </a:solidFill>
              </a:rPr>
              <a:t>One Station shared by every member. 60 members on a NT$300/month “Pro analysis” add-on bring NT$18k a month against NT$7.5k a month of Station cost: hardware paid back in about 12 months, and a reason to join the club.</a:t>
            </a:r>
            <a:endParaRPr lang="en-US" sz="1050" dirty="0"/>
          </a:p>
        </p:txBody>
      </p:sp>
      <p:sp>
        <p:nvSpPr>
          <p:cNvPr id="18" name="model 1"/>
          <p:cNvSpPr/>
          <p:nvPr/>
        </p:nvSpPr>
        <p:spPr>
          <a:xfrm>
            <a:off x="548640" y="3456432"/>
            <a:ext cx="4069080" cy="1280160"/>
          </a:xfrm>
          <a:prstGeom prst="roundRect">
            <a:avLst>
              <a:gd name="adj" fmla="val 7143"/>
            </a:avLst>
          </a:prstGeom>
          <a:solidFill>
            <a:schemeClr val="tx2"/>
          </a:solidFill>
          <a:ln w="9525">
            <a:solidFill>
              <a:srgbClr val="111A20"/>
            </a:solidFill>
            <a:prstDash val="solid"/>
          </a:ln>
        </p:spPr>
      </p:sp>
      <p:pic>
        <p:nvPicPr>
          <p:cNvPr id="19" name="segment icon 1" descr="preencoded.png">    </p:cNvPr>
          <p:cNvPicPr>
            <a:picLocks noChangeAspect="1"/>
          </p:cNvPicPr>
          <p:nvPr/>
        </p:nvPicPr>
        <p:blipFill>
          <a:blip r:embed="rId2"/>
          <a:stretch>
            <a:fillRect/>
          </a:stretch>
        </p:blipFill>
        <p:spPr>
          <a:xfrm>
            <a:off x="731520" y="3611880"/>
            <a:ext cx="329184" cy="329184"/>
          </a:xfrm>
          <a:prstGeom prst="rect">
            <a:avLst/>
          </a:prstGeom>
        </p:spPr>
      </p:pic>
      <p:sp>
        <p:nvSpPr>
          <p:cNvPr id="20" name="Text 16"/>
          <p:cNvSpPr txBox="1"/>
          <p:nvPr/>
        </p:nvSpPr>
        <p:spPr>
          <a:xfrm>
            <a:off x="1188720" y="3584448"/>
            <a:ext cx="3291840" cy="347472"/>
          </a:xfrm>
          <a:prstGeom prst="rect">
            <a:avLst/>
          </a:prstGeom>
          <a:noFill/>
          <a:ln/>
        </p:spPr>
        <p:txBody>
          <a:bodyPr wrap="square" lIns="0" tIns="0" rIns="0" bIns="0" rtlCol="0" anchor="t"/>
          <a:lstStyle/>
          <a:p>
            <a:pPr indent="0" marL="0">
              <a:buNone/>
            </a:pPr>
            <a:r>
              <a:rPr lang="en-US" sz="1500" b="1" dirty="0">
                <a:solidFill>
                  <a:schemeClr val="bg1"/>
                </a:solidFill>
              </a:rPr>
              <a:t>B2B2C: player subscription</a:t>
            </a:r>
            <a:endParaRPr lang="en-US" sz="1500" dirty="0"/>
          </a:p>
        </p:txBody>
      </p:sp>
      <p:sp>
        <p:nvSpPr>
          <p:cNvPr id="21" name="Text 17"/>
          <p:cNvSpPr txBox="1"/>
          <p:nvPr/>
        </p:nvSpPr>
        <p:spPr>
          <a:xfrm>
            <a:off x="731520" y="3931920"/>
            <a:ext cx="3749040" cy="777240"/>
          </a:xfrm>
          <a:prstGeom prst="rect">
            <a:avLst/>
          </a:prstGeom>
          <a:noFill/>
          <a:ln/>
        </p:spPr>
        <p:txBody>
          <a:bodyPr wrap="square" lIns="0" tIns="0" rIns="0" bIns="0" rtlCol="0" anchor="t"/>
          <a:lstStyle/>
          <a:p>
            <a:pPr indent="0" marL="0">
              <a:buNone/>
            </a:pPr>
            <a:r>
              <a:rPr lang="en-US" sz="1050" dirty="0">
                <a:solidFill>
                  <a:schemeClr val="bg2"/>
                </a:solidFill>
              </a:rPr>
              <a:t>NT$199/month through the club's Station: highlight reels, round-table plans, season tracking. Revenue split 70% club, 30% ShuttleCoach.</a:t>
            </a:r>
            <a:endParaRPr lang="en-US" sz="1050" dirty="0"/>
          </a:p>
        </p:txBody>
      </p:sp>
      <p:sp>
        <p:nvSpPr>
          <p:cNvPr id="22" name="model 2"/>
          <p:cNvSpPr/>
          <p:nvPr/>
        </p:nvSpPr>
        <p:spPr>
          <a:xfrm>
            <a:off x="548640" y="4828032"/>
            <a:ext cx="4069080" cy="1280160"/>
          </a:xfrm>
          <a:prstGeom prst="roundRect">
            <a:avLst>
              <a:gd name="adj" fmla="val 7143"/>
            </a:avLst>
          </a:prstGeom>
          <a:solidFill>
            <a:schemeClr val="tx2"/>
          </a:solidFill>
          <a:ln w="9525">
            <a:solidFill>
              <a:srgbClr val="111A20"/>
            </a:solidFill>
            <a:prstDash val="solid"/>
          </a:ln>
        </p:spPr>
      </p:sp>
      <p:pic>
        <p:nvPicPr>
          <p:cNvPr id="23" name="segment icon 2" descr="preencoded.png">    </p:cNvPr>
          <p:cNvPicPr>
            <a:picLocks noChangeAspect="1"/>
          </p:cNvPicPr>
          <p:nvPr/>
        </p:nvPicPr>
        <p:blipFill>
          <a:blip r:embed="rId3"/>
          <a:stretch>
            <a:fillRect/>
          </a:stretch>
        </p:blipFill>
        <p:spPr>
          <a:xfrm>
            <a:off x="731520" y="4983480"/>
            <a:ext cx="329184" cy="329184"/>
          </a:xfrm>
          <a:prstGeom prst="rect">
            <a:avLst/>
          </a:prstGeom>
        </p:spPr>
      </p:pic>
      <p:sp>
        <p:nvSpPr>
          <p:cNvPr id="24" name="Text 19"/>
          <p:cNvSpPr txBox="1"/>
          <p:nvPr/>
        </p:nvSpPr>
        <p:spPr>
          <a:xfrm>
            <a:off x="1188720" y="4956048"/>
            <a:ext cx="3291840" cy="347472"/>
          </a:xfrm>
          <a:prstGeom prst="rect">
            <a:avLst/>
          </a:prstGeom>
          <a:noFill/>
          <a:ln/>
        </p:spPr>
        <p:txBody>
          <a:bodyPr wrap="square" lIns="0" tIns="0" rIns="0" bIns="0" rtlCol="0" anchor="t"/>
          <a:lstStyle/>
          <a:p>
            <a:pPr indent="0" marL="0">
              <a:buNone/>
            </a:pPr>
            <a:r>
              <a:rPr lang="en-US" sz="1500" b="1" dirty="0">
                <a:solidFill>
                  <a:schemeClr val="bg1"/>
                </a:solidFill>
              </a:rPr>
              <a:t>Schools and university teams</a:t>
            </a:r>
            <a:endParaRPr lang="en-US" sz="1500" dirty="0"/>
          </a:p>
        </p:txBody>
      </p:sp>
      <p:sp>
        <p:nvSpPr>
          <p:cNvPr id="25" name="Text 20"/>
          <p:cNvSpPr txBox="1"/>
          <p:nvPr/>
        </p:nvSpPr>
        <p:spPr>
          <a:xfrm>
            <a:off x="731520" y="5303520"/>
            <a:ext cx="3749040" cy="777240"/>
          </a:xfrm>
          <a:prstGeom prst="rect">
            <a:avLst/>
          </a:prstGeom>
          <a:noFill/>
          <a:ln/>
        </p:spPr>
        <p:txBody>
          <a:bodyPr wrap="square" lIns="0" tIns="0" rIns="0" bIns="0" rtlCol="0" anchor="t"/>
          <a:lstStyle/>
          <a:p>
            <a:pPr indent="0" marL="0">
              <a:buNone/>
            </a:pPr>
            <a:r>
              <a:rPr lang="en-US" sz="1050" dirty="0">
                <a:solidFill>
                  <a:schemeClr val="bg2"/>
                </a:solidFill>
              </a:rPr>
              <a:t>Same Station, no minors' video in the cloud; pilot with a university team and a local academy.</a:t>
            </a:r>
            <a:endParaRPr lang="en-US" sz="1050" dirty="0"/>
          </a:p>
        </p:txBody>
      </p:sp>
      <p:sp>
        <p:nvSpPr>
          <p:cNvPr id="26" name="market TAM"/>
          <p:cNvSpPr/>
          <p:nvPr/>
        </p:nvSpPr>
        <p:spPr>
          <a:xfrm>
            <a:off x="548640" y="1298448"/>
            <a:ext cx="3611880" cy="685800"/>
          </a:xfrm>
          <a:prstGeom prst="roundRect">
            <a:avLst>
              <a:gd name="adj" fmla="val 13333"/>
            </a:avLst>
          </a:prstGeom>
          <a:solidFill>
            <a:schemeClr val="accent6"/>
          </a:solidFill>
          <a:ln w="9525">
            <a:solidFill>
              <a:srgbClr val="111A20"/>
            </a:solidFill>
            <a:prstDash val="solid"/>
          </a:ln>
        </p:spPr>
      </p:sp>
      <p:sp>
        <p:nvSpPr>
          <p:cNvPr id="27" name="Text 22"/>
          <p:cNvSpPr txBox="1"/>
          <p:nvPr/>
        </p:nvSpPr>
        <p:spPr>
          <a:xfrm>
            <a:off x="685800" y="1344168"/>
            <a:ext cx="548640" cy="274320"/>
          </a:xfrm>
          <a:prstGeom prst="rect">
            <a:avLst/>
          </a:prstGeom>
          <a:noFill/>
          <a:ln/>
        </p:spPr>
        <p:txBody>
          <a:bodyPr wrap="square" lIns="0" tIns="0" rIns="0" bIns="0" rtlCol="0" anchor="t"/>
          <a:lstStyle/>
          <a:p>
            <a:pPr indent="0" marL="0">
              <a:buNone/>
            </a:pPr>
            <a:r>
              <a:rPr lang="en-US" sz="1000" b="1" dirty="0">
                <a:solidFill>
                  <a:schemeClr val="accent1"/>
                </a:solidFill>
                <a:latin typeface="Consolas" pitchFamily="34" charset="0"/>
                <a:ea typeface="Consolas" pitchFamily="34" charset="-122"/>
                <a:cs typeface="Consolas" pitchFamily="34" charset="-120"/>
              </a:rPr>
              <a:t>TAM</a:t>
            </a:r>
            <a:endParaRPr lang="en-US" sz="1000" dirty="0"/>
          </a:p>
        </p:txBody>
      </p:sp>
      <p:sp>
        <p:nvSpPr>
          <p:cNvPr id="28" name="Text 23"/>
          <p:cNvSpPr txBox="1"/>
          <p:nvPr/>
        </p:nvSpPr>
        <p:spPr>
          <a:xfrm>
            <a:off x="685800" y="1572768"/>
            <a:ext cx="1188720" cy="365760"/>
          </a:xfrm>
          <a:prstGeom prst="rect">
            <a:avLst/>
          </a:prstGeom>
          <a:noFill/>
          <a:ln/>
        </p:spPr>
        <p:txBody>
          <a:bodyPr wrap="square" lIns="0" tIns="0" rIns="0" bIns="0" rtlCol="0" anchor="t"/>
          <a:lstStyle/>
          <a:p>
            <a:pPr indent="0" marL="0">
              <a:buNone/>
            </a:pPr>
            <a:r>
              <a:rPr lang="en-US" sz="1700" b="1" dirty="0">
                <a:solidFill>
                  <a:schemeClr val="bg1"/>
                </a:solidFill>
                <a:latin typeface="Bahnschrift" pitchFamily="34" charset="0"/>
                <a:ea typeface="Bahnschrift" pitchFamily="34" charset="-122"/>
                <a:cs typeface="Bahnschrift" pitchFamily="34" charset="-120"/>
              </a:rPr>
              <a:t>384 M</a:t>
            </a:r>
            <a:endParaRPr lang="en-US" sz="1700" dirty="0"/>
          </a:p>
        </p:txBody>
      </p:sp>
      <p:sp>
        <p:nvSpPr>
          <p:cNvPr id="29" name="Text 24"/>
          <p:cNvSpPr txBox="1"/>
          <p:nvPr/>
        </p:nvSpPr>
        <p:spPr>
          <a:xfrm>
            <a:off x="1874520" y="1344168"/>
            <a:ext cx="2212848" cy="603504"/>
          </a:xfrm>
          <a:prstGeom prst="rect">
            <a:avLst/>
          </a:prstGeom>
          <a:noFill/>
          <a:ln/>
        </p:spPr>
        <p:txBody>
          <a:bodyPr wrap="square" lIns="0" tIns="0" rIns="0" bIns="0" rtlCol="0" anchor="ctr"/>
          <a:lstStyle/>
          <a:p>
            <a:pPr indent="0" marL="0">
              <a:buNone/>
            </a:pPr>
            <a:r>
              <a:rPr lang="en-US" sz="850" dirty="0">
                <a:solidFill>
                  <a:schemeClr val="bg2"/>
                </a:solidFill>
              </a:rPr>
              <a:t>people play badminton weekly worldwide (BWF, 2024); sports analytics US$2.3 B in 2025</a:t>
            </a:r>
            <a:endParaRPr lang="en-US" sz="850" dirty="0"/>
          </a:p>
        </p:txBody>
      </p:sp>
      <p:sp>
        <p:nvSpPr>
          <p:cNvPr id="30" name="market SAM"/>
          <p:cNvSpPr/>
          <p:nvPr/>
        </p:nvSpPr>
        <p:spPr>
          <a:xfrm>
            <a:off x="4297680" y="1298448"/>
            <a:ext cx="3611880" cy="685800"/>
          </a:xfrm>
          <a:prstGeom prst="roundRect">
            <a:avLst>
              <a:gd name="adj" fmla="val 13333"/>
            </a:avLst>
          </a:prstGeom>
          <a:solidFill>
            <a:schemeClr val="accent6"/>
          </a:solidFill>
          <a:ln w="9525">
            <a:solidFill>
              <a:srgbClr val="111A20"/>
            </a:solidFill>
            <a:prstDash val="solid"/>
          </a:ln>
        </p:spPr>
      </p:sp>
      <p:sp>
        <p:nvSpPr>
          <p:cNvPr id="31" name="Text 26"/>
          <p:cNvSpPr txBox="1"/>
          <p:nvPr/>
        </p:nvSpPr>
        <p:spPr>
          <a:xfrm>
            <a:off x="4434840" y="1344168"/>
            <a:ext cx="548640" cy="274320"/>
          </a:xfrm>
          <a:prstGeom prst="rect">
            <a:avLst/>
          </a:prstGeom>
          <a:noFill/>
          <a:ln/>
        </p:spPr>
        <p:txBody>
          <a:bodyPr wrap="square" lIns="0" tIns="0" rIns="0" bIns="0" rtlCol="0" anchor="t"/>
          <a:lstStyle/>
          <a:p>
            <a:pPr indent="0" marL="0">
              <a:buNone/>
            </a:pPr>
            <a:r>
              <a:rPr lang="en-US" sz="1000" b="1" dirty="0">
                <a:solidFill>
                  <a:schemeClr val="accent1"/>
                </a:solidFill>
                <a:latin typeface="Consolas" pitchFamily="34" charset="0"/>
                <a:ea typeface="Consolas" pitchFamily="34" charset="-122"/>
                <a:cs typeface="Consolas" pitchFamily="34" charset="-120"/>
              </a:rPr>
              <a:t>SAM</a:t>
            </a:r>
            <a:endParaRPr lang="en-US" sz="1000" dirty="0"/>
          </a:p>
        </p:txBody>
      </p:sp>
      <p:sp>
        <p:nvSpPr>
          <p:cNvPr id="32" name="Text 27"/>
          <p:cNvSpPr txBox="1"/>
          <p:nvPr/>
        </p:nvSpPr>
        <p:spPr>
          <a:xfrm>
            <a:off x="4434840" y="1572768"/>
            <a:ext cx="1188720" cy="365760"/>
          </a:xfrm>
          <a:prstGeom prst="rect">
            <a:avLst/>
          </a:prstGeom>
          <a:noFill/>
          <a:ln/>
        </p:spPr>
        <p:txBody>
          <a:bodyPr wrap="square" lIns="0" tIns="0" rIns="0" bIns="0" rtlCol="0" anchor="t"/>
          <a:lstStyle/>
          <a:p>
            <a:pPr indent="0" marL="0">
              <a:buNone/>
            </a:pPr>
            <a:r>
              <a:rPr lang="en-US" sz="1700" b="1" dirty="0">
                <a:solidFill>
                  <a:schemeClr val="bg1"/>
                </a:solidFill>
                <a:latin typeface="Bahnschrift" pitchFamily="34" charset="0"/>
                <a:ea typeface="Bahnschrift" pitchFamily="34" charset="-122"/>
                <a:cs typeface="Bahnschrift" pitchFamily="34" charset="-120"/>
              </a:rPr>
              <a:t>≈ 2 M</a:t>
            </a:r>
            <a:endParaRPr lang="en-US" sz="1700" dirty="0"/>
          </a:p>
        </p:txBody>
      </p:sp>
      <p:sp>
        <p:nvSpPr>
          <p:cNvPr id="33" name="Text 28"/>
          <p:cNvSpPr txBox="1"/>
          <p:nvPr/>
        </p:nvSpPr>
        <p:spPr>
          <a:xfrm>
            <a:off x="5623560" y="1344168"/>
            <a:ext cx="2212848" cy="603504"/>
          </a:xfrm>
          <a:prstGeom prst="rect">
            <a:avLst/>
          </a:prstGeom>
          <a:noFill/>
          <a:ln/>
        </p:spPr>
        <p:txBody>
          <a:bodyPr wrap="square" lIns="0" tIns="0" rIns="0" bIns="0" rtlCol="0" anchor="ctr"/>
          <a:lstStyle/>
          <a:p>
            <a:pPr indent="0" marL="0">
              <a:buNone/>
            </a:pPr>
            <a:r>
              <a:rPr lang="en-US" sz="850" dirty="0">
                <a:solidFill>
                  <a:schemeClr val="bg2"/>
                </a:solidFill>
              </a:rPr>
              <a:t>players in Taiwan: 9.4% of residents 13+ (Ministry of Sports, 2025); 113 commercial venues (MOF, May 2024), +16.5% a year</a:t>
            </a:r>
            <a:endParaRPr lang="en-US" sz="850" dirty="0"/>
          </a:p>
        </p:txBody>
      </p:sp>
      <p:sp>
        <p:nvSpPr>
          <p:cNvPr id="34" name="market SOM"/>
          <p:cNvSpPr/>
          <p:nvPr/>
        </p:nvSpPr>
        <p:spPr>
          <a:xfrm>
            <a:off x="8046720" y="1298448"/>
            <a:ext cx="3611880" cy="685800"/>
          </a:xfrm>
          <a:prstGeom prst="roundRect">
            <a:avLst>
              <a:gd name="adj" fmla="val 13333"/>
            </a:avLst>
          </a:prstGeom>
          <a:solidFill>
            <a:schemeClr val="accent6"/>
          </a:solidFill>
          <a:ln w="9525">
            <a:solidFill>
              <a:srgbClr val="5FD39A"/>
            </a:solidFill>
            <a:prstDash val="solid"/>
          </a:ln>
        </p:spPr>
      </p:sp>
      <p:sp>
        <p:nvSpPr>
          <p:cNvPr id="35" name="Text 30"/>
          <p:cNvSpPr txBox="1"/>
          <p:nvPr/>
        </p:nvSpPr>
        <p:spPr>
          <a:xfrm>
            <a:off x="8183880" y="1344168"/>
            <a:ext cx="548640" cy="274320"/>
          </a:xfrm>
          <a:prstGeom prst="rect">
            <a:avLst/>
          </a:prstGeom>
          <a:noFill/>
          <a:ln/>
        </p:spPr>
        <p:txBody>
          <a:bodyPr wrap="square" lIns="0" tIns="0" rIns="0" bIns="0" rtlCol="0" anchor="t"/>
          <a:lstStyle/>
          <a:p>
            <a:pPr indent="0" marL="0">
              <a:buNone/>
            </a:pPr>
            <a:r>
              <a:rPr lang="en-US" sz="1000" b="1" dirty="0">
                <a:solidFill>
                  <a:schemeClr val="accent4"/>
                </a:solidFill>
                <a:latin typeface="Consolas" pitchFamily="34" charset="0"/>
                <a:ea typeface="Consolas" pitchFamily="34" charset="-122"/>
                <a:cs typeface="Consolas" pitchFamily="34" charset="-120"/>
              </a:rPr>
              <a:t>SOM</a:t>
            </a:r>
            <a:endParaRPr lang="en-US" sz="1000" dirty="0"/>
          </a:p>
        </p:txBody>
      </p:sp>
      <p:sp>
        <p:nvSpPr>
          <p:cNvPr id="36" name="Text 31"/>
          <p:cNvSpPr txBox="1"/>
          <p:nvPr/>
        </p:nvSpPr>
        <p:spPr>
          <a:xfrm>
            <a:off x="8183880" y="1572768"/>
            <a:ext cx="1188720" cy="365760"/>
          </a:xfrm>
          <a:prstGeom prst="rect">
            <a:avLst/>
          </a:prstGeom>
          <a:noFill/>
          <a:ln/>
        </p:spPr>
        <p:txBody>
          <a:bodyPr wrap="square" lIns="0" tIns="0" rIns="0" bIns="0" rtlCol="0" anchor="t"/>
          <a:lstStyle/>
          <a:p>
            <a:pPr indent="0" marL="0">
              <a:buNone/>
            </a:pPr>
            <a:r>
              <a:rPr lang="en-US" sz="1700" b="1" dirty="0">
                <a:solidFill>
                  <a:schemeClr val="bg1"/>
                </a:solidFill>
                <a:latin typeface="Bahnschrift" pitchFamily="34" charset="0"/>
                <a:ea typeface="Bahnschrift" pitchFamily="34" charset="-122"/>
                <a:cs typeface="Bahnschrift" pitchFamily="34" charset="-120"/>
              </a:rPr>
              <a:t>30 Stations</a:t>
            </a:r>
            <a:endParaRPr lang="en-US" sz="1700" dirty="0"/>
          </a:p>
        </p:txBody>
      </p:sp>
      <p:sp>
        <p:nvSpPr>
          <p:cNvPr id="37" name="Text 32"/>
          <p:cNvSpPr txBox="1"/>
          <p:nvPr/>
        </p:nvSpPr>
        <p:spPr>
          <a:xfrm>
            <a:off x="9372600" y="1344168"/>
            <a:ext cx="2212848" cy="603504"/>
          </a:xfrm>
          <a:prstGeom prst="rect">
            <a:avLst/>
          </a:prstGeom>
          <a:noFill/>
          <a:ln/>
        </p:spPr>
        <p:txBody>
          <a:bodyPr wrap="square" lIns="0" tIns="0" rIns="0" bIns="0" rtlCol="0" anchor="ctr"/>
          <a:lstStyle/>
          <a:p>
            <a:pPr indent="0" marL="0">
              <a:buNone/>
            </a:pPr>
            <a:r>
              <a:rPr lang="en-US" sz="850" dirty="0">
                <a:solidFill>
                  <a:schemeClr val="bg2"/>
                </a:solidFill>
              </a:rPr>
              <a:t>year-3 target in Taiwan venues and school teams, about 1,800 subscribing players</a:t>
            </a:r>
            <a:endParaRPr lang="en-US" sz="850" dirty="0"/>
          </a:p>
        </p:txBody>
      </p:sp>
      <p:graphicFrame>
        <p:nvGraphicFramePr>
          <p:cNvPr id="38" name="tco chart" descr=""/>
          <p:cNvGraphicFramePr/>
          <p:nvPr/>
        </p:nvGraphicFramePr>
        <p:xfrm>
          <a:off x="4846320" y="2057400"/>
          <a:ext cx="6766560" cy="2697480"/>
        </p:xfrm>
        <a:graphic xmlns:a="http://schemas.openxmlformats.org/drawingml/2006/main">
          <a:graphicData uri="http://schemas.openxmlformats.org/drawingml/2006/chart">
            <c:chart xmlns:c="http://schemas.openxmlformats.org/drawingml/2006/chart" r:id="rId4"/>
          </a:graphicData>
        </a:graphic>
      </p:graphicFrame>
      <p:sp>
        <p:nvSpPr>
          <p:cNvPr id="39" name="Text 33"/>
          <p:cNvSpPr txBox="1"/>
          <p:nvPr/>
        </p:nvSpPr>
        <p:spPr>
          <a:xfrm>
            <a:off x="4846320" y="4846320"/>
            <a:ext cx="2148840" cy="502920"/>
          </a:xfrm>
          <a:prstGeom prst="rect">
            <a:avLst/>
          </a:prstGeom>
          <a:noFill/>
          <a:ln/>
        </p:spPr>
        <p:txBody>
          <a:bodyPr wrap="square" lIns="0" tIns="0" rIns="0" bIns="0" rtlCol="0" anchor="t"/>
          <a:lstStyle/>
          <a:p>
            <a:pPr indent="0" marL="0">
              <a:buNone/>
            </a:pPr>
            <a:r>
              <a:rPr lang="en-US" sz="2600" b="1" dirty="0">
                <a:solidFill>
                  <a:schemeClr val="accent1"/>
                </a:solidFill>
                <a:latin typeface="Bahnschrift" pitchFamily="34" charset="0"/>
                <a:ea typeface="Bahnschrift" pitchFamily="34" charset="-122"/>
                <a:cs typeface="Bahnschrift" pitchFamily="34" charset="-120"/>
              </a:rPr>
              <a:t>1.5 years</a:t>
            </a:r>
            <a:endParaRPr lang="en-US" sz="2600" dirty="0"/>
          </a:p>
        </p:txBody>
      </p:sp>
      <p:sp>
        <p:nvSpPr>
          <p:cNvPr id="40" name="Text 34"/>
          <p:cNvSpPr txBox="1"/>
          <p:nvPr/>
        </p:nvSpPr>
        <p:spPr>
          <a:xfrm>
            <a:off x="4846320" y="5349240"/>
            <a:ext cx="2103120" cy="594360"/>
          </a:xfrm>
          <a:prstGeom prst="rect">
            <a:avLst/>
          </a:prstGeom>
          <a:noFill/>
          <a:ln/>
        </p:spPr>
        <p:txBody>
          <a:bodyPr wrap="square" lIns="0" tIns="0" rIns="0" bIns="0" rtlCol="0" anchor="t"/>
          <a:lstStyle/>
          <a:p>
            <a:pPr indent="0" marL="0">
              <a:buNone/>
            </a:pPr>
            <a:r>
              <a:rPr lang="en-US" sz="1150" dirty="0">
                <a:solidFill>
                  <a:schemeClr val="bg2"/>
                </a:solidFill>
              </a:rPr>
              <a:t>payback against a part-time analyst</a:t>
            </a:r>
            <a:endParaRPr lang="en-US" sz="1150" dirty="0"/>
          </a:p>
        </p:txBody>
      </p:sp>
      <p:sp>
        <p:nvSpPr>
          <p:cNvPr id="41" name="Text 35"/>
          <p:cNvSpPr txBox="1"/>
          <p:nvPr/>
        </p:nvSpPr>
        <p:spPr>
          <a:xfrm>
            <a:off x="7132320" y="4846320"/>
            <a:ext cx="2148840" cy="502920"/>
          </a:xfrm>
          <a:prstGeom prst="rect">
            <a:avLst/>
          </a:prstGeom>
          <a:noFill/>
          <a:ln/>
        </p:spPr>
        <p:txBody>
          <a:bodyPr wrap="square" lIns="0" tIns="0" rIns="0" bIns="0" rtlCol="0" anchor="t"/>
          <a:lstStyle/>
          <a:p>
            <a:pPr indent="0" marL="0">
              <a:buNone/>
            </a:pPr>
            <a:r>
              <a:rPr lang="en-US" sz="2600" b="1" dirty="0">
                <a:solidFill>
                  <a:schemeClr val="accent1"/>
                </a:solidFill>
                <a:latin typeface="Bahnschrift" pitchFamily="34" charset="0"/>
                <a:ea typeface="Bahnschrift" pitchFamily="34" charset="-122"/>
                <a:cs typeface="Bahnschrift" pitchFamily="34" charset="-120"/>
              </a:rPr>
              <a:t>2.7 years</a:t>
            </a:r>
            <a:endParaRPr lang="en-US" sz="2600" dirty="0"/>
          </a:p>
        </p:txBody>
      </p:sp>
      <p:sp>
        <p:nvSpPr>
          <p:cNvPr id="42" name="Text 36"/>
          <p:cNvSpPr txBox="1"/>
          <p:nvPr/>
        </p:nvSpPr>
        <p:spPr>
          <a:xfrm>
            <a:off x="7132320" y="5349240"/>
            <a:ext cx="2103120" cy="594360"/>
          </a:xfrm>
          <a:prstGeom prst="rect">
            <a:avLst/>
          </a:prstGeom>
          <a:noFill/>
          <a:ln/>
        </p:spPr>
        <p:txBody>
          <a:bodyPr wrap="square" lIns="0" tIns="0" rIns="0" bIns="0" rtlCol="0" anchor="t"/>
          <a:lstStyle/>
          <a:p>
            <a:pPr indent="0" marL="0">
              <a:buNone/>
            </a:pPr>
            <a:r>
              <a:rPr lang="en-US" sz="1150" dirty="0">
                <a:solidFill>
                  <a:schemeClr val="bg2"/>
                </a:solidFill>
              </a:rPr>
              <a:t>break-even against per-player cloud apps, with the video kept local</a:t>
            </a:r>
            <a:endParaRPr lang="en-US" sz="1150" dirty="0"/>
          </a:p>
        </p:txBody>
      </p:sp>
      <p:sp>
        <p:nvSpPr>
          <p:cNvPr id="43" name="Text 37"/>
          <p:cNvSpPr txBox="1"/>
          <p:nvPr/>
        </p:nvSpPr>
        <p:spPr>
          <a:xfrm>
            <a:off x="9418320" y="4846320"/>
            <a:ext cx="2148840" cy="502920"/>
          </a:xfrm>
          <a:prstGeom prst="rect">
            <a:avLst/>
          </a:prstGeom>
          <a:noFill/>
          <a:ln/>
        </p:spPr>
        <p:txBody>
          <a:bodyPr wrap="square" lIns="0" tIns="0" rIns="0" bIns="0" rtlCol="0" anchor="t"/>
          <a:lstStyle/>
          <a:p>
            <a:pPr indent="0" marL="0">
              <a:buNone/>
            </a:pPr>
            <a:r>
              <a:rPr lang="en-US" sz="2600" b="1" dirty="0">
                <a:solidFill>
                  <a:schemeClr val="accent4"/>
                </a:solidFill>
                <a:latin typeface="Bahnschrift" pitchFamily="34" charset="0"/>
                <a:ea typeface="Bahnschrift" pitchFamily="34" charset="-122"/>
                <a:cs typeface="Bahnschrift" pitchFamily="34" charset="-120"/>
              </a:rPr>
              <a:t>~12 months</a:t>
            </a:r>
            <a:endParaRPr lang="en-US" sz="2600" dirty="0"/>
          </a:p>
        </p:txBody>
      </p:sp>
      <p:sp>
        <p:nvSpPr>
          <p:cNvPr id="44" name="Text 38"/>
          <p:cNvSpPr txBox="1"/>
          <p:nvPr/>
        </p:nvSpPr>
        <p:spPr>
          <a:xfrm>
            <a:off x="9418320" y="5349240"/>
            <a:ext cx="2103120" cy="594360"/>
          </a:xfrm>
          <a:prstGeom prst="rect">
            <a:avLst/>
          </a:prstGeom>
          <a:noFill/>
          <a:ln/>
        </p:spPr>
        <p:txBody>
          <a:bodyPr wrap="square" lIns="0" tIns="0" rIns="0" bIns="0" rtlCol="0" anchor="t"/>
          <a:lstStyle/>
          <a:p>
            <a:pPr indent="0" marL="0">
              <a:buNone/>
            </a:pPr>
            <a:r>
              <a:rPr lang="en-US" sz="1150" dirty="0">
                <a:solidFill>
                  <a:schemeClr val="bg2"/>
                </a:solidFill>
              </a:rPr>
              <a:t>club payback with 60 members on the NT$300 add-on</a:t>
            </a:r>
            <a:endParaRPr lang="en-US" sz="1150" dirty="0"/>
          </a:p>
        </p:txBody>
      </p:sp>
      <p:sp>
        <p:nvSpPr>
          <p:cNvPr id="45" name="Text 39"/>
          <p:cNvSpPr txBox="1"/>
          <p:nvPr/>
        </p:nvSpPr>
        <p:spPr>
          <a:xfrm>
            <a:off x="4846320" y="5943600"/>
            <a:ext cx="6766560" cy="320040"/>
          </a:xfrm>
          <a:prstGeom prst="rect">
            <a:avLst/>
          </a:prstGeom>
          <a:noFill/>
          <a:ln/>
        </p:spPr>
        <p:txBody>
          <a:bodyPr wrap="square" lIns="0" tIns="0" rIns="0" bIns="0" rtlCol="0" anchor="t"/>
          <a:lstStyle/>
          <a:p>
            <a:pPr indent="0" marL="0">
              <a:buNone/>
            </a:pPr>
            <a:r>
              <a:rPr lang="en-US" sz="950" i="1" dirty="0">
                <a:solidFill>
                  <a:schemeClr val="accent5"/>
                </a:solidFill>
              </a:rPr>
              <a:t>Illustrative assumptions: analyst 8 h/week at NT$400/h, 48 weeks; cloud NT$400/player/month; Station NT$180k + NT$30k/year (NT$7.5k/month over 3 years). Replace with quotes.</a:t>
            </a:r>
            <a:endParaRPr lang="en-US" sz="95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5 · REFERENCES AND GITHUB SOURCE CODE</a:t>
            </a:r>
            <a:endParaRPr lang="en-US" sz="1100" dirty="0"/>
          </a:p>
        </p:txBody>
      </p:sp>
      <p:sp>
        <p:nvSpPr>
          <p:cNvPr id="3" name="section 1 marker"/>
          <p:cNvSpPr/>
          <p:nvPr/>
        </p:nvSpPr>
        <p:spPr>
          <a:xfrm>
            <a:off x="9829800" y="274320"/>
            <a:ext cx="292608" cy="274320"/>
          </a:xfrm>
          <a:prstGeom prst="roundRect">
            <a:avLst>
              <a:gd name="adj" fmla="val 20000"/>
            </a:avLst>
          </a:prstGeom>
          <a:solidFill>
            <a:srgbClr val="111A20"/>
          </a:solidFill>
          <a:ln w="12700">
            <a:solidFill>
              <a:srgbClr val="111A20"/>
            </a:solidFill>
            <a:prstDash val="solid"/>
          </a:ln>
        </p:spPr>
      </p:sp>
      <p:sp>
        <p:nvSpPr>
          <p:cNvPr id="4" name="Text 2"/>
          <p:cNvSpPr txBox="1"/>
          <p:nvPr/>
        </p:nvSpPr>
        <p:spPr>
          <a:xfrm>
            <a:off x="982980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1</a:t>
            </a:r>
            <a:endParaRPr lang="en-US" sz="1000" dirty="0"/>
          </a:p>
        </p:txBody>
      </p:sp>
      <p:sp>
        <p:nvSpPr>
          <p:cNvPr id="5" name="section 2 marker"/>
          <p:cNvSpPr/>
          <p:nvPr/>
        </p:nvSpPr>
        <p:spPr>
          <a:xfrm>
            <a:off x="10195560" y="274320"/>
            <a:ext cx="292608" cy="274320"/>
          </a:xfrm>
          <a:prstGeom prst="roundRect">
            <a:avLst>
              <a:gd name="adj" fmla="val 20000"/>
            </a:avLst>
          </a:prstGeom>
          <a:solidFill>
            <a:srgbClr val="111A20"/>
          </a:solidFill>
          <a:ln w="12700">
            <a:solidFill>
              <a:srgbClr val="111A20"/>
            </a:solidFill>
            <a:prstDash val="solid"/>
          </a:ln>
        </p:spPr>
      </p:sp>
      <p:sp>
        <p:nvSpPr>
          <p:cNvPr id="6" name="Text 4"/>
          <p:cNvSpPr txBox="1"/>
          <p:nvPr/>
        </p:nvSpPr>
        <p:spPr>
          <a:xfrm>
            <a:off x="1019556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2</a:t>
            </a:r>
            <a:endParaRPr lang="en-US" sz="1000" dirty="0"/>
          </a:p>
        </p:txBody>
      </p:sp>
      <p:sp>
        <p:nvSpPr>
          <p:cNvPr id="7" name="section 3 marker"/>
          <p:cNvSpPr/>
          <p:nvPr/>
        </p:nvSpPr>
        <p:spPr>
          <a:xfrm>
            <a:off x="10561320" y="274320"/>
            <a:ext cx="292608" cy="274320"/>
          </a:xfrm>
          <a:prstGeom prst="roundRect">
            <a:avLst>
              <a:gd name="adj" fmla="val 20000"/>
            </a:avLst>
          </a:prstGeom>
          <a:solidFill>
            <a:srgbClr val="111A20"/>
          </a:solidFill>
          <a:ln w="12700">
            <a:solidFill>
              <a:srgbClr val="111A20"/>
            </a:solidFill>
            <a:prstDash val="solid"/>
          </a:ln>
        </p:spPr>
      </p:sp>
      <p:sp>
        <p:nvSpPr>
          <p:cNvPr id="8" name="Text 6"/>
          <p:cNvSpPr txBox="1"/>
          <p:nvPr/>
        </p:nvSpPr>
        <p:spPr>
          <a:xfrm>
            <a:off x="1056132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3</a:t>
            </a:r>
            <a:endParaRPr lang="en-US" sz="1000" dirty="0"/>
          </a:p>
        </p:txBody>
      </p:sp>
      <p:sp>
        <p:nvSpPr>
          <p:cNvPr id="9" name="section 4 marker"/>
          <p:cNvSpPr/>
          <p:nvPr/>
        </p:nvSpPr>
        <p:spPr>
          <a:xfrm>
            <a:off x="10927080" y="274320"/>
            <a:ext cx="292608" cy="274320"/>
          </a:xfrm>
          <a:prstGeom prst="roundRect">
            <a:avLst>
              <a:gd name="adj" fmla="val 20000"/>
            </a:avLst>
          </a:prstGeom>
          <a:solidFill>
            <a:srgbClr val="111A20"/>
          </a:solidFill>
          <a:ln w="12700">
            <a:solidFill>
              <a:srgbClr val="111A20"/>
            </a:solidFill>
            <a:prstDash val="solid"/>
          </a:ln>
        </p:spPr>
      </p:sp>
      <p:sp>
        <p:nvSpPr>
          <p:cNvPr id="10" name="Text 8"/>
          <p:cNvSpPr txBox="1"/>
          <p:nvPr/>
        </p:nvSpPr>
        <p:spPr>
          <a:xfrm>
            <a:off x="10927080" y="274320"/>
            <a:ext cx="292608" cy="274320"/>
          </a:xfrm>
          <a:prstGeom prst="rect">
            <a:avLst/>
          </a:prstGeom>
          <a:noFill/>
          <a:ln/>
        </p:spPr>
        <p:txBody>
          <a:bodyPr wrap="square" lIns="0" tIns="0" rIns="0" bIns="0" rtlCol="0" anchor="ctr"/>
          <a:lstStyle/>
          <a:p>
            <a:pPr algn="ctr" indent="0" marL="0">
              <a:buNone/>
            </a:pPr>
            <a:r>
              <a:rPr lang="en-US" sz="1000" dirty="0">
                <a:solidFill>
                  <a:schemeClr val="accent5"/>
                </a:solidFill>
                <a:latin typeface="Consolas" pitchFamily="34" charset="0"/>
                <a:ea typeface="Consolas" pitchFamily="34" charset="-122"/>
                <a:cs typeface="Consolas" pitchFamily="34" charset="-120"/>
              </a:rPr>
              <a:t>4</a:t>
            </a:r>
            <a:endParaRPr lang="en-US" sz="1000" dirty="0"/>
          </a:p>
        </p:txBody>
      </p:sp>
      <p:sp>
        <p:nvSpPr>
          <p:cNvPr id="11" name="section 5 marker"/>
          <p:cNvSpPr/>
          <p:nvPr/>
        </p:nvSpPr>
        <p:spPr>
          <a:xfrm>
            <a:off x="11292840" y="274320"/>
            <a:ext cx="292608" cy="274320"/>
          </a:xfrm>
          <a:prstGeom prst="roundRect">
            <a:avLst>
              <a:gd name="adj" fmla="val 20000"/>
            </a:avLst>
          </a:prstGeom>
          <a:solidFill>
            <a:srgbClr val="F2E6C9"/>
          </a:solidFill>
          <a:ln w="12700">
            <a:solidFill>
              <a:srgbClr val="F2E6C9"/>
            </a:solidFill>
            <a:prstDash val="solid"/>
          </a:ln>
        </p:spPr>
      </p:sp>
      <p:sp>
        <p:nvSpPr>
          <p:cNvPr id="12" name="Text 10"/>
          <p:cNvSpPr txBox="1"/>
          <p:nvPr/>
        </p:nvSpPr>
        <p:spPr>
          <a:xfrm>
            <a:off x="11292840" y="274320"/>
            <a:ext cx="292608" cy="274320"/>
          </a:xfrm>
          <a:prstGeom prst="rect">
            <a:avLst/>
          </a:prstGeom>
          <a:noFill/>
          <a:ln/>
        </p:spPr>
        <p:txBody>
          <a:bodyPr wrap="square" lIns="0" tIns="0" rIns="0" bIns="0" rtlCol="0" anchor="ctr"/>
          <a:lstStyle/>
          <a:p>
            <a:pPr algn="ctr" indent="0" marL="0">
              <a:buNone/>
            </a:pPr>
            <a:r>
              <a:rPr lang="en-US" sz="1000" b="1" dirty="0">
                <a:solidFill>
                  <a:schemeClr val="tx1"/>
                </a:solidFill>
                <a:latin typeface="Consolas" pitchFamily="34" charset="0"/>
                <a:ea typeface="Consolas" pitchFamily="34" charset="-122"/>
                <a:cs typeface="Consolas" pitchFamily="34" charset="-120"/>
              </a:rPr>
              <a:t>5</a:t>
            </a:r>
            <a:endParaRPr lang="en-US" sz="1000" dirty="0"/>
          </a:p>
        </p:txBody>
      </p:sp>
      <p:sp>
        <p:nvSpPr>
          <p:cNvPr id="13" name="Text 0"/>
          <p:cNvSpPr/>
          <p:nvPr>
            <p:ph idx="100" type="title" hasCustomPrompt="1"/>
          </p:nvPr>
        </p:nvSpPr>
        <p:spPr>
          <a:xfrm>
            <a:off x="548640" y="566928"/>
            <a:ext cx="11064240" cy="731520"/>
          </a:xfrm>
          <a:prstGeom prst="rect">
            <a:avLst/>
          </a:prstGeom>
          <a:noFill/>
          <a:ln/>
        </p:spPr>
        <p:txBody>
          <a:bodyPr wrap="square" rtlCol="0" anchor="ctr"/>
          <a:lstStyle/>
          <a:p>
            <a:pPr algn="l" indent="0" marL="0">
              <a:buNone/>
            </a:pPr>
            <a:r>
              <a:rPr lang="en-US" sz="3000" b="1" dirty="0">
                <a:solidFill>
                  <a:schemeClr val="bg1"/>
                </a:solidFill>
              </a:rPr>
              <a:t>References and source code</a:t>
            </a:r>
            <a:endParaRPr lang="en-US" sz="3000" dirty="0"/>
          </a:p>
        </p:txBody>
      </p:sp>
      <p:sp>
        <p:nvSpPr>
          <p:cNvPr id="14" name="github card"/>
          <p:cNvSpPr/>
          <p:nvPr/>
        </p:nvSpPr>
        <p:spPr>
          <a:xfrm>
            <a:off x="548640" y="1463040"/>
            <a:ext cx="11064240" cy="731520"/>
          </a:xfrm>
          <a:prstGeom prst="roundRect">
            <a:avLst>
              <a:gd name="adj" fmla="val 12500"/>
            </a:avLst>
          </a:prstGeom>
          <a:solidFill>
            <a:schemeClr val="accent6"/>
          </a:solidFill>
          <a:ln w="9525">
            <a:solidFill>
              <a:srgbClr val="F2E6C9"/>
            </a:solidFill>
            <a:prstDash val="solid"/>
          </a:ln>
        </p:spPr>
      </p:sp>
      <p:sp>
        <p:nvSpPr>
          <p:cNvPr id="15" name="Text 13"/>
          <p:cNvSpPr txBox="1"/>
          <p:nvPr/>
        </p:nvSpPr>
        <p:spPr>
          <a:xfrm>
            <a:off x="822960" y="1709928"/>
            <a:ext cx="1828800" cy="274320"/>
          </a:xfrm>
          <a:prstGeom prst="rect">
            <a:avLst/>
          </a:prstGeom>
          <a:noFill/>
          <a:ln/>
        </p:spPr>
        <p:txBody>
          <a:bodyPr wrap="square" lIns="0" tIns="0" rIns="0" bIns="0" rtlCol="0" anchor="t"/>
          <a:lstStyle/>
          <a:p>
            <a:pPr indent="0" marL="0">
              <a:buNone/>
            </a:pPr>
            <a:r>
              <a:rPr lang="en-US" sz="1100" spc="300" kern="0" dirty="0">
                <a:solidFill>
                  <a:schemeClr val="accent1"/>
                </a:solidFill>
                <a:latin typeface="Consolas" pitchFamily="34" charset="0"/>
                <a:ea typeface="Consolas" pitchFamily="34" charset="-122"/>
                <a:cs typeface="Consolas" pitchFamily="34" charset="-120"/>
              </a:rPr>
              <a:t>SOURCE CODE</a:t>
            </a:r>
            <a:endParaRPr lang="en-US" sz="1100" dirty="0"/>
          </a:p>
        </p:txBody>
      </p:sp>
      <p:sp>
        <p:nvSpPr>
          <p:cNvPr id="16" name="Text 14"/>
          <p:cNvSpPr txBox="1"/>
          <p:nvPr/>
        </p:nvSpPr>
        <p:spPr>
          <a:xfrm>
            <a:off x="2468880" y="1645920"/>
            <a:ext cx="8961120" cy="411480"/>
          </a:xfrm>
          <a:prstGeom prst="rect">
            <a:avLst/>
          </a:prstGeom>
          <a:noFill/>
          <a:ln/>
        </p:spPr>
        <p:txBody>
          <a:bodyPr wrap="square" lIns="0" tIns="0" rIns="0" bIns="0" rtlCol="0" anchor="t"/>
          <a:lstStyle/>
          <a:p>
            <a:pPr indent="0" marL="0">
              <a:buNone/>
            </a:pPr>
            <a:r>
              <a:rPr lang="en-US" sz="1800" b="1" u="sng" dirty="0">
                <a:solidFill>
                  <a:srgbClr val="F2E6C9"/>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https://github.com/gino6178/ASUS_hackathon</a:t>
            </a:r>
            <a:endParaRPr lang="en-US" sz="1800" dirty="0"/>
          </a:p>
        </p:txBody>
      </p:sp>
      <p:sp>
        <p:nvSpPr>
          <p:cNvPr id="17" name="Text 15"/>
          <p:cNvSpPr txBox="1"/>
          <p:nvPr/>
        </p:nvSpPr>
        <p:spPr>
          <a:xfrm>
            <a:off x="548640" y="2286000"/>
            <a:ext cx="11064240" cy="36576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bg2"/>
                </a:solidFill>
              </a:rPr>
              <a:t>TrackNetV3: shuttlecock tracking with augmentations and trajectory rectification. ACM MMAsia 2023. Code: MIT licence.</a:t>
            </a:r>
            <a:endParaRPr lang="en-US" sz="1200" dirty="0"/>
          </a:p>
          <a:p>
            <a:pPr marL="342900" indent="-342900">
              <a:spcAft>
                <a:spcPts val="300"/>
              </a:spcAft>
              <a:buSzPct val="100000"/>
              <a:buChar char="•"/>
            </a:pPr>
            <a:r>
              <a:rPr lang="en-US" sz="1200" dirty="0">
                <a:solidFill>
                  <a:schemeClr val="bg2"/>
                </a:solidFill>
              </a:rPr>
              <a:t>TrackNetV5: robust shuttlecock tracking via motion prompts and spatiotemporal attentive fusion (backbone used frozen). Code: </a:t>
            </a:r>
            <a:pPr indent="0" marL="0">
              <a:spcAft>
                <a:spcPts val="300"/>
              </a:spcAft>
              <a:buNone/>
            </a:pPr>
            <a:r>
              <a:rPr lang="en-US" sz="1200" u="sng" dirty="0">
                <a:solidFill>
                  <a:srgbClr val="F2E6C9"/>
                </a:solidFill>
                <a:hlinkClick r:id="rId2" invalidUrl="" action="" tgtFrame="" tooltip="" history="1" highlightClick="0" endSnd="0">
                  <a:extLst>
                    <a:ext uri="{A12FA001-AC4F-418D-AE19-62706E023703}">
                      <ahyp:hlinkClr xmlns:ahyp="http://schemas.microsoft.com/office/drawing/2018/hyperlinkcolor" val="tx"/>
                    </a:ext>
                  </a:extLst>
                </a:hlinkClick>
              </a:rPr>
              <a:t>github.com/gino6178/TrackNetV5</a:t>
            </a:r>
            <a:endParaRPr lang="en-US" sz="1200" dirty="0"/>
          </a:p>
          <a:p>
            <a:pPr marL="342900" indent="-342900">
              <a:spcAft>
                <a:spcPts val="300"/>
              </a:spcAft>
              <a:buSzPct val="100000"/>
              <a:buChar char="•"/>
            </a:pPr>
            <a:r>
              <a:rPr lang="en-US" sz="1200" dirty="0">
                <a:solidFill>
                  <a:schemeClr val="bg2"/>
                </a:solidFill>
              </a:rPr>
              <a:t>ShuttleSet: a human-annotated stroke-level singles dataset for badminton tactical analysis. KDD 2023.</a:t>
            </a:r>
            <a:endParaRPr lang="en-US" sz="1200" dirty="0"/>
          </a:p>
          <a:p>
            <a:pPr marL="342900" indent="-342900">
              <a:spcAft>
                <a:spcPts val="300"/>
              </a:spcAft>
              <a:buSzPct val="100000"/>
              <a:buChar char="•"/>
            </a:pPr>
            <a:r>
              <a:rPr lang="en-US" sz="1200" dirty="0">
                <a:solidFill>
                  <a:schemeClr val="bg2"/>
                </a:solidFill>
              </a:rPr>
              <a:t>Monocular 3D reconstruction and intent detection: shown as closed blocks.</a:t>
            </a:r>
            <a:endParaRPr lang="en-US" sz="1200" dirty="0"/>
          </a:p>
          <a:p>
            <a:pPr marL="342900" indent="-342900">
              <a:spcAft>
                <a:spcPts val="300"/>
              </a:spcAft>
              <a:buSzPct val="100000"/>
              <a:buChar char="•"/>
            </a:pPr>
            <a:r>
              <a:rPr lang="en-US" sz="1200" dirty="0">
                <a:solidFill>
                  <a:schemeClr val="bg2"/>
                </a:solidFill>
              </a:rPr>
              <a:t>3D anatomy: BodyParts3D 4.0, © The Database Center for Life Science, CC BY 4.0; adapted via Human Atlas (MIT).</a:t>
            </a:r>
            <a:endParaRPr lang="en-US" sz="1200" dirty="0"/>
          </a:p>
          <a:p>
            <a:pPr marL="342900" indent="-342900">
              <a:spcAft>
                <a:spcPts val="300"/>
              </a:spcAft>
              <a:buSzPct val="100000"/>
              <a:buChar char="•"/>
            </a:pPr>
            <a:r>
              <a:rPr lang="en-US" sz="1200" dirty="0">
                <a:solidFill>
                  <a:schemeClr val="bg2"/>
                </a:solidFill>
              </a:rPr>
              <a:t>Sample match: Thailand Masters 2025 R32 broadcast footage and lab annotations, used for a research prototype only.</a:t>
            </a:r>
            <a:endParaRPr lang="en-US" sz="1200" dirty="0"/>
          </a:p>
          <a:p>
            <a:pPr marL="342900" indent="-342900">
              <a:spcAft>
                <a:spcPts val="300"/>
              </a:spcAft>
              <a:buSzPct val="100000"/>
              <a:buChar char="•"/>
            </a:pPr>
            <a:r>
              <a:rPr lang="en-US" sz="1200" dirty="0">
                <a:solidFill>
                  <a:schemeClr val="bg2"/>
                </a:solidFill>
              </a:rPr>
              <a:t>Libraries: Whisper tiny.en (MIT) via Transformers.js (Apache-2.0); MediaPipe Pose Landmarker (Apache-2.0). Feature ideas from Good-Badminton (yo-WASSUP): annotated video, court calibration, position maps.</a:t>
            </a:r>
            <a:endParaRPr lang="en-US" sz="1200" dirty="0"/>
          </a:p>
          <a:p>
            <a:pPr marL="342900" indent="-342900">
              <a:spcAft>
                <a:spcPts val="300"/>
              </a:spcAft>
              <a:buSzPct val="100000"/>
              <a:buChar char="•"/>
            </a:pPr>
            <a:r>
              <a:rPr lang="en-US" sz="1200" dirty="0">
                <a:solidFill>
                  <a:schemeClr val="bg2"/>
                </a:solidFill>
              </a:rPr>
              <a:t>Agents: Qwen3-4B (Apache-2.0) served locally; OpenVINO GenAI path for the B70; Qwen3-Embedding for the knowledge base. Papers found through the OpenAlex, arXiv and Semantic Scholar APIs; messaging via the Telegram Bot API.</a:t>
            </a:r>
            <a:endParaRPr lang="en-US" sz="1200" dirty="0"/>
          </a:p>
          <a:p>
            <a:pPr marL="342900" indent="-342900">
              <a:spcAft>
                <a:spcPts val="300"/>
              </a:spcAft>
              <a:buSzPct val="100000"/>
              <a:buChar char="•"/>
            </a:pPr>
            <a:r>
              <a:rPr lang="en-US" sz="1200" dirty="0">
                <a:solidFill>
                  <a:schemeClr val="bg2"/>
                </a:solidFill>
              </a:rPr>
              <a:t>Prototype status: coach agents answer on a local 4B model from computed match facts, every figure verified; tested on an RTX 3090 server, moving to the B70 in Stage II. Coach portraits are AI-generated, fictional people.</a:t>
            </a:r>
            <a:endParaRPr lang="en-US" sz="1200" dirty="0"/>
          </a:p>
        </p:txBody>
      </p:sp>
      <p:sp>
        <p:nvSpPr>
          <p:cNvPr id="18" name="Text 16"/>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300" dirty="0">
                <a:solidFill>
                  <a:schemeClr val="accent5"/>
                </a:solidFill>
              </a:rPr>
              <a:t>Team rm-rf-2</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ShuttleCoach Dark">
  <a:themeElements>
    <a:clrScheme name="ShuttleCoach Dark">
      <a:dk1>
        <a:srgbClr val="04070A"/>
      </a:dk1>
      <a:lt1>
        <a:srgbClr val="EEF1F2"/>
      </a:lt1>
      <a:dk2>
        <a:srgbClr val="0A1014"/>
      </a:dk2>
      <a:lt2>
        <a:srgbClr val="C3CACD"/>
      </a:lt2>
      <a:accent1>
        <a:srgbClr val="F2E6C9"/>
      </a:accent1>
      <a:accent2>
        <a:srgbClr val="6FB6FF"/>
      </a:accent2>
      <a:accent3>
        <a:srgbClr val="FF8A6B"/>
      </a:accent3>
      <a:accent4>
        <a:srgbClr val="5FD39A"/>
      </a:accent4>
      <a:accent5>
        <a:srgbClr val="8E989D"/>
      </a:accent5>
      <a:accent6>
        <a:srgbClr val="111A20"/>
      </a:accent6>
      <a:hlink>
        <a:srgbClr val="F2E6C9"/>
      </a:hlink>
      <a:folHlink>
        <a:srgbClr val="8E989D"/>
      </a:folHlink>
    </a:clrScheme>
    <a:fontScheme name="ShuttleCoach Dark">
      <a:majorFont>
        <a:latin typeface="Bahnschrif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ShuttleCoach: A Private, On-Device Multi-Agent Badminton Analyst</dc:title>
  <dc:subject>PptxGenJS Presentation</dc:subject>
  <dc:creator>PptxGenJS</dc:creator>
  <cp:lastModifiedBy>PptxGenJS</cp:lastModifiedBy>
  <cp:revision>1</cp:revision>
  <dcterms:created xsi:type="dcterms:W3CDTF">2026-10-27T04:35:32Z</dcterms:created>
  <dcterms:modified xsi:type="dcterms:W3CDTF">2026-10-27T04:35:32Z</dcterms:modified>
</cp:coreProperties>
</file>