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74db202-c52f-2841-7d81-8b6071e8e03b}">
          <p14:sldIdLst>
            <p14:sldId id="256"/>
          </p14:sldIdLst>
        </p14:section>
        <p14:section name="Context and problem definition" id="{ee7c1c4c-53c2-52ae-08e3-3343c71401b6}">
          <p14:sldIdLst>
            <p14:sldId id="257"/>
            <p14:sldId id="258"/>
          </p14:sldIdLst>
        </p14:section>
        <p14:section name="Solution: tools, technologies and methodology" id="{44a0c0be-ab7b-254e-939f-38323c80f79b}">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3e04ab7d-7e5e-1140-f337-f8065d006acb}">
          <p14:sldIdLst>
            <p14:sldId id="271"/>
            <p14:sldId id="272"/>
          </p14:sldIdLst>
        </p14:section>
        <p14:section name="Expected benefits and outcomes" id="{a505e447-2c4b-5335-2948-6f4ca55c20f1}">
          <p14:sldIdLst>
            <p14:sldId id="273"/>
            <p14:sldId id="274"/>
          </p14:sldIdLst>
        </p14:section>
        <p14:section name="References and GitHub source code" id="{e61f910f-0519-31bb-ad1d-aa177e386c98}">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14B coaches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Clip reviewer 7B</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0</c:v>
                </c:pt>
                <c:pt idx="3">
                  <c:v>5</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1.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shots/cover_poster.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name]  ·  [Members]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shots/processing.png">    </p:cNvPr>
          <p:cNvPicPr>
            <a:picLocks noChangeAspect="1"/>
          </p:cNvPicPr>
          <p:nvPr/>
        </p:nvPicPr>
        <p:blipFill>
          <a:blip r:embed="rId5"/>
          <a:stretch>
            <a:fillRect/>
          </a:stretch>
        </p:blipFill>
        <p:spPr>
          <a:xfrm>
            <a:off x="5120640" y="1557338"/>
            <a:ext cx="6492240" cy="3651885"/>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in-house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shots/architectu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shots/replay.png">    </p:cNvPr>
          <p:cNvPicPr>
            <a:picLocks noChangeAspect="1"/>
          </p:cNvPicPr>
          <p:nvPr/>
        </p:nvPicPr>
        <p:blipFill>
          <a:blip r:embed="rId1"/>
          <a:stretch>
            <a:fillRect/>
          </a:stretch>
        </p:blipFill>
        <p:spPr>
          <a:xfrm>
            <a:off x="548640" y="1463040"/>
            <a:ext cx="6100011"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shots/rt_conflict.png">    </p:cNvPr>
          <p:cNvPicPr>
            <a:picLocks noChangeAspect="1"/>
          </p:cNvPicPr>
          <p:nvPr/>
        </p:nvPicPr>
        <p:blipFill>
          <a:blip r:embed="rId1"/>
          <a:stretch>
            <a:fillRect/>
          </a:stretch>
        </p:blipFill>
        <p:spPr>
          <a:xfrm>
            <a:off x="548640" y="1463040"/>
            <a:ext cx="7589520" cy="2741879"/>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F6B5E"/>
                </a:solidFill>
              </a:rPr>
              <a:t>Conflict, then resolution</a:t>
            </a:r>
            <a:endParaRPr lang="en-US" sz="1250" dirty="0"/>
          </a:p>
          <a:p>
            <a:pPr indent="0" marL="0">
              <a:buNone/>
            </a:pPr>
            <a:r>
              <a:rPr lang="en-US" sz="1250" dirty="0">
                <a:solidFill>
                  <a:schemeClr val="bg2"/>
                </a:solidFill>
              </a:rPr>
              <a:t>Ren challenges Lin: smash-defence blocks mean jumps, and memory says “right knee sore”. The table shows the clash, then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8 of 8 figures in the meeting re-computed from the raw labels; 23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_coach_tactics.jpg">    </p:cNvPr>
          <p:cNvPicPr>
            <a:picLocks noChangeAspect="1"/>
          </p:cNvPicPr>
          <p:nvPr/>
        </p:nvPicPr>
        <p:blipFill>
          <a:blip r:embed="rId1"/>
          <a:stretch>
            <a:fillRect/>
          </a:stretch>
        </p:blipFill>
        <p:spPr>
          <a:xfrm>
            <a:off x="548640" y="1371600"/>
            <a:ext cx="5440680" cy="2808872"/>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_coach_technique.jpg">    </p:cNvPr>
          <p:cNvPicPr>
            <a:picLocks noChangeAspect="1"/>
          </p:cNvPicPr>
          <p:nvPr/>
        </p:nvPicPr>
        <p:blipFill>
          <a:blip r:embed="rId2"/>
          <a:stretch>
            <a:fillRect/>
          </a:stretch>
        </p:blipFill>
        <p:spPr>
          <a:xfrm>
            <a:off x="6172200" y="1371600"/>
            <a:ext cx="543504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_coach_fitness.jpg">    </p:cNvPr>
          <p:cNvPicPr>
            <a:picLocks noChangeAspect="1"/>
          </p:cNvPicPr>
          <p:nvPr/>
        </p:nvPicPr>
        <p:blipFill>
          <a:blip r:embed="rId1"/>
          <a:stretch>
            <a:fillRect/>
          </a:stretch>
        </p:blipFill>
        <p:spPr>
          <a:xfrm>
            <a:off x="548640" y="1371600"/>
            <a:ext cx="5392579"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_coach_analyst.jpg">    </p:cNvPr>
          <p:cNvPicPr>
            <a:picLocks noChangeAspect="1"/>
          </p:cNvPicPr>
          <p:nvPr/>
        </p:nvPicPr>
        <p:blipFill>
          <a:blip r:embed="rId2"/>
          <a:stretch>
            <a:fillRect/>
          </a:stretch>
        </p:blipFill>
        <p:spPr>
          <a:xfrm>
            <a:off x="6172200" y="1371600"/>
            <a:ext cx="5242406"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Zhongzheng Sports Center · Sat 10-31 18:00-20:00 · court 4, doubles with Amy and Ben.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fair to everyone; books on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39 / 39</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shots/agent_arch.png">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18 sports centres, calendars, knowledge base, memory</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booking run on the station: 1 LLM call, 4 tool calls, a fairness check, then the player's yes; 872 ms.</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the map, 18 venues, friends, calendar</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shots/hl_replay.png">    </p:cNvPr>
          <p:cNvPicPr>
            <a:picLocks noChangeAspect="1"/>
          </p:cNvPicPr>
          <p:nvPr/>
        </p:nvPicPr>
        <p:blipFill>
          <a:blip r:embed="rId1"/>
          <a:stretch>
            <a:fillRect/>
          </a:stretch>
        </p:blipFill>
        <p:spPr>
          <a:xfrm>
            <a:off x="548640" y="1417320"/>
            <a:ext cx="2371471"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 in Stage II</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shots/hardwa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14B coach agents</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14B coach agents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Clip reviewer 7B</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Clip reviewer 7B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7" name="Text 45"/>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48" name="row rule 6"/>
          <p:cNvSpPr/>
          <p:nvPr/>
        </p:nvSpPr>
        <p:spPr>
          <a:xfrm>
            <a:off x="548640" y="4700016"/>
            <a:ext cx="6537960" cy="0"/>
          </a:xfrm>
          <a:prstGeom prst="line">
            <a:avLst/>
          </a:prstGeom>
          <a:noFill/>
          <a:ln w="6350">
            <a:solidFill>
              <a:srgbClr val="111A20"/>
            </a:solidFill>
            <a:prstDash val="solid"/>
          </a:ln>
        </p:spPr>
      </p:sp>
      <p:sp>
        <p:nvSpPr>
          <p:cNvPr id="49" name="Simulator 2"/>
          <p:cNvSpPr/>
          <p:nvPr/>
        </p:nvSpPr>
        <p:spPr>
          <a:xfrm>
            <a:off x="4754880" y="4416552"/>
            <a:ext cx="312725" cy="201168"/>
          </a:xfrm>
          <a:prstGeom prst="roundRect">
            <a:avLst>
              <a:gd name="adj" fmla="val 18182"/>
            </a:avLst>
          </a:prstGeom>
          <a:solidFill>
            <a:srgbClr val="F2D46B">
              <a:alpha val="48000"/>
            </a:srgbClr>
          </a:solidFill>
          <a:ln w="6350">
            <a:solidFill>
              <a:srgbClr val="F2D46B"/>
            </a:solidFill>
            <a:prstDash val="solid"/>
          </a:ln>
        </p:spPr>
      </p:sp>
      <p:sp>
        <p:nvSpPr>
          <p:cNvPr id="50" name="Simulator 3"/>
          <p:cNvSpPr/>
          <p:nvPr/>
        </p:nvSpPr>
        <p:spPr>
          <a:xfrm>
            <a:off x="5943600" y="4416552"/>
            <a:ext cx="729691" cy="201168"/>
          </a:xfrm>
          <a:prstGeom prst="roundRect">
            <a:avLst>
              <a:gd name="adj" fmla="val 18182"/>
            </a:avLst>
          </a:prstGeom>
          <a:solidFill>
            <a:srgbClr val="F2D46B">
              <a:alpha val="72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Highlight render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Highlight render 2"/>
          <p:cNvSpPr/>
          <p:nvPr/>
        </p:nvSpPr>
        <p:spPr>
          <a:xfrm>
            <a:off x="4754880" y="4782312"/>
            <a:ext cx="521208" cy="201168"/>
          </a:xfrm>
          <a:prstGeom prst="roundRect">
            <a:avLst>
              <a:gd name="adj" fmla="val 18182"/>
            </a:avLst>
          </a:prstGeom>
          <a:solidFill>
            <a:srgbClr val="C3CACD">
              <a:alpha val="60000"/>
            </a:srgbClr>
          </a:solidFill>
          <a:ln w="6350">
            <a:solidFill>
              <a:srgbClr val="C3CACD"/>
            </a:solidFill>
            <a:prstDash val="solid"/>
          </a:ln>
        </p:spPr>
      </p:sp>
      <p:graphicFrame>
        <p:nvGraphicFramePr>
          <p:cNvPr id="54"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5"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6" name="Text 53"/>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and post-match jobs fill idle time; nightly research and reflection run when the court is closed. The 14B coaches load only after the match: peak 29 of 32 GB.</a:t>
            </a:r>
            <a:endParaRPr lang="en-US" sz="1050" dirty="0"/>
          </a:p>
        </p:txBody>
      </p:sp>
      <p:sp>
        <p:nvSpPr>
          <p:cNvPr id="57"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8" name="Text 55"/>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4B model for the fast path</a:t>
            </a:r>
            <a:endParaRPr lang="en-US" sz="1050" dirty="0"/>
          </a:p>
          <a:p>
            <a:pPr indent="0" marL="0">
              <a:buNone/>
            </a:pPr>
            <a:r>
              <a:rPr lang="en-US" sz="1050" dirty="0">
                <a:solidFill>
                  <a:schemeClr val="bg2"/>
                </a:solidFill>
              </a:rPr>
              <a:t>Qwen3-4B, Phi-4-mini or Gemma-3-4B on OpenVINO, INT4 ≈ 2.5 GB; at 608 GB/s the decode ceiling is about 240 tokens/s. Running today on our test GPU: Qwen3-4B (4-bit) answers the coach chat in 0.8 s median at about 160 tokens/s. B70 figures in Stage II.</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STAGE II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scene reconstruction and intent detection: in-house blocks, shown closed.</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lab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in Stage II.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[names]  ·  Contact: [email]</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2026-10-27T01:49:00Z</dcterms:created>
  <dcterms:modified xsi:type="dcterms:W3CDTF">2026-10-27T01:49:00Z</dcterms:modified>
</cp:coreProperties>
</file>